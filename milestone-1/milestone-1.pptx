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3EA1960-5E9B-44CE-BCB0-77DDECDF76FC}">
  <a:tblStyle styleId="{B3EA1960-5E9B-44CE-BCB0-77DDECDF76F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457200" y="876100"/>
            <a:ext cx="8229600" cy="51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6265"/>
              <a:buNone/>
            </a:pPr>
            <a:r>
              <a:rPr lang="en-US" sz="4829" u="sng"/>
              <a:t>Multimodal AI Assistant for Smart Agriculture </a:t>
            </a:r>
            <a:br>
              <a:rPr lang="en-US" sz="4029"/>
            </a:br>
            <a:endParaRPr sz="4029"/>
          </a:p>
          <a:p>
            <a:pPr indent="0" lvl="0" marL="0" rtl="0" algn="ctr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69494"/>
              <a:buNone/>
            </a:pPr>
            <a:br>
              <a:rPr lang="en-US" sz="4029"/>
            </a:br>
            <a:r>
              <a:rPr lang="en-US" sz="4029"/>
              <a:t>Deep Learning + RAG + Multilingual Voice Advisory for Indian Farmers</a:t>
            </a:r>
            <a:endParaRPr sz="4429"/>
          </a:p>
          <a:p>
            <a:pPr indent="0" lvl="0" marL="0" rtl="0" algn="ctr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72527"/>
              <a:buNone/>
            </a:pPr>
            <a:r>
              <a:t/>
            </a:r>
            <a:endParaRPr sz="3309"/>
          </a:p>
          <a:p>
            <a:pPr indent="0" lvl="0" marL="0" rtl="0" algn="ctr">
              <a:spcBef>
                <a:spcPts val="35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900"/>
          </a:p>
          <a:p>
            <a:pPr indent="0" lvl="0" marL="0" rtl="0" algn="ctr">
              <a:spcBef>
                <a:spcPts val="35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900"/>
          </a:p>
          <a:p>
            <a:pPr indent="0" lvl="0" marL="0" rtl="0" algn="ctr">
              <a:spcBef>
                <a:spcPts val="35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900"/>
          </a:p>
          <a:p>
            <a:pPr indent="0" lvl="0" marL="0" rtl="0" algn="ctr">
              <a:spcBef>
                <a:spcPts val="35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900"/>
          </a:p>
          <a:p>
            <a:pPr indent="0" lvl="0" marL="0" rtl="0" algn="ctr">
              <a:spcBef>
                <a:spcPts val="35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900"/>
          </a:p>
          <a:p>
            <a:pPr indent="0" lvl="0" marL="0" rtl="0" algn="ctr">
              <a:spcBef>
                <a:spcPts val="35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900"/>
          </a:p>
          <a:p>
            <a:pPr indent="0" lvl="0" marL="0" rtl="0" algn="ctr">
              <a:spcBef>
                <a:spcPts val="35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900"/>
          </a:p>
          <a:p>
            <a:pPr indent="0" lvl="0" marL="0" rtl="0" algn="ctr">
              <a:spcBef>
                <a:spcPts val="35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900"/>
          </a:p>
          <a:p>
            <a:pPr indent="0" lvl="0" marL="0" rtl="0" algn="ctr">
              <a:spcBef>
                <a:spcPts val="35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900"/>
          </a:p>
          <a:p>
            <a:pPr indent="0" lvl="0" marL="0" rtl="0" algn="ctr">
              <a:spcBef>
                <a:spcPts val="35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900"/>
          </a:p>
          <a:p>
            <a:pPr indent="0" lvl="0" marL="0" rtl="0" algn="ctr">
              <a:spcBef>
                <a:spcPts val="35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900"/>
          </a:p>
          <a:p>
            <a:pPr indent="0" lvl="0" marL="0" rtl="0" algn="ctr">
              <a:spcBef>
                <a:spcPts val="35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900"/>
          </a:p>
          <a:p>
            <a:pPr indent="0" lvl="0" marL="0" rtl="0" algn="ctr">
              <a:spcBef>
                <a:spcPts val="35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900"/>
          </a:p>
          <a:p>
            <a:pPr indent="0" lvl="0" marL="0" rtl="0" algn="ctr">
              <a:spcBef>
                <a:spcPts val="351"/>
              </a:spcBef>
              <a:spcAft>
                <a:spcPts val="0"/>
              </a:spcAft>
              <a:buClr>
                <a:schemeClr val="dk1"/>
              </a:buClr>
              <a:buSzPct val="55437"/>
              <a:buNone/>
            </a:pPr>
            <a:r>
              <a:rPr lang="en-US" sz="3427"/>
              <a:t>Milestone -1</a:t>
            </a:r>
            <a:endParaRPr sz="4727"/>
          </a:p>
          <a:p>
            <a:pPr indent="0" lvl="0" marL="0" rtl="0" algn="ctr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55437"/>
              <a:buNone/>
            </a:pPr>
            <a:r>
              <a:rPr lang="en-US" sz="3427"/>
              <a:t>Team - 8</a:t>
            </a:r>
            <a:br>
              <a:rPr lang="en-US" sz="3927"/>
            </a:br>
            <a:br>
              <a:rPr lang="en-US" sz="2400"/>
            </a:br>
            <a:endParaRPr sz="2400"/>
          </a:p>
          <a:p>
            <a:pPr indent="0" lvl="0" marL="0" rtl="0" algn="ctr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</p:txBody>
      </p:sp>
      <p:pic>
        <p:nvPicPr>
          <p:cNvPr id="85" name="Google Shape;8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5499" y="2766125"/>
            <a:ext cx="1403949" cy="1403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/>
          <p:cNvSpPr txBox="1"/>
          <p:nvPr>
            <p:ph type="title"/>
          </p:nvPr>
        </p:nvSpPr>
        <p:spPr>
          <a:xfrm>
            <a:off x="630936" y="409404"/>
            <a:ext cx="7879842" cy="10149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u="sng"/>
              <a:t>Team Contributions</a:t>
            </a:r>
            <a:endParaRPr/>
          </a:p>
        </p:txBody>
      </p:sp>
      <p:sp>
        <p:nvSpPr>
          <p:cNvPr id="92" name="Google Shape;92;p14"/>
          <p:cNvSpPr/>
          <p:nvPr/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/>
          <p:nvPr/>
        </p:nvSpPr>
        <p:spPr>
          <a:xfrm flipH="1" rot="10800000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457200" y="2674938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5" name="Google Shape;95;p14"/>
          <p:cNvGraphicFramePr/>
          <p:nvPr/>
        </p:nvGraphicFramePr>
        <p:xfrm>
          <a:off x="189692" y="17617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{B3EA1960-5E9B-44CE-BCB0-77DDECDF76FC}</a:tableStyleId>
              </a:tblPr>
              <a:tblGrid>
                <a:gridCol w="2057400"/>
                <a:gridCol w="6700850"/>
              </a:tblGrid>
              <a:tr h="494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sng" cap="none" strike="noStrike">
                          <a:solidFill>
                            <a:schemeClr val="dk1"/>
                          </a:solidFill>
                        </a:rPr>
                        <a:t>Member</a:t>
                      </a:r>
                      <a:endParaRPr/>
                    </a:p>
                  </a:txBody>
                  <a:tcPr marT="55600" marB="185300" marR="18530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sng" cap="none" strike="noStrike">
                          <a:solidFill>
                            <a:schemeClr val="dk1"/>
                          </a:solidFill>
                        </a:rPr>
                        <a:t>Contribution</a:t>
                      </a:r>
                      <a:endParaRPr/>
                    </a:p>
                  </a:txBody>
                  <a:tcPr marT="55600" marB="185300" marR="18530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86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Harish Sahadev M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55600" marB="185300" marR="18530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Structuring, drafting, and formatting technical report</a:t>
                      </a:r>
                      <a:endParaRPr/>
                    </a:p>
                  </a:txBody>
                  <a:tcPr marT="55600" marB="185300" marR="18530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4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Ayushi Dixit</a:t>
                      </a:r>
                      <a:endParaRPr/>
                    </a:p>
                  </a:txBody>
                  <a:tcPr marT="55600" marB="185300" marR="18530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Report research and PPT preparation</a:t>
                      </a:r>
                      <a:endParaRPr/>
                    </a:p>
                  </a:txBody>
                  <a:tcPr marT="55600" marB="185300" marR="18530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8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Manas Rastogi</a:t>
                      </a:r>
                      <a:endParaRPr/>
                    </a:p>
                  </a:txBody>
                  <a:tcPr marT="55600" marB="185300" marR="18530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Finalizing problem statement and Research for PPT </a:t>
                      </a:r>
                      <a:endParaRPr/>
                    </a:p>
                  </a:txBody>
                  <a:tcPr marT="55600" marB="185300" marR="18530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2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Saketh Allanki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55600" marB="185300" marR="18530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Presentation, including problem definition, literature review, evaluation metrics, and gap analysis.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55600" marB="185300" marR="18530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8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  Sai Naman</a:t>
                      </a:r>
                      <a:endParaRPr/>
                    </a:p>
                  </a:txBody>
                  <a:tcPr marT="55600" marB="185300" marR="18530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Researching startups, analyzing features, identifying gaps, and comparing with proposed system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55600" marB="185300" marR="18530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418656" y="0"/>
            <a:ext cx="8375586" cy="201880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E1E1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5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425196" y="0"/>
            <a:ext cx="8366760" cy="20116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 txBox="1"/>
          <p:nvPr>
            <p:ph type="title"/>
          </p:nvPr>
        </p:nvSpPr>
        <p:spPr>
          <a:xfrm>
            <a:off x="836676" y="548640"/>
            <a:ext cx="7626096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rPr lang="en-US" sz="3500" u="sng"/>
              <a:t>Multimodal AI Assistant for Smart Agriculture</a:t>
            </a:r>
            <a:endParaRPr sz="3500" u="sng"/>
          </a:p>
        </p:txBody>
      </p:sp>
      <p:sp>
        <p:nvSpPr>
          <p:cNvPr id="104" name="Google Shape;104;p15"/>
          <p:cNvSpPr/>
          <p:nvPr/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>
            <p:ph idx="1" type="body"/>
          </p:nvPr>
        </p:nvSpPr>
        <p:spPr>
          <a:xfrm>
            <a:off x="836676" y="2481943"/>
            <a:ext cx="7626096" cy="3695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US" sz="1900"/>
              <a:t>Problem Context</a:t>
            </a:r>
            <a:endParaRPr/>
          </a:p>
          <a:p>
            <a:pPr indent="-285750" lvl="1" marL="74295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</a:pPr>
            <a:r>
              <a:rPr lang="en-US" sz="1900"/>
              <a:t>Leaf diseases cause major yield loss</a:t>
            </a:r>
            <a:endParaRPr/>
          </a:p>
          <a:p>
            <a:pPr indent="-285750" lvl="1" marL="74295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</a:pPr>
            <a:r>
              <a:rPr lang="en-US" sz="1900"/>
              <a:t>Manual inspection is slow &amp; inconsistent</a:t>
            </a:r>
            <a:endParaRPr/>
          </a:p>
          <a:p>
            <a:pPr indent="-285750" lvl="1" marL="74295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</a:pPr>
            <a:r>
              <a:rPr lang="en-US" sz="1900"/>
              <a:t>Existing systems are fragmented (vision OR chat OR advisory)</a:t>
            </a:r>
            <a:endParaRPr/>
          </a:p>
          <a:p>
            <a:pPr indent="-285750" lvl="1" marL="74295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</a:pPr>
            <a:r>
              <a:rPr lang="en-US" sz="1900"/>
              <a:t>No unified multilingual voice-enabled rural AI system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418656" y="0"/>
            <a:ext cx="8375586" cy="201880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E1E1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5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425196" y="0"/>
            <a:ext cx="8366760" cy="20116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6"/>
          <p:cNvSpPr txBox="1"/>
          <p:nvPr>
            <p:ph type="title"/>
          </p:nvPr>
        </p:nvSpPr>
        <p:spPr>
          <a:xfrm>
            <a:off x="836676" y="548640"/>
            <a:ext cx="7626096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rPr lang="en-US" sz="3500" u="sng"/>
              <a:t>Objectives &amp; Innovation</a:t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 txBox="1"/>
          <p:nvPr>
            <p:ph idx="1" type="body"/>
          </p:nvPr>
        </p:nvSpPr>
        <p:spPr>
          <a:xfrm>
            <a:off x="836676" y="2481943"/>
            <a:ext cx="7626096" cy="3695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US" sz="1900"/>
              <a:t>Core Goal</a:t>
            </a:r>
            <a:endParaRPr/>
          </a:p>
          <a:p>
            <a:pPr indent="-285750" lvl="1" marL="74295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</a:pPr>
            <a:r>
              <a:rPr lang="en-US" sz="1900"/>
              <a:t>Deep learning-based multimodal disease detection</a:t>
            </a:r>
            <a:endParaRPr/>
          </a:p>
          <a:p>
            <a:pPr indent="-285750" lvl="1" marL="74295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</a:pPr>
            <a:r>
              <a:rPr lang="en-US" sz="1900"/>
              <a:t>≥ 85–90% classification accuracy</a:t>
            </a:r>
            <a:endParaRPr/>
          </a:p>
          <a:p>
            <a:pPr indent="-285750" lvl="1" marL="74295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</a:pPr>
            <a:r>
              <a:rPr lang="en-US" sz="1900"/>
              <a:t>Disease severity estimation</a:t>
            </a:r>
            <a:endParaRPr/>
          </a:p>
          <a:p>
            <a:pPr indent="-285750" lvl="1" marL="74295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</a:pPr>
            <a:r>
              <a:rPr lang="en-US" sz="1900"/>
              <a:t>Multilingual + Voice interaction</a:t>
            </a:r>
            <a:endParaRPr/>
          </a:p>
          <a:p>
            <a:pPr indent="-285750" lvl="1" marL="74295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</a:pPr>
            <a:r>
              <a:rPr lang="en-US" sz="1900"/>
              <a:t>Retrieval-Augmented Generation (RAG) integration</a:t>
            </a:r>
            <a:endParaRPr/>
          </a:p>
          <a:p>
            <a:pPr indent="-285750" lvl="1" marL="742950" rtl="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</a:pPr>
            <a:r>
              <a:rPr lang="en-US" sz="1900"/>
              <a:t>Crops covered: Rice, Wheat, Sugarcane, Potato, Corn</a:t>
            </a:r>
            <a:endParaRPr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 txBox="1"/>
          <p:nvPr>
            <p:ph type="title"/>
          </p:nvPr>
        </p:nvSpPr>
        <p:spPr>
          <a:xfrm>
            <a:off x="630936" y="256032"/>
            <a:ext cx="7879842" cy="10149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u="sng"/>
              <a:t>Technical aspect</a:t>
            </a:r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/>
          <p:nvPr/>
        </p:nvSpPr>
        <p:spPr>
          <a:xfrm flipH="1" rot="10800000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4" name="Google Shape;124;p17"/>
          <p:cNvGraphicFramePr/>
          <p:nvPr/>
        </p:nvGraphicFramePr>
        <p:xfrm>
          <a:off x="200025" y="19262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{B3EA1960-5E9B-44CE-BCB0-77DDECDF76FC}</a:tableStyleId>
              </a:tblPr>
              <a:tblGrid>
                <a:gridCol w="4294925"/>
                <a:gridCol w="4449025"/>
              </a:tblGrid>
              <a:tr h="466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1800" u="sng" cap="none" strike="noStrike"/>
                        <a:t>Domain</a:t>
                      </a:r>
                      <a:endParaRPr sz="1200"/>
                    </a:p>
                  </a:txBody>
                  <a:tcPr marT="52625" marB="52625" marR="105250" marL="105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1800" u="sng" cap="none" strike="noStrike"/>
                        <a:t>Key Finding</a:t>
                      </a:r>
                      <a:endParaRPr sz="1200"/>
                    </a:p>
                  </a:txBody>
                  <a:tcPr marT="52625" marB="52625" marR="105250" marL="105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3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1800" u="none" cap="none" strike="noStrike"/>
                        <a:t>CNN (ResNet, MobileNet, EfficientNet)</a:t>
                      </a:r>
                      <a:endParaRPr sz="1200"/>
                    </a:p>
                  </a:txBody>
                  <a:tcPr marT="52625" marB="52625" marR="105250" marL="105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1800" u="none" cap="none" strike="noStrike"/>
                        <a:t>&gt;95% on controlled data; drops in field conditions</a:t>
                      </a:r>
                      <a:endParaRPr sz="1200"/>
                    </a:p>
                  </a:txBody>
                  <a:tcPr marT="52625" marB="52625" marR="105250" marL="105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3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1800" u="none" cap="none" strike="noStrike"/>
                        <a:t>Severity Estimation (U-Net)</a:t>
                      </a:r>
                      <a:endParaRPr sz="1200"/>
                    </a:p>
                  </a:txBody>
                  <a:tcPr marT="52625" marB="52625" marR="105250" marL="105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1800" u="none" cap="none" strike="noStrike"/>
                        <a:t>Underexplored; annotation-heavy</a:t>
                      </a:r>
                      <a:endParaRPr sz="1200"/>
                    </a:p>
                  </a:txBody>
                  <a:tcPr marT="52625" marB="52625" marR="105250" marL="105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3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1800" u="none" cap="none" strike="noStrike"/>
                        <a:t>RAG (Lewis et al., 2020)</a:t>
                      </a:r>
                      <a:endParaRPr sz="1200"/>
                    </a:p>
                  </a:txBody>
                  <a:tcPr marT="52625" marB="52625" marR="105250" marL="105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1800" u="none" cap="none" strike="noStrike"/>
                        <a:t>Reduces hallucination in knowledge-intensive tasks</a:t>
                      </a:r>
                      <a:endParaRPr sz="1200"/>
                    </a:p>
                  </a:txBody>
                  <a:tcPr marT="52625" marB="52625" marR="105250" marL="105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3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1800" u="none" cap="none" strike="noStrike"/>
                        <a:t>Multilingual (mT5, IndicBERT)</a:t>
                      </a:r>
                      <a:endParaRPr sz="1200"/>
                    </a:p>
                  </a:txBody>
                  <a:tcPr marT="52625" marB="52625" marR="105250" marL="105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1800" u="none" cap="none" strike="noStrike"/>
                        <a:t>Domain adaptation to agri still limited</a:t>
                      </a:r>
                      <a:endParaRPr sz="1200"/>
                    </a:p>
                  </a:txBody>
                  <a:tcPr marT="52625" marB="52625" marR="105250" marL="105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3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1800" u="none" cap="none" strike="noStrike"/>
                        <a:t>Speech (Whisper, Tacotron 2)</a:t>
                      </a:r>
                      <a:endParaRPr sz="1200"/>
                    </a:p>
                  </a:txBody>
                  <a:tcPr marT="52625" marB="52625" marR="105250" marL="105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1800" u="none" cap="none" strike="noStrike"/>
                        <a:t>Noise &amp; latency challenges in rural settings</a:t>
                      </a:r>
                      <a:endParaRPr sz="1200"/>
                    </a:p>
                  </a:txBody>
                  <a:tcPr marT="52625" marB="52625" marR="105250" marL="1052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8"/>
          <p:cNvSpPr txBox="1"/>
          <p:nvPr>
            <p:ph type="title"/>
          </p:nvPr>
        </p:nvSpPr>
        <p:spPr>
          <a:xfrm>
            <a:off x="630936" y="256032"/>
            <a:ext cx="7879842" cy="10149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alibri"/>
              <a:buNone/>
            </a:pPr>
            <a:r>
              <a:rPr lang="en-US" sz="3700" u="sng"/>
              <a:t>Evaluation Strategy &amp; Expected Impact</a:t>
            </a:r>
            <a:endParaRPr/>
          </a:p>
        </p:txBody>
      </p:sp>
      <p:sp>
        <p:nvSpPr>
          <p:cNvPr id="131" name="Google Shape;131;p18"/>
          <p:cNvSpPr/>
          <p:nvPr/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8"/>
          <p:cNvSpPr/>
          <p:nvPr/>
        </p:nvSpPr>
        <p:spPr>
          <a:xfrm flipH="1" rot="10800000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3" name="Google Shape;133;p18"/>
          <p:cNvGraphicFramePr/>
          <p:nvPr/>
        </p:nvGraphicFramePr>
        <p:xfrm>
          <a:off x="271463" y="1915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{B3EA1960-5E9B-44CE-BCB0-77DDECDF76FC}</a:tableStyleId>
              </a:tblPr>
              <a:tblGrid>
                <a:gridCol w="1643050"/>
                <a:gridCol w="2265175"/>
                <a:gridCol w="2262100"/>
                <a:gridCol w="2380125"/>
              </a:tblGrid>
              <a:tr h="538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700" u="sng" cap="none" strike="noStrike"/>
                        <a:t>Module</a:t>
                      </a:r>
                      <a:endParaRPr sz="1200"/>
                    </a:p>
                  </a:txBody>
                  <a:tcPr marT="51475" marB="51475" marR="102925" marL="102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700" u="sng" cap="none" strike="noStrike"/>
                        <a:t>Baseline</a:t>
                      </a:r>
                      <a:endParaRPr sz="1200"/>
                    </a:p>
                  </a:txBody>
                  <a:tcPr marT="51475" marB="51475" marR="102925" marL="102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700" u="sng" cap="none" strike="noStrike"/>
                        <a:t>Metric</a:t>
                      </a:r>
                      <a:endParaRPr sz="1200"/>
                    </a:p>
                  </a:txBody>
                  <a:tcPr marT="51475" marB="51475" marR="102925" marL="102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700" u="sng" cap="none" strike="noStrike"/>
                        <a:t>Target</a:t>
                      </a:r>
                      <a:endParaRPr sz="1200"/>
                    </a:p>
                  </a:txBody>
                  <a:tcPr marT="51475" marB="51475" marR="102925" marL="102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4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700" u="none" cap="none" strike="noStrike"/>
                        <a:t>Vision (CNN)</a:t>
                      </a:r>
                      <a:endParaRPr sz="1200"/>
                    </a:p>
                  </a:txBody>
                  <a:tcPr marT="51475" marB="51475" marR="102925" marL="102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700" u="none" cap="none" strike="noStrike"/>
                        <a:t>MobileNet / ResNet</a:t>
                      </a:r>
                      <a:endParaRPr sz="1200"/>
                    </a:p>
                  </a:txBody>
                  <a:tcPr marT="51475" marB="51475" marR="102925" marL="102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700" u="none" cap="none" strike="noStrike"/>
                        <a:t>Accuracy, F1</a:t>
                      </a:r>
                      <a:endParaRPr sz="1200"/>
                    </a:p>
                  </a:txBody>
                  <a:tcPr marT="51475" marB="51475" marR="102925" marL="102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700" u="none" cap="none" strike="noStrike"/>
                        <a:t>≥ 85–90%</a:t>
                      </a:r>
                      <a:endParaRPr sz="1200"/>
                    </a:p>
                  </a:txBody>
                  <a:tcPr marT="51475" marB="51475" marR="102925" marL="102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1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700" u="none" cap="none" strike="noStrike"/>
                        <a:t>RAG Advisory</a:t>
                      </a:r>
                      <a:endParaRPr sz="1200"/>
                    </a:p>
                  </a:txBody>
                  <a:tcPr marT="51475" marB="51475" marR="102925" marL="102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700" u="none" cap="none" strike="noStrike"/>
                        <a:t>LLM without retrieval</a:t>
                      </a:r>
                      <a:endParaRPr sz="1200"/>
                    </a:p>
                  </a:txBody>
                  <a:tcPr marT="51475" marB="51475" marR="102925" marL="102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700" u="none" cap="none" strike="noStrike"/>
                        <a:t>Hallucination rate, Relevance</a:t>
                      </a:r>
                      <a:endParaRPr sz="1200"/>
                    </a:p>
                  </a:txBody>
                  <a:tcPr marT="51475" marB="51475" marR="102925" marL="102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700" u="none" cap="none" strike="noStrike"/>
                        <a:t>Qualitative improvement</a:t>
                      </a:r>
                      <a:endParaRPr sz="1200"/>
                    </a:p>
                  </a:txBody>
                  <a:tcPr marT="51475" marB="51475" marR="102925" marL="102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4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700" u="none" cap="none" strike="noStrike"/>
                        <a:t>Speech (ASR)</a:t>
                      </a:r>
                      <a:endParaRPr sz="1200"/>
                    </a:p>
                  </a:txBody>
                  <a:tcPr marT="51475" marB="51475" marR="102925" marL="102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700" u="none" cap="none" strike="noStrike"/>
                        <a:t>Whisper vanilla</a:t>
                      </a:r>
                      <a:endParaRPr sz="1200"/>
                    </a:p>
                  </a:txBody>
                  <a:tcPr marT="51475" marB="51475" marR="102925" marL="102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700" u="none" cap="none" strike="noStrike"/>
                        <a:t>WER, Latency</a:t>
                      </a:r>
                      <a:endParaRPr sz="1200"/>
                    </a:p>
                  </a:txBody>
                  <a:tcPr marT="51475" marB="51475" marR="102925" marL="102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700" u="none" cap="none" strike="noStrike"/>
                        <a:t>Low WER, real-time capable</a:t>
                      </a:r>
                      <a:endParaRPr sz="1200"/>
                    </a:p>
                  </a:txBody>
                  <a:tcPr marT="51475" marB="51475" marR="102925" marL="102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4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700" u="none" cap="none" strike="noStrike"/>
                        <a:t>End-to-End</a:t>
                      </a:r>
                      <a:endParaRPr sz="1200"/>
                    </a:p>
                  </a:txBody>
                  <a:tcPr marT="51475" marB="51475" marR="102925" marL="102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700" u="none" cap="none" strike="noStrike"/>
                        <a:t>—</a:t>
                      </a:r>
                      <a:endParaRPr sz="1200"/>
                    </a:p>
                  </a:txBody>
                  <a:tcPr marT="51475" marB="51475" marR="102925" marL="102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700" u="none" cap="none" strike="noStrike"/>
                        <a:t>Response time, Usability</a:t>
                      </a:r>
                      <a:endParaRPr sz="1200"/>
                    </a:p>
                  </a:txBody>
                  <a:tcPr marT="51475" marB="51475" marR="102925" marL="102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lang="en-US" sz="1700" u="none" cap="none" strike="noStrike"/>
                        <a:t>Seamless user experience</a:t>
                      </a:r>
                      <a:endParaRPr sz="1200"/>
                    </a:p>
                  </a:txBody>
                  <a:tcPr marT="51475" marB="51475" marR="102925" marL="1029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9"/>
          <p:cNvSpPr txBox="1"/>
          <p:nvPr>
            <p:ph type="title"/>
          </p:nvPr>
        </p:nvSpPr>
        <p:spPr>
          <a:xfrm>
            <a:off x="447018" y="424598"/>
            <a:ext cx="8182230" cy="884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u="sng"/>
              <a:t>Detailed </a:t>
            </a: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/>
          </a:p>
        </p:txBody>
      </p:sp>
      <p:sp>
        <p:nvSpPr>
          <p:cNvPr id="140" name="Google Shape;140;p19"/>
          <p:cNvSpPr/>
          <p:nvPr/>
        </p:nvSpPr>
        <p:spPr>
          <a:xfrm>
            <a:off x="2855776" y="1733454"/>
            <a:ext cx="3429000" cy="18288"/>
          </a:xfrm>
          <a:custGeom>
            <a:rect b="b" l="l" r="r" t="t"/>
            <a:pathLst>
              <a:path extrusionOk="0" fill="none" h="18288" w="342900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9442" y="4516"/>
                  <a:pt x="3428173" y="12266"/>
                  <a:pt x="3429000" y="18288"/>
                </a:cubicBezTo>
                <a:cubicBezTo>
                  <a:pt x="3221081" y="48608"/>
                  <a:pt x="3088001" y="8066"/>
                  <a:pt x="2811780" y="18288"/>
                </a:cubicBezTo>
                <a:cubicBezTo>
                  <a:pt x="2535559" y="28510"/>
                  <a:pt x="2481355" y="24898"/>
                  <a:pt x="2228850" y="18288"/>
                </a:cubicBezTo>
                <a:cubicBezTo>
                  <a:pt x="1976345" y="11679"/>
                  <a:pt x="1807520" y="48356"/>
                  <a:pt x="1543050" y="18288"/>
                </a:cubicBezTo>
                <a:cubicBezTo>
                  <a:pt x="1278580" y="-11780"/>
                  <a:pt x="1181944" y="5123"/>
                  <a:pt x="925830" y="18288"/>
                </a:cubicBezTo>
                <a:cubicBezTo>
                  <a:pt x="669716" y="31453"/>
                  <a:pt x="410304" y="34815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extrusionOk="0" h="18288" w="342900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577" y="4624"/>
                  <a:pt x="3429819" y="11191"/>
                  <a:pt x="3429000" y="18288"/>
                </a:cubicBezTo>
                <a:cubicBezTo>
                  <a:pt x="3103464" y="593"/>
                  <a:pt x="2887909" y="22940"/>
                  <a:pt x="2743200" y="18288"/>
                </a:cubicBezTo>
                <a:cubicBezTo>
                  <a:pt x="2598491" y="13636"/>
                  <a:pt x="2362615" y="10656"/>
                  <a:pt x="1988820" y="18288"/>
                </a:cubicBezTo>
                <a:cubicBezTo>
                  <a:pt x="1615025" y="25920"/>
                  <a:pt x="1580494" y="3693"/>
                  <a:pt x="1405890" y="18288"/>
                </a:cubicBezTo>
                <a:cubicBezTo>
                  <a:pt x="1231286" y="32884"/>
                  <a:pt x="885259" y="-16285"/>
                  <a:pt x="651510" y="18288"/>
                </a:cubicBezTo>
                <a:cubicBezTo>
                  <a:pt x="417761" y="52861"/>
                  <a:pt x="138362" y="-13856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5371" y="1334257"/>
            <a:ext cx="7625523" cy="50328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u="sng"/>
              <a:t>Summary &amp; Next Steps</a:t>
            </a:r>
            <a:endParaRPr/>
          </a:p>
        </p:txBody>
      </p:sp>
      <p:sp>
        <p:nvSpPr>
          <p:cNvPr id="147" name="Google Shape;147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Dataset curation, CNN baseline training, RAG pipeline setup, initial speech integration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Key deliverable: Vision baseline accuracy benchmark + RAG prototype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                             Thankyou..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