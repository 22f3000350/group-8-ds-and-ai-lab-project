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Nobile"/>
      <p:regular r:id="rId12"/>
      <p:bold r:id="rId13"/>
      <p:italic r:id="rId14"/>
      <p:boldItalic r:id="rId15"/>
    </p:embeddedFont>
    <p:embeddedFont>
      <p:font typeface="Fraunces ExtraBold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2f4z6Cf0h5TuVxBnANFVArK85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obile-bold.fntdata"/><Relationship Id="rId12" Type="http://schemas.openxmlformats.org/officeDocument/2006/relationships/font" Target="fonts/Nobil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bile-boldItalic.fntdata"/><Relationship Id="rId14" Type="http://schemas.openxmlformats.org/officeDocument/2006/relationships/font" Target="fonts/Nobile-italic.fntdata"/><Relationship Id="rId17" Type="http://schemas.openxmlformats.org/officeDocument/2006/relationships/font" Target="fonts/FrauncesExtraBold-boldItalic.fntdata"/><Relationship Id="rId16" Type="http://schemas.openxmlformats.org/officeDocument/2006/relationships/font" Target="fonts/FrauncesExtra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6280190" y="243078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Multimodal AI Assistant for Smart Agriculture</a:t>
            </a:r>
            <a:endParaRPr b="0" i="0" sz="4450" u="none" cap="none" strike="noStrike"/>
          </a:p>
        </p:txBody>
      </p:sp>
      <p:sp>
        <p:nvSpPr>
          <p:cNvPr id="46" name="Google Shape;46;p1"/>
          <p:cNvSpPr/>
          <p:nvPr/>
        </p:nvSpPr>
        <p:spPr>
          <a:xfrm>
            <a:off x="6280190" y="4188500"/>
            <a:ext cx="7556421" cy="161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Deep Learning + RAG + Multilingual Voice Advisory for Indian Farmers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Project Phase: Milestone - 2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Team Name: Team - 8</a:t>
            </a:r>
            <a:endParaRPr b="0" i="0" sz="1750" u="none" cap="none" strike="noStrike"/>
          </a:p>
        </p:txBody>
      </p:sp>
      <p:pic>
        <p:nvPicPr>
          <p:cNvPr id="47" name="Google Shape;4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1600" y="7742875"/>
            <a:ext cx="164690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793790" y="66770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Team contribution</a:t>
            </a:r>
            <a:endParaRPr b="0" i="0" sz="4450" u="none" cap="none" strike="noStrike"/>
          </a:p>
        </p:txBody>
      </p:sp>
      <p:sp>
        <p:nvSpPr>
          <p:cNvPr id="54" name="Google Shape;54;p2"/>
          <p:cNvSpPr/>
          <p:nvPr/>
        </p:nvSpPr>
        <p:spPr>
          <a:xfrm>
            <a:off x="793790" y="1830110"/>
            <a:ext cx="13042821" cy="5731669"/>
          </a:xfrm>
          <a:prstGeom prst="roundRect">
            <a:avLst>
              <a:gd fmla="val 356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01410" y="1837730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028343" y="1981438"/>
            <a:ext cx="23720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Member</a:t>
            </a:r>
            <a:endParaRPr b="0" i="0" sz="175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3861673" y="1981438"/>
            <a:ext cx="974050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Contribution</a:t>
            </a:r>
            <a:endParaRPr b="0" i="0" sz="175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801410" y="2488049"/>
            <a:ext cx="1302758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1028343" y="2631758"/>
            <a:ext cx="23720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Harish Sahadev M</a:t>
            </a:r>
            <a:endParaRPr b="0" i="0" sz="175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3861673" y="2631758"/>
            <a:ext cx="974050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Conducted early research and reviewed the dataset preparation, preprocessing, and EDA requirements.</a:t>
            </a:r>
            <a:endParaRPr b="0" i="0" sz="17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801410" y="3501271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028343" y="3644979"/>
            <a:ext cx="23720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Ayushi Dixit</a:t>
            </a:r>
            <a:endParaRPr b="0" i="0" sz="175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3861673" y="3644979"/>
            <a:ext cx="974050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Handled dataset selection, EDA, quality checks, preprocessing pipeline, augmentation, and full M2 documentation including report, Colab notebook, and markdown.</a:t>
            </a:r>
            <a:endParaRPr b="0" i="0" sz="175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801410" y="4514493"/>
            <a:ext cx="1302758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028343" y="4658201"/>
            <a:ext cx="23720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Manas Rastogi</a:t>
            </a:r>
            <a:endParaRPr b="0" i="0" sz="175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3861673" y="4658201"/>
            <a:ext cx="974050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Assisted in Colab setup, dataset pipeline, EDA visualizations, duplicate detection, augmentation debugging, and final split verification.</a:t>
            </a:r>
            <a:endParaRPr b="0" i="0" sz="175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801410" y="5527715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028343" y="5671423"/>
            <a:ext cx="23720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Saketh Allanki</a:t>
            </a:r>
            <a:endParaRPr b="0" i="0" sz="175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3861673" y="5671423"/>
            <a:ext cx="974050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Reviewed the dataset, verified its documentation, and ensured it was properly preprocessed and structured for use in the modeling pipeline.</a:t>
            </a:r>
            <a:endParaRPr b="0" i="0" sz="175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801410" y="6540937"/>
            <a:ext cx="13027581" cy="101322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028343" y="6684645"/>
            <a:ext cx="237208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Sai Naman</a:t>
            </a:r>
            <a:endParaRPr b="0" i="0" sz="17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3861673" y="6684645"/>
            <a:ext cx="974050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Prepared the Milestone 2 presentation summarizing dataset documentation, EDA findings, and preprocessing pipeline.</a:t>
            </a:r>
            <a:endParaRPr b="0" i="0" sz="1750" u="none" cap="none" strike="noStrike"/>
          </a:p>
        </p:txBody>
      </p:sp>
      <p:pic>
        <p:nvPicPr>
          <p:cNvPr id="73" name="Google Shape;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5875" y="7697850"/>
            <a:ext cx="18002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793790" y="1362194"/>
            <a:ext cx="1087886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Milestone 2 Overview &amp; Dataset Scope</a:t>
            </a:r>
            <a:endParaRPr b="0" i="0" sz="4450" u="none" cap="none" strike="noStrike"/>
          </a:p>
        </p:txBody>
      </p:sp>
      <p:sp>
        <p:nvSpPr>
          <p:cNvPr id="80" name="Google Shape;80;p3"/>
          <p:cNvSpPr/>
          <p:nvPr/>
        </p:nvSpPr>
        <p:spPr>
          <a:xfrm>
            <a:off x="793790" y="2524601"/>
            <a:ext cx="13042821" cy="43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Focus: Dataset Documentation, Exploratory Data Analysis (EDA) &amp; Preprocessing Pipeline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Dataset Name: Top Agriculture Crop Disease (Sourced via Kaggle)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Scale &amp; Composition:</a:t>
            </a:r>
            <a:endParaRPr b="0" i="0" sz="1750" u="none" cap="none" strike="noStrike"/>
          </a:p>
          <a:p>
            <a:pPr indent="-342900" lvl="1" marL="6858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◦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Total Images: 13,324 verified images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Categorization:</a:t>
            </a:r>
            <a:endParaRPr b="0" i="0" sz="1750" u="none" cap="none" strike="noStrike"/>
          </a:p>
          <a:p>
            <a:pPr indent="-342900" lvl="1" marL="6858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◦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17 distinct disease/health classes across 5 crop species (Corn, Potato, Rice, Wheat, Sugarcane)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Technical Specifications:</a:t>
            </a:r>
            <a:endParaRPr b="0" i="0" sz="1750" u="none" cap="none" strike="noStrike"/>
          </a:p>
          <a:p>
            <a:pPr indent="-342900" lvl="1" marL="6858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◦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Task Type: Multi-class Image Classification</a:t>
            </a:r>
            <a:endParaRPr b="0" i="0" sz="1750" u="none" cap="none" strike="noStrike"/>
          </a:p>
          <a:p>
            <a:pPr indent="-342900" lvl="1" marL="6858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◦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Format: JPEG / PNG (Confirmed strictly 3-channel RGB via EDA)</a:t>
            </a:r>
            <a:endParaRPr b="0" i="0" sz="1750" u="none" cap="none" strike="noStrike"/>
          </a:p>
          <a:p>
            <a:pPr indent="-342900" lvl="1" marL="6858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◦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Licensing: Includes CC BY 4.0 (Rice), PlantVillage terms, and Kaggle dataset terms</a:t>
            </a:r>
            <a:endParaRPr b="0" i="0" sz="1750" u="none" cap="none" strike="noStrike"/>
          </a:p>
        </p:txBody>
      </p:sp>
      <p:pic>
        <p:nvPicPr>
          <p:cNvPr id="81" name="Google Shape;8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5875" y="7697850"/>
            <a:ext cx="18002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793790" y="702826"/>
            <a:ext cx="1018913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Dataset Sources &amp; Crop Breakdown</a:t>
            </a:r>
            <a:endParaRPr b="0" i="0" sz="4450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793790" y="1865233"/>
            <a:ext cx="6407944" cy="2898815"/>
          </a:xfrm>
          <a:prstGeom prst="roundRect">
            <a:avLst>
              <a:gd fmla="val 7042" name="adj"/>
            </a:avLst>
          </a:prstGeom>
          <a:solidFill>
            <a:srgbClr val="FAFFFA"/>
          </a:solidFill>
          <a:ln cap="flat" cmpd="sng" w="30475">
            <a:solidFill>
              <a:srgbClr val="CE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051084" y="2122527"/>
            <a:ext cx="50927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Corn (4 classes) &amp; Potato (3 classes)</a:t>
            </a:r>
            <a:endParaRPr b="0" i="0" sz="2200" u="none" cap="none" strike="noStrike"/>
          </a:p>
        </p:txBody>
      </p:sp>
      <p:sp>
        <p:nvSpPr>
          <p:cNvPr id="90" name="Google Shape;90;p4"/>
          <p:cNvSpPr/>
          <p:nvPr/>
        </p:nvSpPr>
        <p:spPr>
          <a:xfrm>
            <a:off x="1051084" y="2612946"/>
            <a:ext cx="5893356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Sourced from the benchmark PlantVillage dataset.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Characteristics: Controlled lab photographs captured on uniform backgrounds.</a:t>
            </a:r>
            <a:endParaRPr b="0" i="0" sz="1750" u="none" cap="none" strike="noStrike"/>
          </a:p>
        </p:txBody>
      </p:sp>
      <p:sp>
        <p:nvSpPr>
          <p:cNvPr id="91" name="Google Shape;91;p4"/>
          <p:cNvSpPr/>
          <p:nvPr/>
        </p:nvSpPr>
        <p:spPr>
          <a:xfrm>
            <a:off x="7428548" y="1865233"/>
            <a:ext cx="6408063" cy="2898815"/>
          </a:xfrm>
          <a:prstGeom prst="roundRect">
            <a:avLst>
              <a:gd fmla="val 7042" name="adj"/>
            </a:avLst>
          </a:prstGeom>
          <a:solidFill>
            <a:srgbClr val="FAFFFA"/>
          </a:solidFill>
          <a:ln cap="flat" cmpd="sng" w="30475">
            <a:solidFill>
              <a:srgbClr val="CE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685842" y="21225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Rice (4 classes)</a:t>
            </a:r>
            <a:endParaRPr b="0" i="0" sz="22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7685842" y="2612946"/>
            <a:ext cx="5893475" cy="1893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Sourced from Dhan-Shomadhan (local Bangladeshi dataset) and Kaggle's Rice Leafs.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Characteristics: Largest dataset portion (4,078 images); includes natural leaf and background variations.</a:t>
            </a:r>
            <a:endParaRPr b="0" i="0" sz="175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793790" y="4990862"/>
            <a:ext cx="6407944" cy="2535912"/>
          </a:xfrm>
          <a:prstGeom prst="roundRect">
            <a:avLst>
              <a:gd fmla="val 8050" name="adj"/>
            </a:avLst>
          </a:prstGeom>
          <a:solidFill>
            <a:srgbClr val="FAFFFA"/>
          </a:solidFill>
          <a:ln cap="flat" cmpd="sng" w="30475">
            <a:solidFill>
              <a:srgbClr val="CE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051084" y="524815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Wheat (3 classes)</a:t>
            </a:r>
            <a:endParaRPr b="0" i="0" sz="220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1051084" y="5738574"/>
            <a:ext cx="5893356" cy="153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Sourced from the Kaggle Wheat Disease Detection dataset.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Characteristics: Real-field photographs featuring natural, complex backgrounds.</a:t>
            </a:r>
            <a:endParaRPr b="0" i="0" sz="175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7428548" y="4990862"/>
            <a:ext cx="6408063" cy="2535912"/>
          </a:xfrm>
          <a:prstGeom prst="roundRect">
            <a:avLst>
              <a:gd fmla="val 8050" name="adj"/>
            </a:avLst>
          </a:prstGeom>
          <a:solidFill>
            <a:srgbClr val="FAFFFA"/>
          </a:solidFill>
          <a:ln cap="flat" cmpd="sng" w="30475">
            <a:solidFill>
              <a:srgbClr val="CED9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7685842" y="5248156"/>
            <a:ext cx="304907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Sugarcane (3 classes)</a:t>
            </a:r>
            <a:endParaRPr b="0" i="0" sz="220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7685842" y="5738574"/>
            <a:ext cx="5893475" cy="153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Sourced from the Kaggle Sugarcane Disease Dataset.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Char char="•"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Characteristics: Most under-represented crop, containing only 100 images per class.</a:t>
            </a:r>
            <a:endParaRPr b="0" i="0" sz="1750" u="none" cap="none" strike="noStrike"/>
          </a:p>
        </p:txBody>
      </p:sp>
      <p:pic>
        <p:nvPicPr>
          <p:cNvPr id="100" name="Google Shape;10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5875" y="7697850"/>
            <a:ext cx="18002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793790" y="670203"/>
            <a:ext cx="5735479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750"/>
              <a:buFont typeface="Fraunces ExtraBold"/>
              <a:buNone/>
            </a:pPr>
            <a:r>
              <a:rPr b="1" i="0" lang="en-US" sz="37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Key Findings from EDA</a:t>
            </a:r>
            <a:endParaRPr b="0" i="0" sz="3750" u="none" cap="none" strike="noStrike"/>
          </a:p>
        </p:txBody>
      </p:sp>
      <p:sp>
        <p:nvSpPr>
          <p:cNvPr id="108" name="Google Shape;108;p5"/>
          <p:cNvSpPr/>
          <p:nvPr/>
        </p:nvSpPr>
        <p:spPr>
          <a:xfrm>
            <a:off x="793790" y="1518404"/>
            <a:ext cx="433745" cy="433745"/>
          </a:xfrm>
          <a:prstGeom prst="roundRect">
            <a:avLst>
              <a:gd fmla="val 40006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391364" y="1584603"/>
            <a:ext cx="2855476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Severe Class Imbalance</a:t>
            </a:r>
            <a:endParaRPr b="0" i="0" sz="185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1391364" y="1984058"/>
            <a:ext cx="6958846" cy="85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The imbalance ratio is 14.9x. The majority class (Rice___Healthy) has 1,488 images, while minority classes (all Sugarcane classes) have only 100 images.</a:t>
            </a:r>
            <a:endParaRPr b="0" i="0" sz="1500" u="none" cap="none" strike="noStrike"/>
          </a:p>
        </p:txBody>
      </p:sp>
      <p:sp>
        <p:nvSpPr>
          <p:cNvPr id="111" name="Google Shape;111;p5"/>
          <p:cNvSpPr/>
          <p:nvPr/>
        </p:nvSpPr>
        <p:spPr>
          <a:xfrm>
            <a:off x="793790" y="3167539"/>
            <a:ext cx="433745" cy="433745"/>
          </a:xfrm>
          <a:prstGeom prst="roundRect">
            <a:avLst>
              <a:gd fmla="val 40006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391364" y="3233738"/>
            <a:ext cx="3778806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Extreme Resolution Variability</a:t>
            </a:r>
            <a:endParaRPr b="0" i="0" sz="1850" u="none" cap="none" strike="noStrike"/>
          </a:p>
        </p:txBody>
      </p:sp>
      <p:sp>
        <p:nvSpPr>
          <p:cNvPr id="113" name="Google Shape;113;p5"/>
          <p:cNvSpPr/>
          <p:nvPr/>
        </p:nvSpPr>
        <p:spPr>
          <a:xfrm>
            <a:off x="1391364" y="3633192"/>
            <a:ext cx="695884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Image dimensions range drastically from 16×1 px to 6,000×4,160 px, making uniform resizing a mandatory preprocessing step.</a:t>
            </a:r>
            <a:endParaRPr b="0" i="0" sz="1500" u="none" cap="none" strike="noStrike"/>
          </a:p>
        </p:txBody>
      </p:sp>
      <p:sp>
        <p:nvSpPr>
          <p:cNvPr id="114" name="Google Shape;114;p5"/>
          <p:cNvSpPr/>
          <p:nvPr/>
        </p:nvSpPr>
        <p:spPr>
          <a:xfrm>
            <a:off x="793790" y="4531400"/>
            <a:ext cx="433745" cy="433745"/>
          </a:xfrm>
          <a:prstGeom prst="roundRect">
            <a:avLst>
              <a:gd fmla="val 40006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1391364" y="4597598"/>
            <a:ext cx="2936200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Data Quality &amp; Integrity</a:t>
            </a:r>
            <a:endParaRPr b="0" i="0" sz="185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1391364" y="4997053"/>
            <a:ext cx="6958846" cy="1198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Char char="•"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Corrupt/Exact Duplicates: 0 corrupt files (verified via PIL) and 0 exact duplicates (verified via MD5 hashing).</a:t>
            </a:r>
            <a:endParaRPr b="0" i="0" sz="1500" u="none" cap="none" strike="noStrike"/>
          </a:p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Char char="•"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Near-Duplicates: Only 2 near-duplicate pairs detected (via pHash in a 500-image sample), indicating high dataset uniqueness.</a:t>
            </a:r>
            <a:endParaRPr b="0" i="0" sz="150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793790" y="6523077"/>
            <a:ext cx="433745" cy="433745"/>
          </a:xfrm>
          <a:prstGeom prst="roundRect">
            <a:avLst>
              <a:gd fmla="val 40006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391364" y="6589276"/>
            <a:ext cx="4054316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38951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438951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Color as a Discriminative Feature</a:t>
            </a:r>
            <a:endParaRPr b="0" i="0" sz="185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1391364" y="6988731"/>
            <a:ext cx="6958846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The green channel (G) consistently dominates in healthy leaves, with measurable intensity drops in diseased classes due to chlorophyll loss.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789503" y="629722"/>
            <a:ext cx="13051393" cy="1339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200"/>
              <a:buFont typeface="Fraunces ExtraBold"/>
              <a:buNone/>
            </a:pPr>
            <a:r>
              <a:rPr b="1" i="0" lang="en-US" sz="4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Preprocessing Pipeline &amp; Augmentation Strategy</a:t>
            </a:r>
            <a:endParaRPr b="0" i="0" sz="4200" u="none" cap="none" strike="noStrike"/>
          </a:p>
        </p:txBody>
      </p:sp>
      <p:sp>
        <p:nvSpPr>
          <p:cNvPr id="126" name="Google Shape;126;p6"/>
          <p:cNvSpPr/>
          <p:nvPr/>
        </p:nvSpPr>
        <p:spPr>
          <a:xfrm>
            <a:off x="789503" y="2475190"/>
            <a:ext cx="5392817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38951"/>
              </a:buClr>
              <a:buSzPts val="2500"/>
              <a:buFont typeface="Fraunces ExtraBold"/>
              <a:buNone/>
            </a:pPr>
            <a:r>
              <a:rPr b="1" i="0" lang="en-US" sz="2500" u="none" cap="none" strike="noStrike">
                <a:solidFill>
                  <a:srgbClr val="438951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Standardization &amp; Normalization</a:t>
            </a:r>
            <a:endParaRPr b="0" i="0" sz="25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789503" y="3079433"/>
            <a:ext cx="6264354" cy="1404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50"/>
              <a:buFont typeface="Nobile"/>
              <a:buChar char="•"/>
            </a:pPr>
            <a:r>
              <a:rPr b="0" i="0" lang="en-US" sz="16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All images explicitly resized to 224×224 to ensure compatibility with major CNNs (ResNet, EfficientNet).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50"/>
              <a:buFont typeface="Nobile"/>
              <a:buChar char="•"/>
            </a:pPr>
            <a:r>
              <a:rPr b="0" i="0" lang="en-US" sz="16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Normalized using standard ImageNet statistics (mean &amp; std) to enable effective transfer learning.</a:t>
            </a:r>
            <a:endParaRPr b="0" i="0" sz="165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7584162" y="2475190"/>
            <a:ext cx="6264354" cy="803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38951"/>
              </a:buClr>
              <a:buSzPts val="2500"/>
              <a:buFont typeface="Fraunces ExtraBold"/>
              <a:buNone/>
            </a:pPr>
            <a:r>
              <a:rPr b="1" i="0" lang="en-US" sz="2500" u="none" cap="none" strike="noStrike">
                <a:solidFill>
                  <a:srgbClr val="438951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Targeted Augmentation (Training Set Only)</a:t>
            </a:r>
            <a:endParaRPr b="0" i="0" sz="2500" u="none" cap="none" strike="noStrike"/>
          </a:p>
        </p:txBody>
      </p:sp>
      <p:sp>
        <p:nvSpPr>
          <p:cNvPr id="129" name="Google Shape;129;p6"/>
          <p:cNvSpPr/>
          <p:nvPr/>
        </p:nvSpPr>
        <p:spPr>
          <a:xfrm>
            <a:off x="7584162" y="3481268"/>
            <a:ext cx="6264354" cy="20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50"/>
              <a:buFont typeface="Nobile"/>
              <a:buChar char="•"/>
            </a:pPr>
            <a:r>
              <a:rPr b="0" i="0" lang="en-US" sz="16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Applied strictly to minority classes (Sugarcane, Potato___Healthy, Corn___Gray_Spot) to counteract the 14.9x imbalance.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50"/>
              <a:buFont typeface="Nobile"/>
              <a:buChar char="•"/>
            </a:pPr>
            <a:r>
              <a:rPr b="0" i="0" lang="en-US" sz="16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Techniques: Horizontal/vertical flips, random rotation (±30°), brightness/contrast shifts (±20%), and random zoom (0.9–1.1×).</a:t>
            </a:r>
            <a:endParaRPr b="0" i="0" sz="165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789503" y="5850850"/>
            <a:ext cx="13051393" cy="1749028"/>
          </a:xfrm>
          <a:prstGeom prst="roundRect">
            <a:avLst>
              <a:gd fmla="val 11027" name="adj"/>
            </a:avLst>
          </a:prstGeom>
          <a:solidFill>
            <a:srgbClr val="CCE6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697" y="6131481"/>
            <a:ext cx="334804" cy="26777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1552694" y="6106716"/>
            <a:ext cx="2678668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Fraunces ExtraBold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Data Splits</a:t>
            </a:r>
            <a:endParaRPr b="0" i="0" sz="21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1552694" y="6643926"/>
            <a:ext cx="12074009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Nobile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A stratified 80/10/10 split (Train/Val/Test) was utilized to guarantee that even the smallest 100-image classes are proportionally represented across all phases.</a:t>
            </a:r>
            <a:endParaRPr b="0" i="0" sz="1650" u="none" cap="none" strike="noStrike"/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5875" y="7697850"/>
            <a:ext cx="18002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793790" y="1519238"/>
            <a:ext cx="982122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M3 Readiness &amp; Final Deliverables</a:t>
            </a:r>
            <a:endParaRPr b="0" i="0" sz="4450" u="none" cap="none" strike="noStrike"/>
          </a:p>
        </p:txBody>
      </p:sp>
      <p:sp>
        <p:nvSpPr>
          <p:cNvPr id="141" name="Google Shape;141;p7"/>
          <p:cNvSpPr/>
          <p:nvPr/>
        </p:nvSpPr>
        <p:spPr>
          <a:xfrm>
            <a:off x="793790" y="2681645"/>
            <a:ext cx="4196358" cy="4028718"/>
          </a:xfrm>
          <a:prstGeom prst="roundRect">
            <a:avLst>
              <a:gd fmla="val 5067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020604" y="2908459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389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770" y="3095506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1020604" y="3815715"/>
            <a:ext cx="328969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Structural Verification</a:t>
            </a:r>
            <a:endParaRPr b="0" i="0" sz="2200" u="none" cap="none" strike="noStrike"/>
          </a:p>
        </p:txBody>
      </p:sp>
      <p:sp>
        <p:nvSpPr>
          <p:cNvPr id="145" name="Google Shape;145;p7"/>
          <p:cNvSpPr/>
          <p:nvPr/>
        </p:nvSpPr>
        <p:spPr>
          <a:xfrm>
            <a:off x="1020604" y="4306133"/>
            <a:ext cx="374273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The dataset is fully cleaned, deduplicated, resized, and balanced without risking data leakage into the validation/test sets.</a:t>
            </a:r>
            <a:endParaRPr b="0" i="0" sz="1750" u="none" cap="none" strike="noStrike"/>
          </a:p>
        </p:txBody>
      </p:sp>
      <p:sp>
        <p:nvSpPr>
          <p:cNvPr id="146" name="Google Shape;146;p7"/>
          <p:cNvSpPr/>
          <p:nvPr/>
        </p:nvSpPr>
        <p:spPr>
          <a:xfrm>
            <a:off x="5216962" y="2681645"/>
            <a:ext cx="4196358" cy="4028718"/>
          </a:xfrm>
          <a:prstGeom prst="roundRect">
            <a:avLst>
              <a:gd fmla="val 5067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443776" y="2908459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389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0942" y="3095506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5443776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System Integration</a:t>
            </a:r>
            <a:endParaRPr b="0" i="0" sz="2200" u="none" cap="none" strike="noStrike"/>
          </a:p>
        </p:txBody>
      </p:sp>
      <p:sp>
        <p:nvSpPr>
          <p:cNvPr id="150" name="Google Shape;150;p7"/>
          <p:cNvSpPr/>
          <p:nvPr/>
        </p:nvSpPr>
        <p:spPr>
          <a:xfrm>
            <a:off x="5443776" y="4306133"/>
            <a:ext cx="374273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Files are saved in a standard ImageFolder-compatible directory structure (processed/train/, val/, test/) for seamless loading into PyTorch or TensorFlow.</a:t>
            </a:r>
            <a:endParaRPr b="0" i="0" sz="1750" u="none" cap="none" strike="noStrike"/>
          </a:p>
        </p:txBody>
      </p:sp>
      <p:sp>
        <p:nvSpPr>
          <p:cNvPr id="151" name="Google Shape;151;p7"/>
          <p:cNvSpPr/>
          <p:nvPr/>
        </p:nvSpPr>
        <p:spPr>
          <a:xfrm>
            <a:off x="9640133" y="2681645"/>
            <a:ext cx="4196358" cy="4028718"/>
          </a:xfrm>
          <a:prstGeom prst="roundRect">
            <a:avLst>
              <a:gd fmla="val 5067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9866948" y="2908459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389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4114" y="3095506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9866948" y="3815715"/>
            <a:ext cx="34940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Traceability Established</a:t>
            </a:r>
            <a:endParaRPr b="0" i="0" sz="220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9866948" y="4306133"/>
            <a:ext cx="374273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Generated an eda_master_dataframe.csv manifest containing file paths, class labels, original dimensions, and MD5 hashes to serve as the single source of truth for M3.</a:t>
            </a:r>
            <a:endParaRPr b="0" i="0" sz="1750" u="none" cap="none" strike="noStrike"/>
          </a:p>
        </p:txBody>
      </p:sp>
      <p:pic>
        <p:nvPicPr>
          <p:cNvPr id="156" name="Google Shape;15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5875" y="7697850"/>
            <a:ext cx="18002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2026-03-05T18:01:13Z</dcterms:created>
</cp:coreProperties>
</file>