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to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move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the notes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A200782-5E13-4DAD-9A46-2D8A33770297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83A9E3E-796E-47AA-A8D7-8EFD0A8EF9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960B813-ECFA-4C10-8249-9ACCEBC5AE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54C8909-3A40-4006-BF73-60BA92A7E32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3EE4228-96C0-4D4B-8F91-2CE274A992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29B032-2FE3-4344-9ED6-7EEEA3BC2DB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4FC5CCD-F4CD-4323-9404-B452688A16A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BFE25FE-09B5-4332-BB65-BF56DECFC1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805E99B-1861-4119-84C7-33C81A1FFC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0E0D7D-7BA4-4A67-9E28-6F9414F0B7A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</a:t>
            </a: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lnSpcReduction="9999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8.jpe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jpeg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0.jpeg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Relationship Id="rId6" Type="http://schemas.openxmlformats.org/officeDocument/2006/relationships/image" Target="../media/image24.png"/><Relationship Id="rId7" Type="http://schemas.openxmlformats.org/officeDocument/2006/relationships/image" Target="../media/image22.png"/><Relationship Id="rId8" Type="http://schemas.openxmlformats.org/officeDocument/2006/relationships/image" Target="../media/image25.png"/><Relationship Id="rId9" Type="http://schemas.openxmlformats.org/officeDocument/2006/relationships/image" Target="../media/image22.png"/><Relationship Id="rId10" Type="http://schemas.openxmlformats.org/officeDocument/2006/relationships/image" Target="../media/image26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29.png"/><Relationship Id="rId6" Type="http://schemas.openxmlformats.org/officeDocument/2006/relationships/image" Target="../media/image29.png"/><Relationship Id="rId7" Type="http://schemas.openxmlformats.org/officeDocument/2006/relationships/image" Target="../media/image29.png"/><Relationship Id="rId8" Type="http://schemas.openxmlformats.org/officeDocument/2006/relationships/image" Target="../media/image29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Relationship Id="rId5" Type="http://schemas.openxmlformats.org/officeDocument/2006/relationships/image" Target="../media/image33.png"/><Relationship Id="rId6" Type="http://schemas.openxmlformats.org/officeDocument/2006/relationships/image" Target="../media/image34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35.png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Image 1" descr="preencoded.png"/>
          <p:cNvPicPr/>
          <p:nvPr/>
        </p:nvPicPr>
        <p:blipFill>
          <a:blip r:embed="rId2"/>
          <a:stretch/>
        </p:blipFill>
        <p:spPr>
          <a:xfrm>
            <a:off x="571680" y="285840"/>
            <a:ext cx="713880" cy="7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Text 0"/>
          <p:cNvSpPr/>
          <p:nvPr/>
        </p:nvSpPr>
        <p:spPr>
          <a:xfrm>
            <a:off x="571680" y="1632600"/>
            <a:ext cx="594324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pc="3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MILESTONE 3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1"/>
          <p:cNvSpPr/>
          <p:nvPr/>
        </p:nvSpPr>
        <p:spPr>
          <a:xfrm>
            <a:off x="571680" y="2467440"/>
            <a:ext cx="5943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329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Multimodal AI Assistant</a:t>
            </a:r>
            <a:endParaRPr lang="en-US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4000"/>
              </a:lnSpc>
              <a:tabLst>
                <a:tab algn="l" pos="0"/>
              </a:tabLst>
            </a:pPr>
            <a:r>
              <a:rPr lang="en-US" sz="329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for Smart Agriculture</a:t>
            </a:r>
            <a:endParaRPr lang="en-US" sz="32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2"/>
          <p:cNvSpPr/>
          <p:nvPr/>
        </p:nvSpPr>
        <p:spPr>
          <a:xfrm>
            <a:off x="571680" y="3759120"/>
            <a:ext cx="428580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Advanced Model Architecture &amp; End-to-End Pipeline Verification for Intelligent Farming Solutions.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3"/>
          <p:cNvSpPr/>
          <p:nvPr/>
        </p:nvSpPr>
        <p:spPr>
          <a:xfrm>
            <a:off x="571680" y="4815000"/>
            <a:ext cx="14032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IIT MADRAS | TEAM 8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Shape 4"/>
          <p:cNvSpPr/>
          <p:nvPr/>
        </p:nvSpPr>
        <p:spPr>
          <a:xfrm>
            <a:off x="6515280" y="0"/>
            <a:ext cx="3200040" cy="514332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" name="Image 2" descr="preencoded.png"/>
          <p:cNvPicPr/>
          <p:nvPr/>
        </p:nvPicPr>
        <p:blipFill>
          <a:blip r:embed="rId3">
            <a:alphaModFix amt="30000"/>
          </a:blip>
          <a:stretch/>
        </p:blipFill>
        <p:spPr>
          <a:xfrm>
            <a:off x="7686720" y="1384920"/>
            <a:ext cx="85680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Shape 5"/>
          <p:cNvSpPr/>
          <p:nvPr/>
        </p:nvSpPr>
        <p:spPr>
          <a:xfrm>
            <a:off x="6688800" y="2328120"/>
            <a:ext cx="2853000" cy="1429920"/>
          </a:xfrm>
          <a:prstGeom prst="rect">
            <a:avLst/>
          </a:prstGeom>
          <a:solidFill>
            <a:srgbClr val="ffffff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6"/>
          <p:cNvSpPr/>
          <p:nvPr/>
        </p:nvSpPr>
        <p:spPr>
          <a:xfrm>
            <a:off x="6688800" y="2328120"/>
            <a:ext cx="35280" cy="14299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7"/>
          <p:cNvSpPr/>
          <p:nvPr/>
        </p:nvSpPr>
        <p:spPr>
          <a:xfrm>
            <a:off x="6835320" y="2456640"/>
            <a:ext cx="25599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TEAM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8"/>
          <p:cNvSpPr/>
          <p:nvPr/>
        </p:nvSpPr>
        <p:spPr>
          <a:xfrm>
            <a:off x="6835320" y="2715480"/>
            <a:ext cx="255996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Sai Naman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Harish Sahadev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Ayushi Dixit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Manas Rastogi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Allanki Saketh Kumar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" name="Text 0"/>
          <p:cNvSpPr/>
          <p:nvPr/>
        </p:nvSpPr>
        <p:spPr>
          <a:xfrm>
            <a:off x="6611400" y="-357120"/>
            <a:ext cx="224640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01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Dataset Organization and Integrity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STRATIFIED SPLITTING FOR ROBUST EVALUATION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3"/>
          <p:cNvSpPr/>
          <p:nvPr/>
        </p:nvSpPr>
        <p:spPr>
          <a:xfrm>
            <a:off x="571680" y="1806840"/>
            <a:ext cx="3893040" cy="15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4"/>
          <p:cNvSpPr/>
          <p:nvPr/>
        </p:nvSpPr>
        <p:spPr>
          <a:xfrm>
            <a:off x="571680" y="1806840"/>
            <a:ext cx="3893040" cy="4248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8" name="Image 1" descr="preencoded.png"/>
          <p:cNvPicPr/>
          <p:nvPr/>
        </p:nvPicPr>
        <p:blipFill>
          <a:blip r:embed="rId2"/>
          <a:stretch/>
        </p:blipFill>
        <p:spPr>
          <a:xfrm>
            <a:off x="785880" y="202104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Text 5"/>
          <p:cNvSpPr/>
          <p:nvPr/>
        </p:nvSpPr>
        <p:spPr>
          <a:xfrm>
            <a:off x="785880" y="2299680"/>
            <a:ext cx="34642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Class-wise Architecture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785880" y="2544120"/>
            <a:ext cx="3464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Data is meticulously organized into class-specific folders to maintain structural clarity and ease of access during the training phase.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4679280" y="1806840"/>
            <a:ext cx="3893040" cy="15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4679280" y="1806840"/>
            <a:ext cx="3893040" cy="424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3" name="Image 2" descr="preencoded.png"/>
          <p:cNvPicPr/>
          <p:nvPr/>
        </p:nvPicPr>
        <p:blipFill>
          <a:blip r:embed="rId3"/>
          <a:stretch/>
        </p:blipFill>
        <p:spPr>
          <a:xfrm>
            <a:off x="4893480" y="2021040"/>
            <a:ext cx="1926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 9"/>
          <p:cNvSpPr/>
          <p:nvPr/>
        </p:nvSpPr>
        <p:spPr>
          <a:xfrm>
            <a:off x="4893480" y="2299680"/>
            <a:ext cx="34642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80-10-10 Stratified Split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0"/>
          <p:cNvSpPr/>
          <p:nvPr/>
        </p:nvSpPr>
        <p:spPr>
          <a:xfrm>
            <a:off x="4893480" y="2544120"/>
            <a:ext cx="3464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Implementation of a balanced 80% Training, 10% Validation, and 10% Testing split to ensure statistical representativeness across all 17 classes.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1"/>
          <p:cNvSpPr/>
          <p:nvPr/>
        </p:nvSpPr>
        <p:spPr>
          <a:xfrm>
            <a:off x="571680" y="3521160"/>
            <a:ext cx="3893040" cy="15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2"/>
          <p:cNvSpPr/>
          <p:nvPr/>
        </p:nvSpPr>
        <p:spPr>
          <a:xfrm>
            <a:off x="571680" y="3521160"/>
            <a:ext cx="3893040" cy="4248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8" name="Image 3" descr="preencoded.png"/>
          <p:cNvPicPr/>
          <p:nvPr/>
        </p:nvPicPr>
        <p:blipFill>
          <a:blip r:embed="rId4"/>
          <a:stretch/>
        </p:blipFill>
        <p:spPr>
          <a:xfrm>
            <a:off x="785880" y="373536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Text 13"/>
          <p:cNvSpPr/>
          <p:nvPr/>
        </p:nvSpPr>
        <p:spPr>
          <a:xfrm>
            <a:off x="785880" y="4014000"/>
            <a:ext cx="34642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Manifest Tracking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785880" y="4258800"/>
            <a:ext cx="3464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Comprehensive manifest files track every single sample, ensuring fully reproducible experiments and transparent data lineage.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5"/>
          <p:cNvSpPr/>
          <p:nvPr/>
        </p:nvSpPr>
        <p:spPr>
          <a:xfrm>
            <a:off x="4679280" y="3521160"/>
            <a:ext cx="3893040" cy="1542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4679280" y="3521160"/>
            <a:ext cx="3893040" cy="424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2160" bIns="-216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4893480" y="3874680"/>
            <a:ext cx="346428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Zero Data Leakage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4893480" y="4119480"/>
            <a:ext cx="346428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Rigorous verification protocols are in place to prevent any overlap between training and evaluation sets, maintaining the integrity of the results.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19"/>
          <p:cNvSpPr/>
          <p:nvPr/>
        </p:nvSpPr>
        <p:spPr>
          <a:xfrm>
            <a:off x="571680" y="480780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" name="Text 0"/>
          <p:cNvSpPr/>
          <p:nvPr/>
        </p:nvSpPr>
        <p:spPr>
          <a:xfrm>
            <a:off x="6289920" y="-357120"/>
            <a:ext cx="256788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02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Preprocessing Pipeline Optimization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STANDARDIZED INPUT PREPARATION FOR HIGH-PERFORMANCE INFERENCE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3"/>
          <p:cNvSpPr/>
          <p:nvPr/>
        </p:nvSpPr>
        <p:spPr>
          <a:xfrm>
            <a:off x="905760" y="2092320"/>
            <a:ext cx="771120" cy="77112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" name="Image 1" descr="preencoded.png"/>
          <p:cNvPicPr/>
          <p:nvPr/>
        </p:nvPicPr>
        <p:blipFill>
          <a:blip r:embed="rId2"/>
          <a:stretch/>
        </p:blipFill>
        <p:spPr>
          <a:xfrm>
            <a:off x="1177200" y="23353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" name="Text 4"/>
          <p:cNvSpPr/>
          <p:nvPr/>
        </p:nvSpPr>
        <p:spPr>
          <a:xfrm>
            <a:off x="744120" y="2985480"/>
            <a:ext cx="109440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Noise Reduction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571680" y="3378240"/>
            <a:ext cx="1439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Automated removal of duplicate images to prevent model bias and overfitting.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6"/>
          <p:cNvSpPr/>
          <p:nvPr/>
        </p:nvSpPr>
        <p:spPr>
          <a:xfrm>
            <a:off x="2545920" y="2092320"/>
            <a:ext cx="771120" cy="77112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" name="Image 2" descr="preencoded.png"/>
          <p:cNvPicPr/>
          <p:nvPr/>
        </p:nvPicPr>
        <p:blipFill>
          <a:blip r:embed="rId3"/>
          <a:stretch/>
        </p:blipFill>
        <p:spPr>
          <a:xfrm>
            <a:off x="2817360" y="23353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Text 7"/>
          <p:cNvSpPr/>
          <p:nvPr/>
        </p:nvSpPr>
        <p:spPr>
          <a:xfrm>
            <a:off x="2397600" y="2985480"/>
            <a:ext cx="106776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RGB Conversion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8"/>
          <p:cNvSpPr/>
          <p:nvPr/>
        </p:nvSpPr>
        <p:spPr>
          <a:xfrm>
            <a:off x="2211840" y="3378240"/>
            <a:ext cx="1439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All inputs converted to RGB space for consistent feature extraction across datasets.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9"/>
          <p:cNvSpPr/>
          <p:nvPr/>
        </p:nvSpPr>
        <p:spPr>
          <a:xfrm>
            <a:off x="4186080" y="2092320"/>
            <a:ext cx="771120" cy="77112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" name="Image 3" descr="preencoded.png"/>
          <p:cNvPicPr/>
          <p:nvPr/>
        </p:nvPicPr>
        <p:blipFill>
          <a:blip r:embed="rId4"/>
          <a:stretch/>
        </p:blipFill>
        <p:spPr>
          <a:xfrm>
            <a:off x="4471920" y="2335320"/>
            <a:ext cx="19980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Text 10"/>
          <p:cNvSpPr/>
          <p:nvPr/>
        </p:nvSpPr>
        <p:spPr>
          <a:xfrm>
            <a:off x="4291560" y="2985480"/>
            <a:ext cx="56052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Resizing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1"/>
          <p:cNvSpPr/>
          <p:nvPr/>
        </p:nvSpPr>
        <p:spPr>
          <a:xfrm>
            <a:off x="3852000" y="3378240"/>
            <a:ext cx="1439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Standardized 224x224 resolution to match model input requirements perfectly.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Shape 12"/>
          <p:cNvSpPr/>
          <p:nvPr/>
        </p:nvSpPr>
        <p:spPr>
          <a:xfrm>
            <a:off x="5826240" y="2092320"/>
            <a:ext cx="771120" cy="77112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ff4d4d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" name="Image 4" descr="preencoded.png"/>
          <p:cNvPicPr/>
          <p:nvPr/>
        </p:nvPicPr>
        <p:blipFill>
          <a:blip r:embed="rId5"/>
          <a:stretch/>
        </p:blipFill>
        <p:spPr>
          <a:xfrm>
            <a:off x="6097680" y="2335320"/>
            <a:ext cx="22824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" name="Text 13"/>
          <p:cNvSpPr/>
          <p:nvPr/>
        </p:nvSpPr>
        <p:spPr>
          <a:xfrm>
            <a:off x="5727240" y="2985480"/>
            <a:ext cx="96948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Augmentation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492160" y="3378240"/>
            <a:ext cx="1439640" cy="55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Dynamic training-only augmentations to enhance model generalization capabilities.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15"/>
          <p:cNvSpPr/>
          <p:nvPr/>
        </p:nvSpPr>
        <p:spPr>
          <a:xfrm>
            <a:off x="7466400" y="2092320"/>
            <a:ext cx="771120" cy="771120"/>
          </a:xfrm>
          <a:prstGeom prst="ellipse">
            <a:avLst/>
          </a:prstGeom>
          <a:solidFill>
            <a:srgbClr val="ffffff"/>
          </a:solidFill>
          <a:ln w="27432">
            <a:solidFill>
              <a:srgbClr val="3b82f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" name="Image 5" descr="preencoded.png"/>
          <p:cNvPicPr/>
          <p:nvPr/>
        </p:nvPicPr>
        <p:blipFill>
          <a:blip r:embed="rId6"/>
          <a:stretch/>
        </p:blipFill>
        <p:spPr>
          <a:xfrm>
            <a:off x="7723800" y="2335320"/>
            <a:ext cx="256680" cy="2282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" name="Text 16"/>
          <p:cNvSpPr/>
          <p:nvPr/>
        </p:nvSpPr>
        <p:spPr>
          <a:xfrm>
            <a:off x="7383600" y="2985480"/>
            <a:ext cx="937080" cy="32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spAutoFit/>
          </a:bodyPr>
          <a:p>
            <a:pPr algn="ctr"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Normalization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17"/>
          <p:cNvSpPr/>
          <p:nvPr/>
        </p:nvSpPr>
        <p:spPr>
          <a:xfrm>
            <a:off x="7132320" y="3378240"/>
            <a:ext cx="1439640" cy="41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Pixel values normalized using ImageNet statistics for faster convergence.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19"/>
          <p:cNvSpPr/>
          <p:nvPr/>
        </p:nvSpPr>
        <p:spPr>
          <a:xfrm>
            <a:off x="571680" y="480780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306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Text 0"/>
          <p:cNvSpPr/>
          <p:nvPr/>
        </p:nvSpPr>
        <p:spPr>
          <a:xfrm>
            <a:off x="6372360" y="-357120"/>
            <a:ext cx="248580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03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Advanced Model Architecture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LEVERAGING RESNET-50 FOR COMPLEX AGRICULTURAL FEATURE EXTRACTION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"/>
          <p:cNvSpPr/>
          <p:nvPr/>
        </p:nvSpPr>
        <p:spPr>
          <a:xfrm>
            <a:off x="743040" y="1842480"/>
            <a:ext cx="262872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BACKBONE NETWORK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4"/>
          <p:cNvSpPr/>
          <p:nvPr/>
        </p:nvSpPr>
        <p:spPr>
          <a:xfrm>
            <a:off x="743040" y="1999440"/>
            <a:ext cx="262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ResNet-50 Pretrained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5"/>
          <p:cNvSpPr/>
          <p:nvPr/>
        </p:nvSpPr>
        <p:spPr>
          <a:xfrm>
            <a:off x="743040" y="2478240"/>
            <a:ext cx="262872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INPUT TENSOR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6"/>
          <p:cNvSpPr/>
          <p:nvPr/>
        </p:nvSpPr>
        <p:spPr>
          <a:xfrm>
            <a:off x="743040" y="2635200"/>
            <a:ext cx="262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3 x 224 x 224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7"/>
          <p:cNvSpPr/>
          <p:nvPr/>
        </p:nvSpPr>
        <p:spPr>
          <a:xfrm>
            <a:off x="743040" y="3114000"/>
            <a:ext cx="262872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OUTPUT CLASSES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8"/>
          <p:cNvSpPr/>
          <p:nvPr/>
        </p:nvSpPr>
        <p:spPr>
          <a:xfrm>
            <a:off x="743040" y="3271320"/>
            <a:ext cx="262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17-Class Classifier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9"/>
          <p:cNvSpPr/>
          <p:nvPr/>
        </p:nvSpPr>
        <p:spPr>
          <a:xfrm>
            <a:off x="743040" y="3749760"/>
            <a:ext cx="262872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OPTIMIZATION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0"/>
          <p:cNvSpPr/>
          <p:nvPr/>
        </p:nvSpPr>
        <p:spPr>
          <a:xfrm>
            <a:off x="743040" y="3907080"/>
            <a:ext cx="2628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120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Strategic Fine-tuning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11"/>
          <p:cNvSpPr/>
          <p:nvPr/>
        </p:nvSpPr>
        <p:spPr>
          <a:xfrm>
            <a:off x="3800520" y="1806840"/>
            <a:ext cx="4800240" cy="76392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" name="Image 1" descr="preencoded.png"/>
          <p:cNvPicPr/>
          <p:nvPr/>
        </p:nvPicPr>
        <p:blipFill>
          <a:blip r:embed="rId2"/>
          <a:stretch/>
        </p:blipFill>
        <p:spPr>
          <a:xfrm>
            <a:off x="4000680" y="216468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" name="Text 12"/>
          <p:cNvSpPr/>
          <p:nvPr/>
        </p:nvSpPr>
        <p:spPr>
          <a:xfrm>
            <a:off x="4371840" y="2078280"/>
            <a:ext cx="369108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Deep Residual Learning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4371840" y="2335320"/>
            <a:ext cx="36910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Utilizes skip connections to mitigate vanishing gradients in deep networks.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14"/>
          <p:cNvSpPr/>
          <p:nvPr/>
        </p:nvSpPr>
        <p:spPr>
          <a:xfrm>
            <a:off x="3800520" y="1806840"/>
            <a:ext cx="56880" cy="749880"/>
          </a:xfrm>
          <a:prstGeom prst="rect">
            <a:avLst/>
          </a:prstGeom>
          <a:solidFill>
            <a:srgbClr val="1a1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3800520" y="2664000"/>
            <a:ext cx="4800240" cy="76392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" name="Image 2" descr="preencoded.png"/>
          <p:cNvPicPr/>
          <p:nvPr/>
        </p:nvPicPr>
        <p:blipFill>
          <a:blip r:embed="rId3"/>
          <a:stretch/>
        </p:blipFill>
        <p:spPr>
          <a:xfrm>
            <a:off x="4000680" y="302220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" name="Text 16"/>
          <p:cNvSpPr/>
          <p:nvPr/>
        </p:nvSpPr>
        <p:spPr>
          <a:xfrm>
            <a:off x="4371840" y="2935440"/>
            <a:ext cx="36036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Feature Hierarchy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7"/>
          <p:cNvSpPr/>
          <p:nvPr/>
        </p:nvSpPr>
        <p:spPr>
          <a:xfrm>
            <a:off x="4371840" y="3192480"/>
            <a:ext cx="360360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Captures low-level textures and high-level semantic structures effectively.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Shape 18"/>
          <p:cNvSpPr/>
          <p:nvPr/>
        </p:nvSpPr>
        <p:spPr>
          <a:xfrm>
            <a:off x="3800520" y="2664000"/>
            <a:ext cx="56880" cy="749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" name="Shape 19"/>
          <p:cNvSpPr/>
          <p:nvPr/>
        </p:nvSpPr>
        <p:spPr>
          <a:xfrm>
            <a:off x="3800520" y="3521160"/>
            <a:ext cx="4800240" cy="76392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" name="Image 3" descr="preencoded.png"/>
          <p:cNvPicPr/>
          <p:nvPr/>
        </p:nvPicPr>
        <p:blipFill>
          <a:blip r:embed="rId4"/>
          <a:stretch/>
        </p:blipFill>
        <p:spPr>
          <a:xfrm>
            <a:off x="4000680" y="3879360"/>
            <a:ext cx="17100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5" name="Text 20"/>
          <p:cNvSpPr/>
          <p:nvPr/>
        </p:nvSpPr>
        <p:spPr>
          <a:xfrm>
            <a:off x="4371840" y="3792600"/>
            <a:ext cx="375732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Custom Classification Head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1"/>
          <p:cNvSpPr/>
          <p:nvPr/>
        </p:nvSpPr>
        <p:spPr>
          <a:xfrm>
            <a:off x="4371840" y="4050000"/>
            <a:ext cx="375732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Tailored fully connected layers for domain-specific agricultural identification.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22"/>
          <p:cNvSpPr/>
          <p:nvPr/>
        </p:nvSpPr>
        <p:spPr>
          <a:xfrm>
            <a:off x="3800520" y="3521160"/>
            <a:ext cx="56880" cy="74988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3"/>
          <p:cNvSpPr/>
          <p:nvPr/>
        </p:nvSpPr>
        <p:spPr>
          <a:xfrm>
            <a:off x="3800520" y="4378320"/>
            <a:ext cx="4800240" cy="885600"/>
          </a:xfrm>
          <a:prstGeom prst="rect">
            <a:avLst/>
          </a:prstGeom>
          <a:solidFill>
            <a:srgbClr val="ffffff"/>
          </a:solidFill>
          <a:ln w="9144">
            <a:solidFill>
              <a:srgbClr val="000000">
                <a:alpha val="5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9" name="Image 4" descr="preencoded.png"/>
          <p:cNvPicPr/>
          <p:nvPr/>
        </p:nvPicPr>
        <p:blipFill>
          <a:blip r:embed="rId5"/>
          <a:stretch/>
        </p:blipFill>
        <p:spPr>
          <a:xfrm>
            <a:off x="4019760" y="4797360"/>
            <a:ext cx="128160" cy="171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0" name="Text 24"/>
          <p:cNvSpPr/>
          <p:nvPr/>
        </p:nvSpPr>
        <p:spPr>
          <a:xfrm>
            <a:off x="4367880" y="4649760"/>
            <a:ext cx="405432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Performance Stability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5"/>
          <p:cNvSpPr/>
          <p:nvPr/>
        </p:nvSpPr>
        <p:spPr>
          <a:xfrm>
            <a:off x="4367880" y="4907160"/>
            <a:ext cx="4054320" cy="24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Engineered for high accuracy across varying lighting and environmental conditions.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26"/>
          <p:cNvSpPr/>
          <p:nvPr/>
        </p:nvSpPr>
        <p:spPr>
          <a:xfrm>
            <a:off x="3800520" y="4378320"/>
            <a:ext cx="56880" cy="871200"/>
          </a:xfrm>
          <a:prstGeom prst="rect">
            <a:avLst/>
          </a:prstGeom>
          <a:solidFill>
            <a:srgbClr val="1a1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27"/>
          <p:cNvSpPr/>
          <p:nvPr/>
        </p:nvSpPr>
        <p:spPr>
          <a:xfrm>
            <a:off x="571680" y="491436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0"/>
          <p:cNvSpPr/>
          <p:nvPr/>
        </p:nvSpPr>
        <p:spPr>
          <a:xfrm>
            <a:off x="6427440" y="-357120"/>
            <a:ext cx="243036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05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System Architecture Overview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COMPREHENSIVE END-TO-END MULTIMODAL PIPELINE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3"/>
          <p:cNvSpPr/>
          <p:nvPr/>
        </p:nvSpPr>
        <p:spPr>
          <a:xfrm>
            <a:off x="571680" y="480780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09" name=""/>
          <p:cNvPicPr/>
          <p:nvPr/>
        </p:nvPicPr>
        <p:blipFill>
          <a:blip r:embed="rId2"/>
          <a:stretch/>
        </p:blipFill>
        <p:spPr>
          <a:xfrm>
            <a:off x="1828800" y="1513080"/>
            <a:ext cx="5486400" cy="3343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Text 0"/>
          <p:cNvSpPr/>
          <p:nvPr/>
        </p:nvSpPr>
        <p:spPr>
          <a:xfrm>
            <a:off x="6311520" y="-357120"/>
            <a:ext cx="254628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04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End-to-End Data Flow Pipeline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SEAMLESS INTEGRATION FROM RAW INPUT TO FINAL CLASSIFICATION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3"/>
          <p:cNvSpPr/>
          <p:nvPr/>
        </p:nvSpPr>
        <p:spPr>
          <a:xfrm>
            <a:off x="571680" y="2235240"/>
            <a:ext cx="1142640" cy="119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4"/>
          <p:cNvSpPr/>
          <p:nvPr/>
        </p:nvSpPr>
        <p:spPr>
          <a:xfrm>
            <a:off x="571680" y="2235240"/>
            <a:ext cx="1142640" cy="56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6" name="Image 1" descr="preencoded.png"/>
          <p:cNvPicPr/>
          <p:nvPr/>
        </p:nvPicPr>
        <p:blipFill>
          <a:blip r:embed="rId2"/>
          <a:stretch/>
        </p:blipFill>
        <p:spPr>
          <a:xfrm>
            <a:off x="1000080" y="256932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7" name="Text 5"/>
          <p:cNvSpPr/>
          <p:nvPr/>
        </p:nvSpPr>
        <p:spPr>
          <a:xfrm>
            <a:off x="707400" y="2962080"/>
            <a:ext cx="87120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INPUT IMAGE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6"/>
          <p:cNvSpPr/>
          <p:nvPr/>
        </p:nvSpPr>
        <p:spPr>
          <a:xfrm>
            <a:off x="1857240" y="2542680"/>
            <a:ext cx="285480" cy="14040"/>
          </a:xfrm>
          <a:prstGeom prst="rect">
            <a:avLst/>
          </a:prstGeom>
          <a:solidFill>
            <a:srgbClr val="1a1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9" name="Image 2" descr="preencoded.png"/>
          <p:cNvPicPr/>
          <p:nvPr/>
        </p:nvPicPr>
        <p:blipFill>
          <a:blip r:embed="rId3"/>
          <a:stretch/>
        </p:blipFill>
        <p:spPr>
          <a:xfrm>
            <a:off x="2114640" y="2471040"/>
            <a:ext cx="6408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0" name="Shape 7"/>
          <p:cNvSpPr/>
          <p:nvPr/>
        </p:nvSpPr>
        <p:spPr>
          <a:xfrm>
            <a:off x="2286000" y="2235240"/>
            <a:ext cx="1142640" cy="119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2286000" y="2235240"/>
            <a:ext cx="1142640" cy="56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2" name="Image 3" descr="preencoded.png"/>
          <p:cNvPicPr/>
          <p:nvPr/>
        </p:nvPicPr>
        <p:blipFill>
          <a:blip r:embed="rId4"/>
          <a:stretch/>
        </p:blipFill>
        <p:spPr>
          <a:xfrm>
            <a:off x="2678760" y="2569320"/>
            <a:ext cx="35676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3" name="Text 9"/>
          <p:cNvSpPr/>
          <p:nvPr/>
        </p:nvSpPr>
        <p:spPr>
          <a:xfrm>
            <a:off x="2301120" y="2962080"/>
            <a:ext cx="111240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PREPROCESSING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0"/>
          <p:cNvSpPr/>
          <p:nvPr/>
        </p:nvSpPr>
        <p:spPr>
          <a:xfrm>
            <a:off x="3571920" y="2542680"/>
            <a:ext cx="285480" cy="14040"/>
          </a:xfrm>
          <a:prstGeom prst="rect">
            <a:avLst/>
          </a:prstGeom>
          <a:solidFill>
            <a:srgbClr val="1a1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5" name="Image 4" descr="preencoded.png"/>
          <p:cNvPicPr/>
          <p:nvPr/>
        </p:nvPicPr>
        <p:blipFill>
          <a:blip r:embed="rId5"/>
          <a:stretch/>
        </p:blipFill>
        <p:spPr>
          <a:xfrm>
            <a:off x="3828960" y="2471040"/>
            <a:ext cx="6408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6" name="Shape 11"/>
          <p:cNvSpPr/>
          <p:nvPr/>
        </p:nvSpPr>
        <p:spPr>
          <a:xfrm>
            <a:off x="4000680" y="2235240"/>
            <a:ext cx="1142640" cy="119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Shape 12"/>
          <p:cNvSpPr/>
          <p:nvPr/>
        </p:nvSpPr>
        <p:spPr>
          <a:xfrm>
            <a:off x="4000680" y="2235240"/>
            <a:ext cx="1142640" cy="56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28" name="Image 5" descr="preencoded.png"/>
          <p:cNvPicPr/>
          <p:nvPr/>
        </p:nvPicPr>
        <p:blipFill>
          <a:blip r:embed="rId6"/>
          <a:stretch/>
        </p:blipFill>
        <p:spPr>
          <a:xfrm>
            <a:off x="4429080" y="256932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 13"/>
          <p:cNvSpPr/>
          <p:nvPr/>
        </p:nvSpPr>
        <p:spPr>
          <a:xfrm>
            <a:off x="4212000" y="2962080"/>
            <a:ext cx="71928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RESNET-50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14"/>
          <p:cNvSpPr/>
          <p:nvPr/>
        </p:nvSpPr>
        <p:spPr>
          <a:xfrm>
            <a:off x="5286240" y="2542680"/>
            <a:ext cx="285480" cy="14040"/>
          </a:xfrm>
          <a:prstGeom prst="rect">
            <a:avLst/>
          </a:prstGeom>
          <a:solidFill>
            <a:srgbClr val="1a1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1" name="Image 6" descr="preencoded.png"/>
          <p:cNvPicPr/>
          <p:nvPr/>
        </p:nvPicPr>
        <p:blipFill>
          <a:blip r:embed="rId7"/>
          <a:stretch/>
        </p:blipFill>
        <p:spPr>
          <a:xfrm>
            <a:off x="5543640" y="2471040"/>
            <a:ext cx="6408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2" name="Shape 15"/>
          <p:cNvSpPr/>
          <p:nvPr/>
        </p:nvSpPr>
        <p:spPr>
          <a:xfrm>
            <a:off x="5715000" y="2235240"/>
            <a:ext cx="1142640" cy="119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Shape 16"/>
          <p:cNvSpPr/>
          <p:nvPr/>
        </p:nvSpPr>
        <p:spPr>
          <a:xfrm>
            <a:off x="5715000" y="2235240"/>
            <a:ext cx="1142640" cy="56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4" name="Image 7" descr="preencoded.png"/>
          <p:cNvPicPr/>
          <p:nvPr/>
        </p:nvPicPr>
        <p:blipFill>
          <a:blip r:embed="rId8"/>
          <a:stretch/>
        </p:blipFill>
        <p:spPr>
          <a:xfrm>
            <a:off x="6143760" y="2569320"/>
            <a:ext cx="28548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5" name="Text 17"/>
          <p:cNvSpPr/>
          <p:nvPr/>
        </p:nvSpPr>
        <p:spPr>
          <a:xfrm>
            <a:off x="5982120" y="2962080"/>
            <a:ext cx="60876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POOLING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8"/>
          <p:cNvSpPr/>
          <p:nvPr/>
        </p:nvSpPr>
        <p:spPr>
          <a:xfrm>
            <a:off x="7000920" y="2542680"/>
            <a:ext cx="285480" cy="14040"/>
          </a:xfrm>
          <a:prstGeom prst="rect">
            <a:avLst/>
          </a:prstGeom>
          <a:solidFill>
            <a:srgbClr val="1a1a24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30600" bIns="-306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37" name="Image 8" descr="preencoded.png"/>
          <p:cNvPicPr/>
          <p:nvPr/>
        </p:nvPicPr>
        <p:blipFill>
          <a:blip r:embed="rId9"/>
          <a:stretch/>
        </p:blipFill>
        <p:spPr>
          <a:xfrm>
            <a:off x="7257960" y="2471040"/>
            <a:ext cx="64080" cy="128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8" name="Shape 19"/>
          <p:cNvSpPr/>
          <p:nvPr/>
        </p:nvSpPr>
        <p:spPr>
          <a:xfrm>
            <a:off x="7429680" y="2235240"/>
            <a:ext cx="1142640" cy="11998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20"/>
          <p:cNvSpPr/>
          <p:nvPr/>
        </p:nvSpPr>
        <p:spPr>
          <a:xfrm>
            <a:off x="7429680" y="2235240"/>
            <a:ext cx="1142640" cy="56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40" name="Image 9" descr="preencoded.png"/>
          <p:cNvPicPr/>
          <p:nvPr/>
        </p:nvPicPr>
        <p:blipFill>
          <a:blip r:embed="rId10"/>
          <a:stretch/>
        </p:blipFill>
        <p:spPr>
          <a:xfrm>
            <a:off x="7876080" y="2540880"/>
            <a:ext cx="249840" cy="285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1" name="Text 21"/>
          <p:cNvSpPr/>
          <p:nvPr/>
        </p:nvSpPr>
        <p:spPr>
          <a:xfrm>
            <a:off x="7732080" y="2933640"/>
            <a:ext cx="537120" cy="13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1100"/>
              </a:lnSpc>
              <a:tabLst>
                <a:tab algn="l" pos="0"/>
              </a:tabLst>
            </a:pPr>
            <a:r>
              <a:rPr lang="en-US" sz="79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OUTPUT</a:t>
            </a:r>
            <a:endParaRPr lang="en-US" sz="7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22"/>
          <p:cNvSpPr/>
          <p:nvPr/>
        </p:nvSpPr>
        <p:spPr>
          <a:xfrm>
            <a:off x="764280" y="3949920"/>
            <a:ext cx="366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Feature Extraction: Sequential flow through the preprocessing pipeline and ResNet-50 feature extractor to capture salient visual patterns.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23"/>
          <p:cNvSpPr/>
          <p:nvPr/>
        </p:nvSpPr>
        <p:spPr>
          <a:xfrm>
            <a:off x="4907880" y="3949920"/>
            <a:ext cx="3664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Decision Logic: Global spatial pooling followed by a multi-class classification head generating probabilistic outputs for 17 agricultural classes.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4"/>
          <p:cNvSpPr/>
          <p:nvPr/>
        </p:nvSpPr>
        <p:spPr>
          <a:xfrm>
            <a:off x="571680" y="480780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6" name="Text 0"/>
          <p:cNvSpPr/>
          <p:nvPr/>
        </p:nvSpPr>
        <p:spPr>
          <a:xfrm>
            <a:off x="6427440" y="-357120"/>
            <a:ext cx="243036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05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Rigorous Pipeline Verification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ENSURING RELIABILITY AND ACCURACY IN SMART AGRICULTURE SYSTEMS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9" name="Image 1" descr="preencoded.png"/>
          <p:cNvPicPr/>
          <p:nvPr/>
        </p:nvPicPr>
        <p:blipFill>
          <a:blip r:embed="rId2"/>
          <a:stretch/>
        </p:blipFill>
        <p:spPr>
          <a:xfrm>
            <a:off x="571680" y="178884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0" name="Text 3"/>
          <p:cNvSpPr/>
          <p:nvPr/>
        </p:nvSpPr>
        <p:spPr>
          <a:xfrm>
            <a:off x="914400" y="1735200"/>
            <a:ext cx="315720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Validation Protocols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914400" y="1965600"/>
            <a:ext cx="315720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Systematic testing of each pipeline component to ensure data integrity and transformation accuracy at every stage.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714240" y="2765880"/>
            <a:ext cx="33573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Error Analysis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714240" y="2996280"/>
            <a:ext cx="33573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Identifying potential bottlenecks and edge cases in the data flow to optimize inference speed and model robustness.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4" name="Image 2" descr="preencoded.png"/>
          <p:cNvPicPr/>
          <p:nvPr/>
        </p:nvPicPr>
        <p:blipFill>
          <a:blip r:embed="rId3"/>
          <a:stretch/>
        </p:blipFill>
        <p:spPr>
          <a:xfrm>
            <a:off x="571680" y="3849840"/>
            <a:ext cx="2498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5" name="Text 7"/>
          <p:cNvSpPr/>
          <p:nvPr/>
        </p:nvSpPr>
        <p:spPr>
          <a:xfrm>
            <a:off x="964440" y="3796200"/>
            <a:ext cx="310716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Academic Excellence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964440" y="4026600"/>
            <a:ext cx="3107160" cy="51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Adhering to IIT Madras's rigorous standards for scientific methodology and technical precision in AI research.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Shape 9"/>
          <p:cNvSpPr/>
          <p:nvPr/>
        </p:nvSpPr>
        <p:spPr>
          <a:xfrm>
            <a:off x="4500720" y="1735200"/>
            <a:ext cx="4071600" cy="28054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10"/>
          <p:cNvSpPr/>
          <p:nvPr/>
        </p:nvSpPr>
        <p:spPr>
          <a:xfrm>
            <a:off x="4500720" y="1735200"/>
            <a:ext cx="4071600" cy="5688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1"/>
          <p:cNvSpPr/>
          <p:nvPr/>
        </p:nvSpPr>
        <p:spPr>
          <a:xfrm>
            <a:off x="4786200" y="2021040"/>
            <a:ext cx="349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CONSISTENCY CHECKS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Image 3" descr="preencoded.png"/>
          <p:cNvPicPr/>
          <p:nvPr/>
        </p:nvPicPr>
        <p:blipFill>
          <a:blip r:embed="rId4"/>
          <a:stretch/>
        </p:blipFill>
        <p:spPr>
          <a:xfrm>
            <a:off x="4786200" y="241560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 12"/>
          <p:cNvSpPr/>
          <p:nvPr/>
        </p:nvSpPr>
        <p:spPr>
          <a:xfrm>
            <a:off x="5036400" y="2408400"/>
            <a:ext cx="214092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Preprocessing Output Alignment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Image 4" descr="preencoded.png"/>
          <p:cNvPicPr/>
          <p:nvPr/>
        </p:nvPicPr>
        <p:blipFill>
          <a:blip r:embed="rId5"/>
          <a:stretch/>
        </p:blipFill>
        <p:spPr>
          <a:xfrm>
            <a:off x="4786200" y="275148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ext 13"/>
          <p:cNvSpPr/>
          <p:nvPr/>
        </p:nvSpPr>
        <p:spPr>
          <a:xfrm>
            <a:off x="5036400" y="2744280"/>
            <a:ext cx="20016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Model Input Tensor Verification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4" name="Image 5" descr="preencoded.png"/>
          <p:cNvPicPr/>
          <p:nvPr/>
        </p:nvPicPr>
        <p:blipFill>
          <a:blip r:embed="rId6"/>
          <a:stretch/>
        </p:blipFill>
        <p:spPr>
          <a:xfrm>
            <a:off x="4786200" y="308736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5" name="Text 14"/>
          <p:cNvSpPr/>
          <p:nvPr/>
        </p:nvSpPr>
        <p:spPr>
          <a:xfrm>
            <a:off x="5036400" y="3080160"/>
            <a:ext cx="15372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Label Mapping Integrity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6" name="Image 6" descr="preencoded.png"/>
          <p:cNvPicPr/>
          <p:nvPr/>
        </p:nvPicPr>
        <p:blipFill>
          <a:blip r:embed="rId7"/>
          <a:stretch/>
        </p:blipFill>
        <p:spPr>
          <a:xfrm>
            <a:off x="4786200" y="342288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7" name="Text 15"/>
          <p:cNvSpPr/>
          <p:nvPr/>
        </p:nvSpPr>
        <p:spPr>
          <a:xfrm>
            <a:off x="5036400" y="3415680"/>
            <a:ext cx="17982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Latency Benchmark Testing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8" name="Image 7" descr="preencoded.png"/>
          <p:cNvPicPr/>
          <p:nvPr/>
        </p:nvPicPr>
        <p:blipFill>
          <a:blip r:embed="rId8"/>
          <a:stretch/>
        </p:blipFill>
        <p:spPr>
          <a:xfrm>
            <a:off x="4786200" y="375876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9" name="Text 16"/>
          <p:cNvSpPr/>
          <p:nvPr/>
        </p:nvSpPr>
        <p:spPr>
          <a:xfrm>
            <a:off x="5036400" y="3751560"/>
            <a:ext cx="199260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939" b="0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Data Leakage Prevention Audit</a:t>
            </a:r>
            <a:endParaRPr lang="en-US" sz="9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7"/>
          <p:cNvSpPr/>
          <p:nvPr/>
        </p:nvSpPr>
        <p:spPr>
          <a:xfrm>
            <a:off x="571680" y="480780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3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2" name="Text 0"/>
          <p:cNvSpPr/>
          <p:nvPr/>
        </p:nvSpPr>
        <p:spPr>
          <a:xfrm>
            <a:off x="6432840" y="-357120"/>
            <a:ext cx="242496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07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Architectural Rationale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ff4d4d"/>
                </a:solidFill>
                <a:effectLst/>
                <a:uFillTx/>
                <a:latin typeface="Montserrat"/>
                <a:ea typeface="Montserrat"/>
              </a:rPr>
              <a:t>WHY RESNET-50 IS THE OPTIMAL CHOICE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Shape 3"/>
          <p:cNvSpPr/>
          <p:nvPr/>
        </p:nvSpPr>
        <p:spPr>
          <a:xfrm>
            <a:off x="571680" y="1692360"/>
            <a:ext cx="3200040" cy="26287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4"/>
          <p:cNvSpPr/>
          <p:nvPr/>
        </p:nvSpPr>
        <p:spPr>
          <a:xfrm>
            <a:off x="571680" y="1692360"/>
            <a:ext cx="3200040" cy="5688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12240" bIns="1224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77" name="Image 1" descr="preencoded.png"/>
          <p:cNvPicPr/>
          <p:nvPr/>
        </p:nvPicPr>
        <p:blipFill>
          <a:blip r:embed="rId2">
            <a:alphaModFix amt="80000"/>
          </a:blip>
          <a:stretch/>
        </p:blipFill>
        <p:spPr>
          <a:xfrm>
            <a:off x="1743120" y="2203200"/>
            <a:ext cx="856800" cy="856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8" name="Text 5"/>
          <p:cNvSpPr/>
          <p:nvPr/>
        </p:nvSpPr>
        <p:spPr>
          <a:xfrm>
            <a:off x="1409040" y="3174840"/>
            <a:ext cx="1524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50 Layers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Text 6"/>
          <p:cNvSpPr/>
          <p:nvPr/>
        </p:nvSpPr>
        <p:spPr>
          <a:xfrm>
            <a:off x="1409040" y="3632040"/>
            <a:ext cx="152496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algn="ctr"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DEEP RESIDUAL LEARNING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Shape 7"/>
          <p:cNvSpPr/>
          <p:nvPr/>
        </p:nvSpPr>
        <p:spPr>
          <a:xfrm>
            <a:off x="4057560" y="1692360"/>
            <a:ext cx="356760" cy="356760"/>
          </a:xfrm>
          <a:prstGeom prst="rect">
            <a:avLst/>
          </a:prstGeom>
          <a:solidFill>
            <a:srgbClr val="1a1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1" name="Image 2" descr="preencoded.png"/>
          <p:cNvPicPr/>
          <p:nvPr/>
        </p:nvPicPr>
        <p:blipFill>
          <a:blip r:embed="rId3"/>
          <a:stretch/>
        </p:blipFill>
        <p:spPr>
          <a:xfrm>
            <a:off x="4146840" y="1799640"/>
            <a:ext cx="17820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2" name="Text 8"/>
          <p:cNvSpPr/>
          <p:nvPr/>
        </p:nvSpPr>
        <p:spPr>
          <a:xfrm>
            <a:off x="4514760" y="1835280"/>
            <a:ext cx="1699920" cy="34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Vanishing Gradient Solution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9"/>
          <p:cNvSpPr/>
          <p:nvPr/>
        </p:nvSpPr>
        <p:spPr>
          <a:xfrm>
            <a:off x="4514760" y="2224440"/>
            <a:ext cx="169992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Residual connections allow training deeper networks without degradation, ensuring stable learning across complex agricultural datasets.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10"/>
          <p:cNvSpPr/>
          <p:nvPr/>
        </p:nvSpPr>
        <p:spPr>
          <a:xfrm>
            <a:off x="6415200" y="1692360"/>
            <a:ext cx="356760" cy="356760"/>
          </a:xfrm>
          <a:prstGeom prst="rect">
            <a:avLst/>
          </a:prstGeom>
          <a:solidFill>
            <a:srgbClr val="1a1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5" name="Image 3" descr="preencoded.png"/>
          <p:cNvPicPr/>
          <p:nvPr/>
        </p:nvPicPr>
        <p:blipFill>
          <a:blip r:embed="rId4"/>
          <a:stretch/>
        </p:blipFill>
        <p:spPr>
          <a:xfrm>
            <a:off x="6522120" y="179964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6" name="Text 11"/>
          <p:cNvSpPr/>
          <p:nvPr/>
        </p:nvSpPr>
        <p:spPr>
          <a:xfrm>
            <a:off x="6872400" y="1835280"/>
            <a:ext cx="169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Feature Hierarchy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12"/>
          <p:cNvSpPr/>
          <p:nvPr/>
        </p:nvSpPr>
        <p:spPr>
          <a:xfrm>
            <a:off x="6872400" y="2051280"/>
            <a:ext cx="1699920" cy="102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Captures both low-level textures (leaf patterns) and high-level semantic structures (pest types) through deep hierarchical features.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4057560" y="3381840"/>
            <a:ext cx="356760" cy="356760"/>
          </a:xfrm>
          <a:prstGeom prst="rect">
            <a:avLst/>
          </a:prstGeom>
          <a:solidFill>
            <a:srgbClr val="1a1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89" name="Image 4" descr="preencoded.png"/>
          <p:cNvPicPr/>
          <p:nvPr/>
        </p:nvPicPr>
        <p:blipFill>
          <a:blip r:embed="rId5"/>
          <a:stretch/>
        </p:blipFill>
        <p:spPr>
          <a:xfrm>
            <a:off x="4182840" y="3489120"/>
            <a:ext cx="10692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 14"/>
          <p:cNvSpPr/>
          <p:nvPr/>
        </p:nvSpPr>
        <p:spPr>
          <a:xfrm>
            <a:off x="4514760" y="3524760"/>
            <a:ext cx="169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Efficiency &amp; Accuracy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5"/>
          <p:cNvSpPr/>
          <p:nvPr/>
        </p:nvSpPr>
        <p:spPr>
          <a:xfrm>
            <a:off x="4514760" y="3740760"/>
            <a:ext cx="169992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Balances computational cost and classification accuracy, suitable for real-time agricultural monitoring.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6"/>
          <p:cNvSpPr/>
          <p:nvPr/>
        </p:nvSpPr>
        <p:spPr>
          <a:xfrm>
            <a:off x="6415200" y="3381840"/>
            <a:ext cx="356760" cy="356760"/>
          </a:xfrm>
          <a:prstGeom prst="rect">
            <a:avLst/>
          </a:prstGeom>
          <a:solidFill>
            <a:srgbClr val="1a1a2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93" name="Image 5" descr="preencoded.png"/>
          <p:cNvPicPr/>
          <p:nvPr/>
        </p:nvPicPr>
        <p:blipFill>
          <a:blip r:embed="rId6"/>
          <a:stretch/>
        </p:blipFill>
        <p:spPr>
          <a:xfrm>
            <a:off x="6522120" y="3489120"/>
            <a:ext cx="142560" cy="1425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4" name="Text 17"/>
          <p:cNvSpPr/>
          <p:nvPr/>
        </p:nvSpPr>
        <p:spPr>
          <a:xfrm>
            <a:off x="6872400" y="3524760"/>
            <a:ext cx="1699920" cy="172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9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Transfer Learning</a:t>
            </a:r>
            <a:endParaRPr lang="en-US" sz="9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8"/>
          <p:cNvSpPr/>
          <p:nvPr/>
        </p:nvSpPr>
        <p:spPr>
          <a:xfrm>
            <a:off x="6872400" y="3740760"/>
            <a:ext cx="1699920" cy="85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400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Pre-training on large datasets like ImageNet provides a strong foundation, requiring less domain-specific data for high accuracy.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9"/>
          <p:cNvSpPr/>
          <p:nvPr/>
        </p:nvSpPr>
        <p:spPr>
          <a:xfrm>
            <a:off x="571680" y="480780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Image 0" descr="preencoded.png"/>
          <p:cNvPicPr/>
          <p:nvPr/>
        </p:nvPicPr>
        <p:blipFill>
          <a:blip r:embed="rId1"/>
          <a:stretch/>
        </p:blipFill>
        <p:spPr>
          <a:xfrm>
            <a:off x="0" y="0"/>
            <a:ext cx="9143640" cy="5144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8" name="Text 0"/>
          <p:cNvSpPr/>
          <p:nvPr/>
        </p:nvSpPr>
        <p:spPr>
          <a:xfrm>
            <a:off x="6432840" y="-357120"/>
            <a:ext cx="2424960" cy="285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20299"/>
              </a:lnSpc>
              <a:tabLst>
                <a:tab algn="l" pos="0"/>
              </a:tabLst>
            </a:pPr>
            <a:r>
              <a:rPr lang="en-US" sz="15550" b="1" u="none" strike="noStrike">
                <a:solidFill>
                  <a:srgbClr val="1a1a24">
                    <a:alpha val="3000"/>
                  </a:srgbClr>
                </a:solidFill>
                <a:effectLst/>
                <a:uFillTx/>
                <a:latin typeface="Playfair Display"/>
                <a:ea typeface="Playfair Display"/>
              </a:rPr>
              <a:t>07</a:t>
            </a:r>
            <a:endParaRPr lang="en-US" sz="155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71680" y="658440"/>
            <a:ext cx="85723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3200"/>
              </a:lnSpc>
              <a:tabLst>
                <a:tab algn="l" pos="0"/>
              </a:tabLst>
            </a:pPr>
            <a:r>
              <a:rPr lang="en-US" sz="243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Conclusion and Future Directions</a:t>
            </a:r>
            <a:endParaRPr lang="en-US" sz="24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571680" y="1186920"/>
            <a:ext cx="8572320" cy="19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500"/>
              </a:lnSpc>
              <a:tabLst>
                <a:tab algn="l" pos="0"/>
              </a:tabLst>
            </a:pPr>
            <a:r>
              <a:rPr lang="en-US" sz="1090" b="1" u="none" strike="noStrike">
                <a:solidFill>
                  <a:srgbClr val="3b82f6"/>
                </a:solidFill>
                <a:effectLst/>
                <a:uFillTx/>
                <a:latin typeface="Montserrat"/>
                <a:ea typeface="Montserrat"/>
              </a:rPr>
              <a:t>MOVING TOWARDS A FULLY INTEGRATED MULTIMODAL ASSISTANT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3"/>
          <p:cNvSpPr/>
          <p:nvPr/>
        </p:nvSpPr>
        <p:spPr>
          <a:xfrm>
            <a:off x="571680" y="1663920"/>
            <a:ext cx="3785760" cy="2022840"/>
          </a:xfrm>
          <a:prstGeom prst="rect">
            <a:avLst/>
          </a:pr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2" name="Image 1" descr="preencoded.png"/>
          <p:cNvPicPr/>
          <p:nvPr/>
        </p:nvPicPr>
        <p:blipFill>
          <a:blip r:embed="rId2"/>
          <a:stretch/>
        </p:blipFill>
        <p:spPr>
          <a:xfrm>
            <a:off x="771480" y="1896840"/>
            <a:ext cx="19980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3" name="Text 4"/>
          <p:cNvSpPr/>
          <p:nvPr/>
        </p:nvSpPr>
        <p:spPr>
          <a:xfrm>
            <a:off x="1078560" y="1863720"/>
            <a:ext cx="16516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ffffff"/>
                </a:solidFill>
                <a:effectLst/>
                <a:uFillTx/>
                <a:latin typeface="Playfair Display"/>
                <a:ea typeface="Playfair Display"/>
              </a:rPr>
              <a:t>Key Achievements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5"/>
          <p:cNvSpPr/>
          <p:nvPr/>
        </p:nvSpPr>
        <p:spPr>
          <a:xfrm>
            <a:off x="771480" y="2344320"/>
            <a:ext cx="3385800" cy="102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599"/>
              </a:lnSpc>
              <a:tabLst>
                <a:tab algn="l" pos="0"/>
              </a:tabLst>
            </a:pPr>
            <a:r>
              <a:rPr lang="en-US" sz="839" b="0" u="none" strike="noStrike">
                <a:solidFill>
                  <a:srgbClr val="ffffff">
                    <a:alpha val="90000"/>
                  </a:srgbClr>
                </a:solidFill>
                <a:effectLst/>
                <a:uFillTx/>
                <a:latin typeface="Montserrat"/>
                <a:ea typeface="Montserrat"/>
              </a:rPr>
              <a:t>Successfully verified the core ResNet-50 architecture and end-to-end data processing pipeline. Established a robust foundation for the smart agriculture assistant's visual capabilities, ensuring high accuracy and technical rigor in line with IIT Madras standards.</a:t>
            </a:r>
            <a:endParaRPr lang="en-US" sz="839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Shape 6"/>
          <p:cNvSpPr/>
          <p:nvPr/>
        </p:nvSpPr>
        <p:spPr>
          <a:xfrm>
            <a:off x="3643200" y="1663920"/>
            <a:ext cx="713880" cy="713880"/>
          </a:xfrm>
          <a:prstGeom prst="rect">
            <a:avLst/>
          </a:prstGeom>
          <a:solidFill>
            <a:srgbClr val="3b82f6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6" name="Image 2" descr="preencoded.png"/>
          <p:cNvPicPr/>
          <p:nvPr/>
        </p:nvPicPr>
        <p:blipFill>
          <a:blip r:embed="rId3"/>
          <a:stretch/>
        </p:blipFill>
        <p:spPr>
          <a:xfrm>
            <a:off x="4786200" y="1697040"/>
            <a:ext cx="224640" cy="199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07" name="Text 7"/>
          <p:cNvSpPr/>
          <p:nvPr/>
        </p:nvSpPr>
        <p:spPr>
          <a:xfrm>
            <a:off x="5118480" y="1663920"/>
            <a:ext cx="15444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899"/>
              </a:lnSpc>
              <a:tabLst>
                <a:tab algn="l" pos="0"/>
              </a:tabLst>
            </a:pPr>
            <a:r>
              <a:rPr lang="en-US" sz="1390" b="1" u="none" strike="noStrike">
                <a:solidFill>
                  <a:srgbClr val="1a1a24"/>
                </a:solidFill>
                <a:effectLst/>
                <a:uFillTx/>
                <a:latin typeface="Playfair Display"/>
                <a:ea typeface="Playfair Display"/>
              </a:rPr>
              <a:t>Future Roadmap</a:t>
            </a:r>
            <a:endParaRPr lang="en-US" sz="13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4786200" y="2144160"/>
            <a:ext cx="3785760" cy="885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Shape 9"/>
          <p:cNvSpPr/>
          <p:nvPr/>
        </p:nvSpPr>
        <p:spPr>
          <a:xfrm>
            <a:off x="4786200" y="2144160"/>
            <a:ext cx="28080" cy="88560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4964760" y="2229840"/>
            <a:ext cx="3428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Multimodal Integration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4964760" y="2444400"/>
            <a:ext cx="34286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Incorporating sensor data and natural language processing for a comprehensive assistant.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4786200" y="3144240"/>
            <a:ext cx="3785760" cy="885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Shape 13"/>
          <p:cNvSpPr/>
          <p:nvPr/>
        </p:nvSpPr>
        <p:spPr>
          <a:xfrm>
            <a:off x="4786200" y="3144240"/>
            <a:ext cx="28080" cy="885600"/>
          </a:xfrm>
          <a:prstGeom prst="rect">
            <a:avLst/>
          </a:prstGeom>
          <a:solidFill>
            <a:srgbClr val="3b82f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4964760" y="3229920"/>
            <a:ext cx="3428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Field Testing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4964760" y="3444480"/>
            <a:ext cx="34286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Real-world deployment and validation across diverse agricultural environments.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6"/>
          <p:cNvSpPr/>
          <p:nvPr/>
        </p:nvSpPr>
        <p:spPr>
          <a:xfrm>
            <a:off x="4786200" y="4144320"/>
            <a:ext cx="3785760" cy="8856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Shape 17"/>
          <p:cNvSpPr/>
          <p:nvPr/>
        </p:nvSpPr>
        <p:spPr>
          <a:xfrm>
            <a:off x="4786200" y="4144320"/>
            <a:ext cx="28080" cy="885600"/>
          </a:xfrm>
          <a:prstGeom prst="rect">
            <a:avLst/>
          </a:prstGeom>
          <a:solidFill>
            <a:srgbClr val="ff4d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4964760" y="4230360"/>
            <a:ext cx="3428640" cy="156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880" b="1" u="none" strike="noStrike">
                <a:solidFill>
                  <a:srgbClr val="1a1a24"/>
                </a:solidFill>
                <a:effectLst/>
                <a:uFillTx/>
                <a:latin typeface="Montserrat"/>
                <a:ea typeface="Montserrat"/>
              </a:rPr>
              <a:t>Academic Vision</a:t>
            </a:r>
            <a:endParaRPr lang="en-US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4964760" y="4444560"/>
            <a:ext cx="3428640" cy="299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914400">
              <a:lnSpc>
                <a:spcPts val="1199"/>
              </a:lnSpc>
              <a:tabLst>
                <a:tab algn="l" pos="0"/>
              </a:tabLst>
            </a:pPr>
            <a:r>
              <a:rPr lang="en-US" sz="73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Pushing the boundaries of AI applications in sustainable and precision farming.</a:t>
            </a:r>
            <a:endParaRPr lang="en-US" sz="7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 20"/>
          <p:cNvSpPr/>
          <p:nvPr/>
        </p:nvSpPr>
        <p:spPr>
          <a:xfrm>
            <a:off x="571680" y="4808880"/>
            <a:ext cx="1865880" cy="12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0" tIns="0" bIns="0" anchor="t">
            <a:spAutoFit/>
          </a:bodyPr>
          <a:p>
            <a:pPr defTabSz="914400">
              <a:lnSpc>
                <a:spcPts val="901"/>
              </a:lnSpc>
              <a:tabLst>
                <a:tab algn="l" pos="0"/>
              </a:tabLst>
            </a:pPr>
            <a:r>
              <a:rPr lang="en-US" sz="690" b="1" u="none" strike="noStrike">
                <a:solidFill>
                  <a:srgbClr val="999999"/>
                </a:solidFill>
                <a:effectLst/>
                <a:uFillTx/>
                <a:latin typeface="Montserrat"/>
                <a:ea typeface="Montserrat"/>
              </a:rPr>
              <a:t>IIT MADRAS | TEAM 8 | MILESTONE 3</a:t>
            </a:r>
            <a:endParaRPr lang="en-US" sz="69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Application>LibreOffice/25.8.5.2$Linux_X86_64 LibreOffice_project/252c20f6956e3db0b52e6e2f9dda67263513c8fc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2026-03-19T16:56:15Z</dcterms:created>
  <dc:creator>PptxGenJS</dc:creator>
  <dc:description/>
  <dc:language>en-US</dc:language>
  <cp:lastModifiedBy/>
  <dcterms:modified xsi:type="dcterms:W3CDTF">2026-03-19T23:31:44Z</dcterms:modified>
  <cp:revision>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