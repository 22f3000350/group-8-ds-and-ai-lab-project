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10287000" cx="18288000"/>
  <p:notesSz cx="6858000" cy="9144000"/>
  <p:embeddedFontLst>
    <p:embeddedFont>
      <p:font typeface="Nobile"/>
      <p:regular r:id="rId17"/>
      <p:bold r:id="rId18"/>
      <p:italic r:id="rId19"/>
      <p:boldItalic r:id="rId20"/>
    </p:embeddedFont>
    <p:embeddedFont>
      <p:font typeface="Fraunces ExtraBold"/>
      <p:bold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obile-boldItalic.fntdata"/><Relationship Id="rId11" Type="http://schemas.openxmlformats.org/officeDocument/2006/relationships/slide" Target="slides/slide5.xml"/><Relationship Id="rId22" Type="http://schemas.openxmlformats.org/officeDocument/2006/relationships/font" Target="fonts/FrauncesExtraBold-boldItalic.fntdata"/><Relationship Id="rId10" Type="http://schemas.openxmlformats.org/officeDocument/2006/relationships/slide" Target="slides/slide4.xml"/><Relationship Id="rId21" Type="http://schemas.openxmlformats.org/officeDocument/2006/relationships/font" Target="fonts/FrauncesExtraBold-bold.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Nobile-regular.fntdata"/><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Nobile-italic.fntdata"/><Relationship Id="rId6" Type="http://schemas.openxmlformats.org/officeDocument/2006/relationships/notesMaster" Target="notesMasters/notesMaster1.xml"/><Relationship Id="rId18" Type="http://schemas.openxmlformats.org/officeDocument/2006/relationships/font" Target="fonts/Nobile-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8" name="Google Shape;108;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9" name="Google Shape;109;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2 — Dataset Overview</a:t>
            </a:r>
            <a:endParaRPr/>
          </a:p>
          <a:p>
            <a:pPr indent="0" lvl="0" marL="0" rtl="0" algn="l">
              <a:spcBef>
                <a:spcPts val="0"/>
              </a:spcBef>
              <a:spcAft>
                <a:spcPts val="0"/>
              </a:spcAft>
              <a:buNone/>
            </a:pPr>
            <a:r>
              <a:rPr lang="en-US"/>
              <a:t>What to say:</a:t>
            </a:r>
            <a:endParaRPr/>
          </a:p>
          <a:p>
            <a:pPr indent="0" lvl="0" marL="0" rtl="0" algn="l">
              <a:spcBef>
                <a:spcPts val="0"/>
              </a:spcBef>
              <a:spcAft>
                <a:spcPts val="0"/>
              </a:spcAft>
              <a:buNone/>
            </a:pPr>
            <a:r>
              <a:rPr lang="en-US"/>
              <a:t>"We used the Top Agriculture Crop Disease dataset from Kaggle — 13,324 images across 17 disease categories and 5 crops. The critical challenge here is the 14.9x class imbalance — Sugarcane has only 100 images per class while Rice Healthy has 1,488. This isn't just a number — it directly affects model fairness. A model trained naively would simply ignore Sugarcane predictions. We addressed this deliberately."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Why this dataset: Publicly available, covers major Indian crops, aggregates from multiple trusted sources — PlantVillage for lab images, Dhan-Shomadhan for Bangladeshi rice field images, and Kaggle-sourced wheat and sugarcane datasets. Real-world diversity built in.</a:t>
            </a:r>
            <a:endParaRPr/>
          </a:p>
        </p:txBody>
      </p:sp>
      <p:sp>
        <p:nvSpPr>
          <p:cNvPr id="111" name="Google Shape;111;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2" name="Google Shape;112;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4" name="Google Shape;134;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35" name="Google Shape;135;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2 — Dataset Overview</a:t>
            </a:r>
            <a:endParaRPr/>
          </a:p>
          <a:p>
            <a:pPr indent="0" lvl="0" marL="0" rtl="0" algn="l">
              <a:spcBef>
                <a:spcPts val="0"/>
              </a:spcBef>
              <a:spcAft>
                <a:spcPts val="0"/>
              </a:spcAft>
              <a:buNone/>
            </a:pPr>
            <a:r>
              <a:rPr lang="en-US"/>
              <a:t>What to say:</a:t>
            </a:r>
            <a:endParaRPr/>
          </a:p>
          <a:p>
            <a:pPr indent="0" lvl="0" marL="0" rtl="0" algn="l">
              <a:spcBef>
                <a:spcPts val="0"/>
              </a:spcBef>
              <a:spcAft>
                <a:spcPts val="0"/>
              </a:spcAft>
              <a:buNone/>
            </a:pPr>
            <a:r>
              <a:rPr lang="en-US"/>
              <a:t>"We used the Top Agriculture Crop Disease dataset from Kaggle — 13,324 images across 17 disease categories and 5 crops. The critical challenge here is the 14.9x class imbalance — Sugarcane has only 100 images per class while Rice Healthy has 1,488. This isn't just a number — it directly affects model fairness. A model trained naively would simply ignore Sugarcane predictions. We addressed this deliberately."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Why this dataset: Publicly available, covers major Indian crops, aggregates from multiple trusted sources — PlantVillage for lab images, Dhan-Shomadhan for Bangladeshi rice field images, and Kaggle-sourced wheat and sugarcane datasets. Real-world diversity built in.</a:t>
            </a:r>
            <a:endParaRPr/>
          </a:p>
        </p:txBody>
      </p:sp>
      <p:sp>
        <p:nvSpPr>
          <p:cNvPr id="137" name="Google Shape;137;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38" name="Google Shape;138;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8" name="Google Shape;228;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9" name="Google Shape;229;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&lt;number&gt;</a:t>
            </a:r>
            <a:endParaRPr/>
          </a:p>
        </p:txBody>
      </p:sp>
      <p:sp>
        <p:nvSpPr>
          <p:cNvPr id="231" name="Google Shape;231;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32" name="Google Shape;232;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2" name="Google Shape;242;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3" name="Google Shape;243;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3 — EDA Key Findings</a:t>
            </a:r>
            <a:endParaRPr/>
          </a:p>
          <a:p>
            <a:pPr indent="0" lvl="0" marL="0" rtl="0" algn="l">
              <a:spcBef>
                <a:spcPts val="0"/>
              </a:spcBef>
              <a:spcAft>
                <a:spcPts val="0"/>
              </a:spcAft>
              <a:buNone/>
            </a:pPr>
            <a:r>
              <a:rPr lang="en-US"/>
              <a:t>What to say:</a:t>
            </a:r>
            <a:endParaRPr/>
          </a:p>
          <a:p>
            <a:pPr indent="0" lvl="0" marL="0" rtl="0" algn="l">
              <a:spcBef>
                <a:spcPts val="0"/>
              </a:spcBef>
              <a:spcAft>
                <a:spcPts val="0"/>
              </a:spcAft>
              <a:buNone/>
            </a:pPr>
            <a:r>
              <a:rPr lang="en-US"/>
              <a:t>"Before touching the model, we did thorough exploratory analysis. Three findings drove our entire preprocessing design. First — image dimensions ranged from 16 pixels to 6,000 pixels. You cannot feed that directly into any neural network. Second — all images were RGB, which simplified things. Third — the green channel is measurably stronger in healthy leaves and drops in diseased ones. This confirmed that color information is genuinely discriminative, not just noise, which validated our choice of a colour-aware CNN over something simpler."</a:t>
            </a:r>
            <a:endParaRPr/>
          </a:p>
        </p:txBody>
      </p:sp>
      <p:sp>
        <p:nvSpPr>
          <p:cNvPr id="245" name="Google Shape;245;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6" name="Google Shape;246;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02" name="Google Shape;302;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3" name="Google Shape;303;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4 — Preprocessing Pipeline</a:t>
            </a:r>
            <a:endParaRPr/>
          </a:p>
          <a:p>
            <a:pPr indent="0" lvl="0" marL="0" rtl="0" algn="l">
              <a:spcBef>
                <a:spcPts val="0"/>
              </a:spcBef>
              <a:spcAft>
                <a:spcPts val="0"/>
              </a:spcAft>
              <a:buNone/>
            </a:pPr>
            <a:r>
              <a:rPr lang="en-US"/>
              <a:t>What to say:</a:t>
            </a:r>
            <a:endParaRPr/>
          </a:p>
          <a:p>
            <a:pPr indent="0" lvl="0" marL="0" rtl="0" algn="l">
              <a:spcBef>
                <a:spcPts val="0"/>
              </a:spcBef>
              <a:spcAft>
                <a:spcPts val="0"/>
              </a:spcAft>
              <a:buNone/>
            </a:pPr>
            <a:r>
              <a:rPr lang="en-US"/>
              <a:t>"Six steps, each with a clear justification. Resize to 224×224 using LANCZOS — the highest quality downsampling filter, chosen because leaf texture detail matters for disease classification. Augmentation applied only to minority classes — flips, rotations, brightness and contrast shifts — bringing Sugarcane from 100 images to 700 training images without collecting new data. The most important rule: augmentation only on training data, never validation or test. Augmenting test data would make your metrics look better than real-world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Why ImageNet normalisation: All our models are pretrained on ImageNet. The weights were learned on data normalised to specific mean and standard deviation values. Using the same normalisation at inference ensures the pretrained weights transfer correctly.</a:t>
            </a:r>
            <a:endParaRPr/>
          </a:p>
        </p:txBody>
      </p:sp>
      <p:sp>
        <p:nvSpPr>
          <p:cNvPr id="305" name="Google Shape;305;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6" name="Google Shape;306;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43110a719_0_92: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389" name="Google Shape;389;g3d43110a719_0_92: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390" name="Google Shape;390;g3d43110a719_0_92: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43110a719_0_186: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397" name="Google Shape;397;g3d43110a719_0_186: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398" name="Google Shape;398;g3d43110a719_0_186: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43110a719_0_219: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10" name="Google Shape;410;g3d43110a719_0_219: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411" name="Google Shape;411;g3d43110a719_0_219: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d43110a719_0_252: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23" name="Google Shape;423;g3d43110a719_0_252: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424" name="Google Shape;424;g3d43110a719_0_252: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d43110a719_0_295: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46" name="Google Shape;446;g3d43110a719_0_295: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447" name="Google Shape;447;g3d43110a719_0_295: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85" name="Shape 85"/>
        <p:cNvGrpSpPr/>
        <p:nvPr/>
      </p:nvGrpSpPr>
      <p:grpSpPr>
        <a:xfrm>
          <a:off x="0" y="0"/>
          <a:ext cx="0" cy="0"/>
          <a:chOff x="0" y="0"/>
          <a:chExt cx="0" cy="0"/>
        </a:xfrm>
      </p:grpSpPr>
      <p:sp>
        <p:nvSpPr>
          <p:cNvPr id="86" name="Google Shape;86;p14"/>
          <p:cNvSpPr/>
          <p:nvPr/>
        </p:nvSpPr>
        <p:spPr>
          <a:xfrm>
            <a:off x="0" y="0"/>
            <a:ext cx="18288000" cy="10287000"/>
          </a:xfrm>
          <a:prstGeom prst="rect">
            <a:avLst/>
          </a:prstGeom>
          <a:solidFill>
            <a:srgbClr val="DEEEE1"/>
          </a:solidFill>
          <a:ln>
            <a:noFill/>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sp>
        <p:nvSpPr>
          <p:cNvPr id="87" name="Google Shape;87;p14"/>
          <p:cNvSpPr/>
          <p:nvPr/>
        </p:nvSpPr>
        <p:spPr>
          <a:xfrm>
            <a:off x="0" y="0"/>
            <a:ext cx="18288000" cy="10287000"/>
          </a:xfrm>
          <a:prstGeom prst="rect">
            <a:avLst/>
          </a:prstGeom>
          <a:solidFill>
            <a:srgbClr val="FAFFFA"/>
          </a:solidFill>
          <a:ln>
            <a:noFill/>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pic>
        <p:nvPicPr>
          <p:cNvPr descr="preencoded.png" id="88" name="Google Shape;88;p14">
            <a:hlinkClick r:id="rId2"/>
          </p:cNvPr>
          <p:cNvPicPr preferRelativeResize="0"/>
          <p:nvPr/>
        </p:nvPicPr>
        <p:blipFill rotWithShape="1">
          <a:blip r:embed="rId3">
            <a:alphaModFix/>
          </a:blip>
          <a:srcRect b="0" l="0" r="0" t="0"/>
          <a:stretch/>
        </p:blipFill>
        <p:spPr>
          <a:xfrm>
            <a:off x="16049019" y="9686925"/>
            <a:ext cx="2153254" cy="5143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89" name="Shape 89"/>
        <p:cNvGrpSpPr/>
        <p:nvPr/>
      </p:nvGrpSpPr>
      <p:grpSpPr>
        <a:xfrm>
          <a:off x="0" y="0"/>
          <a:ext cx="0" cy="0"/>
          <a:chOff x="0" y="0"/>
          <a:chExt cx="0" cy="0"/>
        </a:xfrm>
      </p:grpSpPr>
      <p:sp>
        <p:nvSpPr>
          <p:cNvPr id="90" name="Google Shape;90;p15"/>
          <p:cNvSpPr/>
          <p:nvPr/>
        </p:nvSpPr>
        <p:spPr>
          <a:xfrm>
            <a:off x="0" y="0"/>
            <a:ext cx="18288000" cy="10287000"/>
          </a:xfrm>
          <a:prstGeom prst="rect">
            <a:avLst/>
          </a:prstGeom>
          <a:solidFill>
            <a:srgbClr val="DEEEE1"/>
          </a:solidFill>
          <a:ln>
            <a:noFill/>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sp>
        <p:nvSpPr>
          <p:cNvPr id="91" name="Google Shape;91;p15"/>
          <p:cNvSpPr/>
          <p:nvPr/>
        </p:nvSpPr>
        <p:spPr>
          <a:xfrm>
            <a:off x="0" y="0"/>
            <a:ext cx="18288000" cy="10287000"/>
          </a:xfrm>
          <a:prstGeom prst="rect">
            <a:avLst/>
          </a:prstGeom>
          <a:solidFill>
            <a:srgbClr val="FAFFFA"/>
          </a:solidFill>
          <a:ln>
            <a:noFill/>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pic>
        <p:nvPicPr>
          <p:cNvPr descr="preencoded.png" id="92" name="Google Shape;92;p15">
            <a:hlinkClick r:id="rId2"/>
          </p:cNvPr>
          <p:cNvPicPr preferRelativeResize="0"/>
          <p:nvPr/>
        </p:nvPicPr>
        <p:blipFill rotWithShape="1">
          <a:blip r:embed="rId3">
            <a:alphaModFix/>
          </a:blip>
          <a:srcRect b="0" l="0" r="0" t="0"/>
          <a:stretch/>
        </p:blipFill>
        <p:spPr>
          <a:xfrm>
            <a:off x="16049019" y="9686925"/>
            <a:ext cx="2153254" cy="5143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93" name="Shape 93"/>
        <p:cNvGrpSpPr/>
        <p:nvPr/>
      </p:nvGrpSpPr>
      <p:grpSpPr>
        <a:xfrm>
          <a:off x="0" y="0"/>
          <a:ext cx="0" cy="0"/>
          <a:chOff x="0" y="0"/>
          <a:chExt cx="0" cy="0"/>
        </a:xfrm>
      </p:grpSpPr>
      <p:sp>
        <p:nvSpPr>
          <p:cNvPr id="94" name="Google Shape;94;p16"/>
          <p:cNvSpPr/>
          <p:nvPr/>
        </p:nvSpPr>
        <p:spPr>
          <a:xfrm>
            <a:off x="0" y="0"/>
            <a:ext cx="18288000" cy="10287000"/>
          </a:xfrm>
          <a:prstGeom prst="rect">
            <a:avLst/>
          </a:prstGeom>
          <a:solidFill>
            <a:srgbClr val="DEEEE1"/>
          </a:solidFill>
          <a:ln>
            <a:noFill/>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sp>
        <p:nvSpPr>
          <p:cNvPr id="95" name="Google Shape;95;p16"/>
          <p:cNvSpPr/>
          <p:nvPr/>
        </p:nvSpPr>
        <p:spPr>
          <a:xfrm>
            <a:off x="0" y="0"/>
            <a:ext cx="18288000" cy="10287000"/>
          </a:xfrm>
          <a:prstGeom prst="rect">
            <a:avLst/>
          </a:prstGeom>
          <a:solidFill>
            <a:srgbClr val="FAFFFA"/>
          </a:solidFill>
          <a:ln>
            <a:noFill/>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pic>
        <p:nvPicPr>
          <p:cNvPr descr="preencoded.png" id="96" name="Google Shape;96;p16">
            <a:hlinkClick r:id="rId2"/>
          </p:cNvPr>
          <p:cNvPicPr preferRelativeResize="0"/>
          <p:nvPr/>
        </p:nvPicPr>
        <p:blipFill rotWithShape="1">
          <a:blip r:embed="rId3">
            <a:alphaModFix/>
          </a:blip>
          <a:srcRect b="0" l="0" r="0" t="0"/>
          <a:stretch/>
        </p:blipFill>
        <p:spPr>
          <a:xfrm>
            <a:off x="16049019" y="9686925"/>
            <a:ext cx="2153254" cy="5143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97" name="Shape 97"/>
        <p:cNvGrpSpPr/>
        <p:nvPr/>
      </p:nvGrpSpPr>
      <p:grpSpPr>
        <a:xfrm>
          <a:off x="0" y="0"/>
          <a:ext cx="0" cy="0"/>
          <a:chOff x="0" y="0"/>
          <a:chExt cx="0" cy="0"/>
        </a:xfrm>
      </p:grpSpPr>
      <p:sp>
        <p:nvSpPr>
          <p:cNvPr id="98" name="Google Shape;98;p17"/>
          <p:cNvSpPr/>
          <p:nvPr/>
        </p:nvSpPr>
        <p:spPr>
          <a:xfrm>
            <a:off x="0" y="0"/>
            <a:ext cx="18288000" cy="10287000"/>
          </a:xfrm>
          <a:prstGeom prst="rect">
            <a:avLst/>
          </a:prstGeom>
          <a:solidFill>
            <a:srgbClr val="DEEEE1"/>
          </a:solidFill>
          <a:ln>
            <a:noFill/>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sp>
        <p:nvSpPr>
          <p:cNvPr id="99" name="Google Shape;99;p17"/>
          <p:cNvSpPr/>
          <p:nvPr/>
        </p:nvSpPr>
        <p:spPr>
          <a:xfrm>
            <a:off x="0" y="0"/>
            <a:ext cx="18288000" cy="10287000"/>
          </a:xfrm>
          <a:prstGeom prst="rect">
            <a:avLst/>
          </a:prstGeom>
          <a:solidFill>
            <a:srgbClr val="FAFFFA"/>
          </a:solidFill>
          <a:ln>
            <a:noFill/>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pic>
        <p:nvPicPr>
          <p:cNvPr descr="preencoded.png" id="100" name="Google Shape;100;p17">
            <a:hlinkClick r:id="rId2"/>
          </p:cNvPr>
          <p:cNvPicPr preferRelativeResize="0"/>
          <p:nvPr/>
        </p:nvPicPr>
        <p:blipFill rotWithShape="1">
          <a:blip r:embed="rId3">
            <a:alphaModFix/>
          </a:blip>
          <a:srcRect b="0" l="0" r="0" t="0"/>
          <a:stretch/>
        </p:blipFill>
        <p:spPr>
          <a:xfrm>
            <a:off x="16049019" y="9686925"/>
            <a:ext cx="2153254" cy="51435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101" name="Shape 101"/>
        <p:cNvGrpSpPr/>
        <p:nvPr/>
      </p:nvGrpSpPr>
      <p:grpSpPr>
        <a:xfrm>
          <a:off x="0" y="0"/>
          <a:ext cx="0" cy="0"/>
          <a:chOff x="0" y="0"/>
          <a:chExt cx="0" cy="0"/>
        </a:xfrm>
      </p:grpSpPr>
      <p:sp>
        <p:nvSpPr>
          <p:cNvPr id="102" name="Google Shape;102;p18"/>
          <p:cNvSpPr/>
          <p:nvPr/>
        </p:nvSpPr>
        <p:spPr>
          <a:xfrm>
            <a:off x="0" y="0"/>
            <a:ext cx="18288000" cy="10287000"/>
          </a:xfrm>
          <a:prstGeom prst="rect">
            <a:avLst/>
          </a:prstGeom>
          <a:solidFill>
            <a:srgbClr val="DEEEE1"/>
          </a:solidFill>
          <a:ln>
            <a:noFill/>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sp>
        <p:nvSpPr>
          <p:cNvPr id="103" name="Google Shape;103;p18"/>
          <p:cNvSpPr/>
          <p:nvPr/>
        </p:nvSpPr>
        <p:spPr>
          <a:xfrm>
            <a:off x="0" y="0"/>
            <a:ext cx="18288000" cy="10287000"/>
          </a:xfrm>
          <a:prstGeom prst="rect">
            <a:avLst/>
          </a:prstGeom>
          <a:solidFill>
            <a:srgbClr val="FAFFFA"/>
          </a:solidFill>
          <a:ln>
            <a:noFill/>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pic>
        <p:nvPicPr>
          <p:cNvPr descr="preencoded.png" id="104" name="Google Shape;104;p18">
            <a:hlinkClick r:id="rId2"/>
          </p:cNvPr>
          <p:cNvPicPr preferRelativeResize="0"/>
          <p:nvPr/>
        </p:nvPicPr>
        <p:blipFill rotWithShape="1">
          <a:blip r:embed="rId3">
            <a:alphaModFix/>
          </a:blip>
          <a:srcRect b="0" l="0" r="0" t="0"/>
          <a:stretch/>
        </p:blipFill>
        <p:spPr>
          <a:xfrm>
            <a:off x="16049019" y="9686925"/>
            <a:ext cx="2153254" cy="51435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5" name="Shape 10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EF"/>
        </a:solidFill>
      </p:bgPr>
    </p:bg>
    <p:spTree>
      <p:nvGrpSpPr>
        <p:cNvPr id="113" name="Shape 113"/>
        <p:cNvGrpSpPr/>
        <p:nvPr/>
      </p:nvGrpSpPr>
      <p:grpSpPr>
        <a:xfrm>
          <a:off x="0" y="0"/>
          <a:ext cx="0" cy="0"/>
          <a:chOff x="0" y="0"/>
          <a:chExt cx="0" cy="0"/>
        </a:xfrm>
      </p:grpSpPr>
      <p:sp>
        <p:nvSpPr>
          <p:cNvPr id="114" name="Google Shape;114;p20"/>
          <p:cNvSpPr/>
          <p:nvPr/>
        </p:nvSpPr>
        <p:spPr>
          <a:xfrm>
            <a:off x="0" y="0"/>
            <a:ext cx="18288000" cy="10287000"/>
          </a:xfrm>
          <a:prstGeom prst="rect">
            <a:avLst/>
          </a:prstGeom>
          <a:solidFill>
            <a:srgbClr val="1A3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0"/>
          <p:cNvSpPr/>
          <p:nvPr/>
        </p:nvSpPr>
        <p:spPr>
          <a:xfrm>
            <a:off x="0" y="0"/>
            <a:ext cx="328327" cy="10286619"/>
          </a:xfrm>
          <a:custGeom>
            <a:rect b="b" l="l" r="r" t="t"/>
            <a:pathLst>
              <a:path extrusionOk="0" h="13715492" w="437769">
                <a:moveTo>
                  <a:pt x="0" y="0"/>
                </a:moveTo>
                <a:lnTo>
                  <a:pt x="437769" y="0"/>
                </a:lnTo>
                <a:lnTo>
                  <a:pt x="437769" y="13715492"/>
                </a:lnTo>
                <a:lnTo>
                  <a:pt x="0" y="13715492"/>
                </a:lnTo>
                <a:close/>
              </a:path>
            </a:pathLst>
          </a:custGeom>
          <a:solidFill>
            <a:srgbClr val="97BC62"/>
          </a:solidFill>
          <a:ln>
            <a:noFill/>
          </a:ln>
        </p:spPr>
      </p:sp>
      <p:grpSp>
        <p:nvGrpSpPr>
          <p:cNvPr id="116" name="Google Shape;116;p20"/>
          <p:cNvGrpSpPr/>
          <p:nvPr/>
        </p:nvGrpSpPr>
        <p:grpSpPr>
          <a:xfrm>
            <a:off x="731520" y="611505"/>
            <a:ext cx="16824240" cy="576499"/>
            <a:chOff x="0" y="-38100"/>
            <a:chExt cx="22432321" cy="768665"/>
          </a:xfrm>
        </p:grpSpPr>
        <p:sp>
          <p:nvSpPr>
            <p:cNvPr id="117" name="Google Shape;117;p20"/>
            <p:cNvSpPr/>
            <p:nvPr/>
          </p:nvSpPr>
          <p:spPr>
            <a:xfrm>
              <a:off x="0" y="0"/>
              <a:ext cx="22432321" cy="730565"/>
            </a:xfrm>
            <a:custGeom>
              <a:rect b="b" l="l" r="r" t="t"/>
              <a:pathLst>
                <a:path extrusionOk="0" h="730565" w="22432321">
                  <a:moveTo>
                    <a:pt x="0" y="0"/>
                  </a:moveTo>
                  <a:lnTo>
                    <a:pt x="22432321" y="0"/>
                  </a:lnTo>
                  <a:lnTo>
                    <a:pt x="22432321" y="730565"/>
                  </a:lnTo>
                  <a:lnTo>
                    <a:pt x="0" y="730565"/>
                  </a:lnTo>
                  <a:close/>
                </a:path>
              </a:pathLst>
            </a:custGeom>
            <a:blipFill rotWithShape="1">
              <a:blip r:embed="rId3">
                <a:alphaModFix amt="0"/>
              </a:blip>
              <a:stretch>
                <a:fillRect b="-548295" l="0" r="0" t="-548307"/>
              </a:stretch>
            </a:blipFill>
            <a:ln>
              <a:noFill/>
            </a:ln>
          </p:spPr>
        </p:sp>
        <p:sp>
          <p:nvSpPr>
            <p:cNvPr id="118" name="Google Shape;118;p20"/>
            <p:cNvSpPr txBox="1"/>
            <p:nvPr/>
          </p:nvSpPr>
          <p:spPr>
            <a:xfrm>
              <a:off x="0" y="-38100"/>
              <a:ext cx="22432315" cy="7686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97BC62"/>
                  </a:solidFill>
                  <a:latin typeface="Calibri"/>
                  <a:ea typeface="Calibri"/>
                  <a:cs typeface="Calibri"/>
                  <a:sym typeface="Calibri"/>
                </a:rPr>
                <a:t>MILESTONE 4 PRESENTATION</a:t>
              </a:r>
              <a:endParaRPr/>
            </a:p>
          </p:txBody>
        </p:sp>
      </p:grpSp>
      <p:grpSp>
        <p:nvGrpSpPr>
          <p:cNvPr id="119" name="Google Shape;119;p20"/>
          <p:cNvGrpSpPr/>
          <p:nvPr/>
        </p:nvGrpSpPr>
        <p:grpSpPr>
          <a:xfrm>
            <a:off x="731520" y="1417320"/>
            <a:ext cx="11886480" cy="4251240"/>
            <a:chOff x="0" y="-304800"/>
            <a:chExt cx="15848640" cy="5668320"/>
          </a:xfrm>
        </p:grpSpPr>
        <p:sp>
          <p:nvSpPr>
            <p:cNvPr id="120" name="Google Shape;120;p20"/>
            <p:cNvSpPr/>
            <p:nvPr/>
          </p:nvSpPr>
          <p:spPr>
            <a:xfrm>
              <a:off x="0" y="0"/>
              <a:ext cx="15848640" cy="5363520"/>
            </a:xfrm>
            <a:custGeom>
              <a:rect b="b" l="l" r="r" t="t"/>
              <a:pathLst>
                <a:path extrusionOk="0" h="5363520" w="15848640">
                  <a:moveTo>
                    <a:pt x="0" y="0"/>
                  </a:moveTo>
                  <a:lnTo>
                    <a:pt x="15848640" y="0"/>
                  </a:lnTo>
                  <a:lnTo>
                    <a:pt x="15848640" y="5363520"/>
                  </a:lnTo>
                  <a:lnTo>
                    <a:pt x="0" y="5363520"/>
                  </a:lnTo>
                  <a:close/>
                </a:path>
              </a:pathLst>
            </a:custGeom>
            <a:blipFill rotWithShape="1">
              <a:blip r:embed="rId3">
                <a:alphaModFix amt="0"/>
              </a:blip>
              <a:stretch>
                <a:fillRect b="-7576" l="0" r="0" t="-7576"/>
              </a:stretch>
            </a:blipFill>
            <a:ln>
              <a:noFill/>
            </a:ln>
          </p:spPr>
        </p:sp>
        <p:sp>
          <p:nvSpPr>
            <p:cNvPr id="121" name="Google Shape;121;p20"/>
            <p:cNvSpPr txBox="1"/>
            <p:nvPr/>
          </p:nvSpPr>
          <p:spPr>
            <a:xfrm>
              <a:off x="0" y="-304800"/>
              <a:ext cx="15848635" cy="5668315"/>
            </a:xfrm>
            <a:prstGeom prst="rect">
              <a:avLst/>
            </a:prstGeom>
            <a:noFill/>
            <a:ln>
              <a:noFill/>
            </a:ln>
          </p:spPr>
          <p:txBody>
            <a:bodyPr anchorCtr="0" anchor="ctr" bIns="0" lIns="0" spcFirstLastPara="1" rIns="0" wrap="square" tIns="0">
              <a:noAutofit/>
            </a:bodyPr>
            <a:lstStyle/>
            <a:p>
              <a:pPr indent="0" lvl="0" marL="0" marR="0" rtl="0" algn="l">
                <a:lnSpc>
                  <a:spcPct val="144000"/>
                </a:lnSpc>
                <a:spcBef>
                  <a:spcPts val="0"/>
                </a:spcBef>
                <a:spcAft>
                  <a:spcPts val="0"/>
                </a:spcAft>
                <a:buNone/>
              </a:pPr>
              <a:r>
                <a:rPr b="1" i="0" lang="en-US" sz="7200" u="none" cap="none" strike="noStrike">
                  <a:solidFill>
                    <a:srgbClr val="FFFFFF"/>
                  </a:solidFill>
                  <a:latin typeface="Calibri"/>
                  <a:ea typeface="Calibri"/>
                  <a:cs typeface="Calibri"/>
                  <a:sym typeface="Calibri"/>
                </a:rPr>
                <a:t>Multimodal AI Assistant</a:t>
              </a:r>
              <a:endParaRPr/>
            </a:p>
            <a:p>
              <a:pPr indent="0" lvl="0" marL="0" marR="0" rtl="0" algn="l">
                <a:lnSpc>
                  <a:spcPct val="144000"/>
                </a:lnSpc>
                <a:spcBef>
                  <a:spcPts val="0"/>
                </a:spcBef>
                <a:spcAft>
                  <a:spcPts val="0"/>
                </a:spcAft>
                <a:buNone/>
              </a:pPr>
              <a:r>
                <a:rPr b="1" i="0" lang="en-US" sz="7200" u="none" cap="none" strike="noStrike">
                  <a:solidFill>
                    <a:srgbClr val="FFFFFF"/>
                  </a:solidFill>
                  <a:latin typeface="Calibri"/>
                  <a:ea typeface="Calibri"/>
                  <a:cs typeface="Calibri"/>
                  <a:sym typeface="Calibri"/>
                </a:rPr>
                <a:t>for Smart Agriculture</a:t>
              </a:r>
              <a:endParaRPr/>
            </a:p>
          </p:txBody>
        </p:sp>
      </p:grpSp>
      <p:grpSp>
        <p:nvGrpSpPr>
          <p:cNvPr id="122" name="Google Shape;122;p20"/>
          <p:cNvGrpSpPr/>
          <p:nvPr/>
        </p:nvGrpSpPr>
        <p:grpSpPr>
          <a:xfrm>
            <a:off x="731520" y="5702141"/>
            <a:ext cx="11886480" cy="1795218"/>
            <a:chOff x="0" y="-200025"/>
            <a:chExt cx="15848640" cy="2393625"/>
          </a:xfrm>
        </p:grpSpPr>
        <p:sp>
          <p:nvSpPr>
            <p:cNvPr id="123" name="Google Shape;123;p20"/>
            <p:cNvSpPr/>
            <p:nvPr/>
          </p:nvSpPr>
          <p:spPr>
            <a:xfrm>
              <a:off x="0" y="0"/>
              <a:ext cx="15848640" cy="2193600"/>
            </a:xfrm>
            <a:custGeom>
              <a:rect b="b" l="l" r="r" t="t"/>
              <a:pathLst>
                <a:path extrusionOk="0" h="2193600" w="15848640">
                  <a:moveTo>
                    <a:pt x="0" y="0"/>
                  </a:moveTo>
                  <a:lnTo>
                    <a:pt x="15848640" y="0"/>
                  </a:lnTo>
                  <a:lnTo>
                    <a:pt x="15848640" y="2193600"/>
                  </a:lnTo>
                  <a:lnTo>
                    <a:pt x="0" y="2193600"/>
                  </a:lnTo>
                  <a:close/>
                </a:path>
              </a:pathLst>
            </a:custGeom>
            <a:blipFill rotWithShape="1">
              <a:blip r:embed="rId3">
                <a:alphaModFix amt="0"/>
              </a:blip>
              <a:stretch>
                <a:fillRect b="-90782" l="0" r="0" t="-90782"/>
              </a:stretch>
            </a:blipFill>
            <a:ln>
              <a:noFill/>
            </a:ln>
          </p:spPr>
        </p:sp>
        <p:sp>
          <p:nvSpPr>
            <p:cNvPr id="124" name="Google Shape;124;p20"/>
            <p:cNvSpPr txBox="1"/>
            <p:nvPr/>
          </p:nvSpPr>
          <p:spPr>
            <a:xfrm>
              <a:off x="0" y="-200025"/>
              <a:ext cx="15848635" cy="2393620"/>
            </a:xfrm>
            <a:prstGeom prst="rect">
              <a:avLst/>
            </a:prstGeom>
            <a:noFill/>
            <a:ln>
              <a:noFill/>
            </a:ln>
          </p:spPr>
          <p:txBody>
            <a:bodyPr anchorCtr="0" anchor="ctr" bIns="0" lIns="0" spcFirstLastPara="1" rIns="0" wrap="square" tIns="0">
              <a:noAutofit/>
            </a:bodyPr>
            <a:lstStyle/>
            <a:p>
              <a:pPr indent="0" lvl="0" marL="0" marR="0" rtl="0" algn="l">
                <a:lnSpc>
                  <a:spcPct val="168000"/>
                </a:lnSpc>
                <a:spcBef>
                  <a:spcPts val="0"/>
                </a:spcBef>
                <a:spcAft>
                  <a:spcPts val="0"/>
                </a:spcAft>
                <a:buNone/>
              </a:pPr>
              <a:r>
                <a:rPr b="0" i="0" lang="en-US" sz="3200" u="none" cap="none" strike="noStrike">
                  <a:solidFill>
                    <a:srgbClr val="97BC62"/>
                  </a:solidFill>
                  <a:latin typeface="Calibri"/>
                  <a:ea typeface="Calibri"/>
                  <a:cs typeface="Calibri"/>
                  <a:sym typeface="Calibri"/>
                </a:rPr>
                <a:t>Crop Disease Detection + RAG Advisory System</a:t>
              </a:r>
              <a:endParaRPr/>
            </a:p>
            <a:p>
              <a:pPr indent="0" lvl="0" marL="0" marR="0" rtl="0" algn="l">
                <a:lnSpc>
                  <a:spcPct val="168000"/>
                </a:lnSpc>
                <a:spcBef>
                  <a:spcPts val="0"/>
                </a:spcBef>
                <a:spcAft>
                  <a:spcPts val="0"/>
                </a:spcAft>
                <a:buNone/>
              </a:pPr>
              <a:r>
                <a:rPr b="0" i="0" lang="en-US" sz="3200" u="none" cap="none" strike="noStrike">
                  <a:solidFill>
                    <a:srgbClr val="97BC62"/>
                  </a:solidFill>
                  <a:latin typeface="Calibri"/>
                  <a:ea typeface="Calibri"/>
                  <a:cs typeface="Calibri"/>
                  <a:sym typeface="Calibri"/>
                </a:rPr>
                <a:t>for Indian Farmers</a:t>
              </a:r>
              <a:endParaRPr/>
            </a:p>
          </p:txBody>
        </p:sp>
      </p:grpSp>
      <p:sp>
        <p:nvSpPr>
          <p:cNvPr id="125" name="Google Shape;125;p20"/>
          <p:cNvSpPr/>
          <p:nvPr/>
        </p:nvSpPr>
        <p:spPr>
          <a:xfrm>
            <a:off x="13167360" y="2194560"/>
            <a:ext cx="4571238" cy="5851398"/>
          </a:xfrm>
          <a:custGeom>
            <a:rect b="b" l="l" r="r" t="t"/>
            <a:pathLst>
              <a:path extrusionOk="0" h="7801864" w="6094984">
                <a:moveTo>
                  <a:pt x="0" y="0"/>
                </a:moveTo>
                <a:lnTo>
                  <a:pt x="6094984" y="0"/>
                </a:lnTo>
                <a:lnTo>
                  <a:pt x="6094984" y="7801864"/>
                </a:lnTo>
                <a:lnTo>
                  <a:pt x="0" y="7801864"/>
                </a:lnTo>
                <a:close/>
              </a:path>
            </a:pathLst>
          </a:custGeom>
          <a:solidFill>
            <a:srgbClr val="2C5F2D"/>
          </a:solidFill>
          <a:ln>
            <a:noFill/>
          </a:ln>
        </p:spPr>
      </p:sp>
      <p:grpSp>
        <p:nvGrpSpPr>
          <p:cNvPr id="126" name="Google Shape;126;p20"/>
          <p:cNvGrpSpPr/>
          <p:nvPr/>
        </p:nvGrpSpPr>
        <p:grpSpPr>
          <a:xfrm>
            <a:off x="13441680" y="2524601"/>
            <a:ext cx="4022640" cy="5521398"/>
            <a:chOff x="0" y="-47625"/>
            <a:chExt cx="5363520" cy="7361865"/>
          </a:xfrm>
        </p:grpSpPr>
        <p:sp>
          <p:nvSpPr>
            <p:cNvPr id="127" name="Google Shape;127;p20"/>
            <p:cNvSpPr/>
            <p:nvPr/>
          </p:nvSpPr>
          <p:spPr>
            <a:xfrm>
              <a:off x="0" y="0"/>
              <a:ext cx="5363520" cy="7314240"/>
            </a:xfrm>
            <a:custGeom>
              <a:rect b="b" l="l" r="r" t="t"/>
              <a:pathLst>
                <a:path extrusionOk="0" h="7314240" w="5363520">
                  <a:moveTo>
                    <a:pt x="0" y="0"/>
                  </a:moveTo>
                  <a:lnTo>
                    <a:pt x="5363520" y="0"/>
                  </a:lnTo>
                  <a:lnTo>
                    <a:pt x="5363520" y="7314240"/>
                  </a:lnTo>
                  <a:lnTo>
                    <a:pt x="0" y="7314240"/>
                  </a:lnTo>
                  <a:close/>
                </a:path>
              </a:pathLst>
            </a:custGeom>
            <a:blipFill rotWithShape="1">
              <a:blip r:embed="rId3">
                <a:alphaModFix amt="0"/>
              </a:blip>
              <a:stretch>
                <a:fillRect b="0" l="-124972" r="-124972" t="0"/>
              </a:stretch>
            </a:blipFill>
            <a:ln>
              <a:noFill/>
            </a:ln>
          </p:spPr>
        </p:sp>
        <p:sp>
          <p:nvSpPr>
            <p:cNvPr id="128" name="Google Shape;128;p20"/>
            <p:cNvSpPr txBox="1"/>
            <p:nvPr/>
          </p:nvSpPr>
          <p:spPr>
            <a:xfrm>
              <a:off x="0" y="-47625"/>
              <a:ext cx="5363515" cy="73618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97BC62"/>
                  </a:solidFill>
                  <a:latin typeface="Calibri"/>
                  <a:ea typeface="Calibri"/>
                  <a:cs typeface="Calibri"/>
                  <a:sym typeface="Calibri"/>
                </a:rPr>
                <a:t>Crops</a:t>
              </a:r>
              <a:endParaRPr/>
            </a:p>
            <a:p>
              <a:pPr indent="0" lvl="0" marL="0" marR="0" rtl="0" algn="l">
                <a:lnSpc>
                  <a:spcPct val="120000"/>
                </a:lnSpc>
                <a:spcBef>
                  <a:spcPts val="0"/>
                </a:spcBef>
                <a:spcAft>
                  <a:spcPts val="0"/>
                </a:spcAft>
                <a:buNone/>
              </a:pPr>
              <a:r>
                <a:rPr b="0" i="0" lang="en-US" sz="2200" u="none" cap="none" strike="noStrike">
                  <a:solidFill>
                    <a:srgbClr val="FFFFFF"/>
                  </a:solidFill>
                  <a:latin typeface="Calibri"/>
                  <a:ea typeface="Calibri"/>
                  <a:cs typeface="Calibri"/>
                  <a:sym typeface="Calibri"/>
                </a:rPr>
                <a:t>Corn · Potato · Rice</a:t>
              </a:r>
              <a:endParaRPr/>
            </a:p>
            <a:p>
              <a:pPr indent="0" lvl="0" marL="0" marR="0" rtl="0" algn="l">
                <a:lnSpc>
                  <a:spcPct val="120000"/>
                </a:lnSpc>
                <a:spcBef>
                  <a:spcPts val="0"/>
                </a:spcBef>
                <a:spcAft>
                  <a:spcPts val="0"/>
                </a:spcAft>
                <a:buNone/>
              </a:pPr>
              <a:r>
                <a:rPr b="0" i="0" lang="en-US" sz="2200" u="none" cap="none" strike="noStrike">
                  <a:solidFill>
                    <a:srgbClr val="FFFFFF"/>
                  </a:solidFill>
                  <a:latin typeface="Calibri"/>
                  <a:ea typeface="Calibri"/>
                  <a:cs typeface="Calibri"/>
                  <a:sym typeface="Calibri"/>
                </a:rPr>
                <a:t>Wheat · Sugarcane</a:t>
              </a:r>
              <a:endParaRPr/>
            </a:p>
            <a:p>
              <a:pPr indent="0" lvl="0" marL="0" marR="0" rtl="0" algn="l">
                <a:lnSpc>
                  <a:spcPct val="120000"/>
                </a:lnSpc>
                <a:spcBef>
                  <a:spcPts val="0"/>
                </a:spcBef>
                <a:spcAft>
                  <a:spcPts val="0"/>
                </a:spcAft>
                <a:buNone/>
              </a:pPr>
              <a:r>
                <a:t/>
              </a:r>
              <a:endParaRPr b="0" i="0" sz="2200" u="none" cap="none" strike="noStrike">
                <a:solidFill>
                  <a:srgbClr val="FFFFFF"/>
                </a:solidFill>
                <a:latin typeface="Calibri"/>
                <a:ea typeface="Calibri"/>
                <a:cs typeface="Calibri"/>
                <a:sym typeface="Calibri"/>
              </a:endParaRPr>
            </a:p>
            <a:p>
              <a:pPr indent="0" lvl="0" marL="0" marR="0" rtl="0" algn="l">
                <a:lnSpc>
                  <a:spcPct val="120000"/>
                </a:lnSpc>
                <a:spcBef>
                  <a:spcPts val="0"/>
                </a:spcBef>
                <a:spcAft>
                  <a:spcPts val="0"/>
                </a:spcAft>
                <a:buNone/>
              </a:pPr>
              <a:r>
                <a:rPr b="1" i="0" lang="en-US" sz="2200" u="none" cap="none" strike="noStrike">
                  <a:solidFill>
                    <a:srgbClr val="97BC62"/>
                  </a:solidFill>
                  <a:latin typeface="Calibri"/>
                  <a:ea typeface="Calibri"/>
                  <a:cs typeface="Calibri"/>
                  <a:sym typeface="Calibri"/>
                </a:rPr>
                <a:t>Classes</a:t>
              </a:r>
              <a:endParaRPr/>
            </a:p>
            <a:p>
              <a:pPr indent="0" lvl="0" marL="0" marR="0" rtl="0" algn="l">
                <a:lnSpc>
                  <a:spcPct val="120000"/>
                </a:lnSpc>
                <a:spcBef>
                  <a:spcPts val="0"/>
                </a:spcBef>
                <a:spcAft>
                  <a:spcPts val="0"/>
                </a:spcAft>
                <a:buNone/>
              </a:pPr>
              <a:r>
                <a:rPr b="0" i="0" lang="en-US" sz="2200" u="none" cap="none" strike="noStrike">
                  <a:solidFill>
                    <a:srgbClr val="FFFFFF"/>
                  </a:solidFill>
                  <a:latin typeface="Calibri"/>
                  <a:ea typeface="Calibri"/>
                  <a:cs typeface="Calibri"/>
                  <a:sym typeface="Calibri"/>
                </a:rPr>
                <a:t>17 disease categories</a:t>
              </a:r>
              <a:endParaRPr/>
            </a:p>
            <a:p>
              <a:pPr indent="0" lvl="0" marL="0" marR="0" rtl="0" algn="l">
                <a:lnSpc>
                  <a:spcPct val="120000"/>
                </a:lnSpc>
                <a:spcBef>
                  <a:spcPts val="0"/>
                </a:spcBef>
                <a:spcAft>
                  <a:spcPts val="0"/>
                </a:spcAft>
                <a:buNone/>
              </a:pPr>
              <a:r>
                <a:t/>
              </a:r>
              <a:endParaRPr b="0" i="0" sz="2200" u="none" cap="none" strike="noStrike">
                <a:solidFill>
                  <a:srgbClr val="FFFFFF"/>
                </a:solidFill>
                <a:latin typeface="Calibri"/>
                <a:ea typeface="Calibri"/>
                <a:cs typeface="Calibri"/>
                <a:sym typeface="Calibri"/>
              </a:endParaRPr>
            </a:p>
            <a:p>
              <a:pPr indent="0" lvl="0" marL="0" marR="0" rtl="0" algn="l">
                <a:lnSpc>
                  <a:spcPct val="120000"/>
                </a:lnSpc>
                <a:spcBef>
                  <a:spcPts val="0"/>
                </a:spcBef>
                <a:spcAft>
                  <a:spcPts val="0"/>
                </a:spcAft>
                <a:buNone/>
              </a:pPr>
              <a:r>
                <a:rPr b="1" i="0" lang="en-US" sz="2200" u="none" cap="none" strike="noStrike">
                  <a:solidFill>
                    <a:srgbClr val="97BC62"/>
                  </a:solidFill>
                  <a:latin typeface="Calibri"/>
                  <a:ea typeface="Calibri"/>
                  <a:cs typeface="Calibri"/>
                  <a:sym typeface="Calibri"/>
                </a:rPr>
                <a:t>Images</a:t>
              </a:r>
              <a:endParaRPr/>
            </a:p>
            <a:p>
              <a:pPr indent="0" lvl="0" marL="0" marR="0" rtl="0" algn="l">
                <a:lnSpc>
                  <a:spcPct val="120000"/>
                </a:lnSpc>
                <a:spcBef>
                  <a:spcPts val="0"/>
                </a:spcBef>
                <a:spcAft>
                  <a:spcPts val="0"/>
                </a:spcAft>
                <a:buNone/>
              </a:pPr>
              <a:r>
                <a:rPr b="0" i="0" lang="en-US" sz="2200" u="none" cap="none" strike="noStrike">
                  <a:solidFill>
                    <a:srgbClr val="FFFFFF"/>
                  </a:solidFill>
                  <a:latin typeface="Calibri"/>
                  <a:ea typeface="Calibri"/>
                  <a:cs typeface="Calibri"/>
                  <a:sym typeface="Calibri"/>
                </a:rPr>
                <a:t>13,324 total</a:t>
              </a:r>
              <a:endParaRPr/>
            </a:p>
            <a:p>
              <a:pPr indent="0" lvl="0" marL="0" marR="0" rtl="0" algn="l">
                <a:lnSpc>
                  <a:spcPct val="120000"/>
                </a:lnSpc>
                <a:spcBef>
                  <a:spcPts val="0"/>
                </a:spcBef>
                <a:spcAft>
                  <a:spcPts val="0"/>
                </a:spcAft>
                <a:buNone/>
              </a:pPr>
              <a:r>
                <a:t/>
              </a:r>
              <a:endParaRPr b="0" i="0" sz="2200" u="none" cap="none" strike="noStrike">
                <a:solidFill>
                  <a:srgbClr val="FFFFFF"/>
                </a:solidFill>
                <a:latin typeface="Calibri"/>
                <a:ea typeface="Calibri"/>
                <a:cs typeface="Calibri"/>
                <a:sym typeface="Calibri"/>
              </a:endParaRPr>
            </a:p>
            <a:p>
              <a:pPr indent="0" lvl="0" marL="0" marR="0" rtl="0" algn="l">
                <a:lnSpc>
                  <a:spcPct val="120000"/>
                </a:lnSpc>
                <a:spcBef>
                  <a:spcPts val="0"/>
                </a:spcBef>
                <a:spcAft>
                  <a:spcPts val="0"/>
                </a:spcAft>
                <a:buNone/>
              </a:pPr>
              <a:r>
                <a:rPr b="1" i="0" lang="en-US" sz="2200" u="none" cap="none" strike="noStrike">
                  <a:solidFill>
                    <a:srgbClr val="97BC62"/>
                  </a:solidFill>
                  <a:latin typeface="Calibri"/>
                  <a:ea typeface="Calibri"/>
                  <a:cs typeface="Calibri"/>
                  <a:sym typeface="Calibri"/>
                </a:rPr>
                <a:t>Model</a:t>
              </a:r>
              <a:endParaRPr/>
            </a:p>
            <a:p>
              <a:pPr indent="0" lvl="0" marL="0" marR="0" rtl="0" algn="l">
                <a:lnSpc>
                  <a:spcPct val="120000"/>
                </a:lnSpc>
                <a:spcBef>
                  <a:spcPts val="0"/>
                </a:spcBef>
                <a:spcAft>
                  <a:spcPts val="0"/>
                </a:spcAft>
                <a:buNone/>
              </a:pPr>
              <a:r>
                <a:rPr b="0" i="0" lang="en-US" sz="2200" u="none" cap="none" strike="noStrike">
                  <a:solidFill>
                    <a:srgbClr val="FFFFFF"/>
                  </a:solidFill>
                  <a:latin typeface="Calibri"/>
                  <a:ea typeface="Calibri"/>
                  <a:cs typeface="Calibri"/>
                  <a:sym typeface="Calibri"/>
                </a:rPr>
                <a:t>MobileNet V3 Large</a:t>
              </a:r>
              <a:endParaRPr/>
            </a:p>
          </p:txBody>
        </p:sp>
      </p:grpSp>
      <p:grpSp>
        <p:nvGrpSpPr>
          <p:cNvPr id="129" name="Google Shape;129;p20"/>
          <p:cNvGrpSpPr/>
          <p:nvPr/>
        </p:nvGrpSpPr>
        <p:grpSpPr>
          <a:xfrm>
            <a:off x="731520" y="9481185"/>
            <a:ext cx="9143280" cy="576499"/>
            <a:chOff x="0" y="-38100"/>
            <a:chExt cx="12191040" cy="768665"/>
          </a:xfrm>
        </p:grpSpPr>
        <p:sp>
          <p:nvSpPr>
            <p:cNvPr id="130" name="Google Shape;130;p20"/>
            <p:cNvSpPr/>
            <p:nvPr/>
          </p:nvSpPr>
          <p:spPr>
            <a:xfrm>
              <a:off x="0" y="0"/>
              <a:ext cx="12191040" cy="730565"/>
            </a:xfrm>
            <a:custGeom>
              <a:rect b="b" l="l" r="r" t="t"/>
              <a:pathLst>
                <a:path extrusionOk="0" h="730565" w="12191040">
                  <a:moveTo>
                    <a:pt x="0" y="0"/>
                  </a:moveTo>
                  <a:lnTo>
                    <a:pt x="12191040" y="0"/>
                  </a:lnTo>
                  <a:lnTo>
                    <a:pt x="12191040" y="730565"/>
                  </a:lnTo>
                  <a:lnTo>
                    <a:pt x="0" y="730565"/>
                  </a:lnTo>
                  <a:close/>
                </a:path>
              </a:pathLst>
            </a:custGeom>
            <a:blipFill rotWithShape="1">
              <a:blip r:embed="rId3">
                <a:alphaModFix amt="0"/>
              </a:blip>
              <a:stretch>
                <a:fillRect b="-275140" l="0" r="0" t="-275140"/>
              </a:stretch>
            </a:blipFill>
            <a:ln>
              <a:noFill/>
            </a:ln>
          </p:spPr>
        </p:sp>
        <p:sp>
          <p:nvSpPr>
            <p:cNvPr id="131" name="Google Shape;131;p20"/>
            <p:cNvSpPr txBox="1"/>
            <p:nvPr/>
          </p:nvSpPr>
          <p:spPr>
            <a:xfrm>
              <a:off x="0" y="-38100"/>
              <a:ext cx="12191035" cy="7686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800" u="none" cap="none" strike="noStrike">
                  <a:solidFill>
                    <a:srgbClr val="5A7A65"/>
                  </a:solidFill>
                  <a:latin typeface="Calibri"/>
                  <a:ea typeface="Calibri"/>
                  <a:cs typeface="Calibri"/>
                  <a:sym typeface="Calibri"/>
                </a:rPr>
                <a:t>Group 8 - IITM - DSAI Lab - 2026</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EF"/>
        </a:solidFill>
      </p:bgPr>
    </p:bg>
    <p:spTree>
      <p:nvGrpSpPr>
        <p:cNvPr id="139" name="Shape 139"/>
        <p:cNvGrpSpPr/>
        <p:nvPr/>
      </p:nvGrpSpPr>
      <p:grpSpPr>
        <a:xfrm>
          <a:off x="0" y="0"/>
          <a:ext cx="0" cy="0"/>
          <a:chOff x="0" y="0"/>
          <a:chExt cx="0" cy="0"/>
        </a:xfrm>
      </p:grpSpPr>
      <p:sp>
        <p:nvSpPr>
          <p:cNvPr id="140" name="Google Shape;140;p21"/>
          <p:cNvSpPr/>
          <p:nvPr/>
        </p:nvSpPr>
        <p:spPr>
          <a:xfrm>
            <a:off x="0" y="0"/>
            <a:ext cx="18287239" cy="1370838"/>
          </a:xfrm>
          <a:custGeom>
            <a:rect b="b" l="l" r="r" t="t"/>
            <a:pathLst>
              <a:path extrusionOk="0" h="1827784" w="24382985">
                <a:moveTo>
                  <a:pt x="0" y="0"/>
                </a:moveTo>
                <a:lnTo>
                  <a:pt x="24382985" y="0"/>
                </a:lnTo>
                <a:lnTo>
                  <a:pt x="24382985" y="1827784"/>
                </a:lnTo>
                <a:lnTo>
                  <a:pt x="0" y="1827784"/>
                </a:lnTo>
                <a:close/>
              </a:path>
            </a:pathLst>
          </a:custGeom>
          <a:solidFill>
            <a:srgbClr val="1A3C2B"/>
          </a:solidFill>
          <a:ln>
            <a:noFill/>
          </a:ln>
        </p:spPr>
      </p:sp>
      <p:grpSp>
        <p:nvGrpSpPr>
          <p:cNvPr id="141" name="Google Shape;141;p21"/>
          <p:cNvGrpSpPr/>
          <p:nvPr/>
        </p:nvGrpSpPr>
        <p:grpSpPr>
          <a:xfrm>
            <a:off x="731520" y="-57150"/>
            <a:ext cx="16824240" cy="1428030"/>
            <a:chOff x="0" y="-76200"/>
            <a:chExt cx="22432321" cy="1904040"/>
          </a:xfrm>
        </p:grpSpPr>
        <p:sp>
          <p:nvSpPr>
            <p:cNvPr id="142" name="Google Shape;142;p21"/>
            <p:cNvSpPr/>
            <p:nvPr/>
          </p:nvSpPr>
          <p:spPr>
            <a:xfrm>
              <a:off x="0" y="0"/>
              <a:ext cx="22432321" cy="1827840"/>
            </a:xfrm>
            <a:custGeom>
              <a:rect b="b" l="l" r="r" t="t"/>
              <a:pathLst>
                <a:path extrusionOk="0" h="1827840" w="22432321">
                  <a:moveTo>
                    <a:pt x="0" y="0"/>
                  </a:moveTo>
                  <a:lnTo>
                    <a:pt x="22432321" y="0"/>
                  </a:lnTo>
                  <a:lnTo>
                    <a:pt x="22432321" y="1827840"/>
                  </a:lnTo>
                  <a:lnTo>
                    <a:pt x="0" y="1827840"/>
                  </a:lnTo>
                  <a:close/>
                </a:path>
              </a:pathLst>
            </a:custGeom>
            <a:blipFill rotWithShape="1">
              <a:blip r:embed="rId3">
                <a:alphaModFix amt="0"/>
              </a:blip>
              <a:stretch>
                <a:fillRect b="-189120" l="0" r="0" t="-189120"/>
              </a:stretch>
            </a:blipFill>
            <a:ln>
              <a:noFill/>
            </a:ln>
          </p:spPr>
        </p:sp>
        <p:sp>
          <p:nvSpPr>
            <p:cNvPr id="143" name="Google Shape;143;p21"/>
            <p:cNvSpPr txBox="1"/>
            <p:nvPr/>
          </p:nvSpPr>
          <p:spPr>
            <a:xfrm>
              <a:off x="0" y="-76200"/>
              <a:ext cx="22432315" cy="19040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000" u="none" cap="none" strike="noStrike">
                  <a:solidFill>
                    <a:srgbClr val="FFFFFF"/>
                  </a:solidFill>
                  <a:latin typeface="Calibri"/>
                  <a:ea typeface="Calibri"/>
                  <a:cs typeface="Calibri"/>
                  <a:sym typeface="Calibri"/>
                </a:rPr>
                <a:t>DATASET OVERVIEW</a:t>
              </a:r>
              <a:endParaRPr/>
            </a:p>
          </p:txBody>
        </p:sp>
      </p:grpSp>
      <p:sp>
        <p:nvSpPr>
          <p:cNvPr id="144" name="Google Shape;144;p21"/>
          <p:cNvSpPr/>
          <p:nvPr/>
        </p:nvSpPr>
        <p:spPr>
          <a:xfrm>
            <a:off x="13716000" y="274320"/>
            <a:ext cx="4022598" cy="822198"/>
          </a:xfrm>
          <a:custGeom>
            <a:rect b="b" l="l" r="r" t="t"/>
            <a:pathLst>
              <a:path extrusionOk="0" h="1096264" w="5363464">
                <a:moveTo>
                  <a:pt x="0" y="0"/>
                </a:moveTo>
                <a:lnTo>
                  <a:pt x="5363464" y="0"/>
                </a:lnTo>
                <a:lnTo>
                  <a:pt x="5363464" y="1096264"/>
                </a:lnTo>
                <a:lnTo>
                  <a:pt x="0" y="1096264"/>
                </a:lnTo>
                <a:close/>
              </a:path>
            </a:pathLst>
          </a:custGeom>
          <a:solidFill>
            <a:srgbClr val="97BC62"/>
          </a:solidFill>
          <a:ln>
            <a:noFill/>
          </a:ln>
        </p:spPr>
      </p:sp>
      <p:grpSp>
        <p:nvGrpSpPr>
          <p:cNvPr id="145" name="Google Shape;145;p21"/>
          <p:cNvGrpSpPr/>
          <p:nvPr/>
        </p:nvGrpSpPr>
        <p:grpSpPr>
          <a:xfrm>
            <a:off x="13716000" y="245745"/>
            <a:ext cx="4022640" cy="850815"/>
            <a:chOff x="0" y="-38100"/>
            <a:chExt cx="5363520" cy="1134420"/>
          </a:xfrm>
        </p:grpSpPr>
        <p:sp>
          <p:nvSpPr>
            <p:cNvPr id="146" name="Google Shape;146;p21"/>
            <p:cNvSpPr/>
            <p:nvPr/>
          </p:nvSpPr>
          <p:spPr>
            <a:xfrm>
              <a:off x="0" y="0"/>
              <a:ext cx="5363520" cy="1096320"/>
            </a:xfrm>
            <a:custGeom>
              <a:rect b="b" l="l" r="r" t="t"/>
              <a:pathLst>
                <a:path extrusionOk="0" h="1096320" w="5363520">
                  <a:moveTo>
                    <a:pt x="0" y="0"/>
                  </a:moveTo>
                  <a:lnTo>
                    <a:pt x="5363520" y="0"/>
                  </a:lnTo>
                  <a:lnTo>
                    <a:pt x="5363520" y="1096320"/>
                  </a:lnTo>
                  <a:lnTo>
                    <a:pt x="0" y="1096320"/>
                  </a:lnTo>
                  <a:close/>
                </a:path>
              </a:pathLst>
            </a:custGeom>
            <a:blipFill rotWithShape="1">
              <a:blip r:embed="rId3">
                <a:alphaModFix amt="0"/>
              </a:blip>
              <a:stretch>
                <a:fillRect b="-45325" l="0" r="0" t="-45325"/>
              </a:stretch>
            </a:blipFill>
            <a:ln>
              <a:noFill/>
            </a:ln>
          </p:spPr>
        </p:sp>
        <p:sp>
          <p:nvSpPr>
            <p:cNvPr id="147" name="Google Shape;147;p21"/>
            <p:cNvSpPr txBox="1"/>
            <p:nvPr/>
          </p:nvSpPr>
          <p:spPr>
            <a:xfrm>
              <a:off x="0" y="-38100"/>
              <a:ext cx="5363515" cy="113441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1A3C2B"/>
                  </a:solidFill>
                  <a:latin typeface="Calibri"/>
                  <a:ea typeface="Calibri"/>
                  <a:cs typeface="Calibri"/>
                  <a:sym typeface="Calibri"/>
                </a:rPr>
                <a:t>Kaggle — kamal01</a:t>
              </a:r>
              <a:endParaRPr/>
            </a:p>
          </p:txBody>
        </p:sp>
      </p:grpSp>
      <p:sp>
        <p:nvSpPr>
          <p:cNvPr id="148" name="Google Shape;148;p21"/>
          <p:cNvSpPr/>
          <p:nvPr/>
        </p:nvSpPr>
        <p:spPr>
          <a:xfrm>
            <a:off x="548640" y="1645920"/>
            <a:ext cx="3839718" cy="2376678"/>
          </a:xfrm>
          <a:custGeom>
            <a:rect b="b" l="l" r="r" t="t"/>
            <a:pathLst>
              <a:path extrusionOk="0" h="3168904" w="5119624">
                <a:moveTo>
                  <a:pt x="0" y="0"/>
                </a:moveTo>
                <a:lnTo>
                  <a:pt x="5119624" y="0"/>
                </a:lnTo>
                <a:lnTo>
                  <a:pt x="5119624" y="3168904"/>
                </a:lnTo>
                <a:lnTo>
                  <a:pt x="0" y="3168904"/>
                </a:lnTo>
                <a:close/>
              </a:path>
            </a:pathLst>
          </a:custGeom>
          <a:solidFill>
            <a:srgbClr val="FFFFFF"/>
          </a:solidFill>
          <a:ln>
            <a:noFill/>
          </a:ln>
        </p:spPr>
      </p:sp>
      <p:sp>
        <p:nvSpPr>
          <p:cNvPr id="149" name="Google Shape;149;p21"/>
          <p:cNvSpPr/>
          <p:nvPr/>
        </p:nvSpPr>
        <p:spPr>
          <a:xfrm>
            <a:off x="548640" y="1645920"/>
            <a:ext cx="3839718" cy="218884"/>
          </a:xfrm>
          <a:custGeom>
            <a:rect b="b" l="l" r="r" t="t"/>
            <a:pathLst>
              <a:path extrusionOk="0" h="291846" w="5119624">
                <a:moveTo>
                  <a:pt x="0" y="0"/>
                </a:moveTo>
                <a:lnTo>
                  <a:pt x="5119624" y="0"/>
                </a:lnTo>
                <a:lnTo>
                  <a:pt x="5119624" y="291846"/>
                </a:lnTo>
                <a:lnTo>
                  <a:pt x="0" y="291846"/>
                </a:lnTo>
                <a:close/>
              </a:path>
            </a:pathLst>
          </a:custGeom>
          <a:solidFill>
            <a:srgbClr val="97BC62"/>
          </a:solidFill>
          <a:ln>
            <a:noFill/>
          </a:ln>
        </p:spPr>
      </p:sp>
      <p:grpSp>
        <p:nvGrpSpPr>
          <p:cNvPr id="150" name="Google Shape;150;p21"/>
          <p:cNvGrpSpPr/>
          <p:nvPr/>
        </p:nvGrpSpPr>
        <p:grpSpPr>
          <a:xfrm>
            <a:off x="548640" y="1827371"/>
            <a:ext cx="3839760" cy="1280868"/>
            <a:chOff x="0" y="-123825"/>
            <a:chExt cx="5119680" cy="1707825"/>
          </a:xfrm>
        </p:grpSpPr>
        <p:sp>
          <p:nvSpPr>
            <p:cNvPr id="151" name="Google Shape;151;p21"/>
            <p:cNvSpPr/>
            <p:nvPr/>
          </p:nvSpPr>
          <p:spPr>
            <a:xfrm>
              <a:off x="0" y="0"/>
              <a:ext cx="5119680" cy="1584000"/>
            </a:xfrm>
            <a:custGeom>
              <a:rect b="b" l="l" r="r" t="t"/>
              <a:pathLst>
                <a:path extrusionOk="0" h="1584000" w="5119680">
                  <a:moveTo>
                    <a:pt x="0" y="0"/>
                  </a:moveTo>
                  <a:lnTo>
                    <a:pt x="5119680" y="0"/>
                  </a:lnTo>
                  <a:lnTo>
                    <a:pt x="5119680" y="1584000"/>
                  </a:lnTo>
                  <a:lnTo>
                    <a:pt x="0" y="1584000"/>
                  </a:lnTo>
                  <a:close/>
                </a:path>
              </a:pathLst>
            </a:custGeom>
            <a:blipFill rotWithShape="1">
              <a:blip r:embed="rId3">
                <a:alphaModFix amt="0"/>
              </a:blip>
              <a:stretch>
                <a:fillRect b="-12977" l="0" r="0" t="-12978"/>
              </a:stretch>
            </a:blipFill>
            <a:ln>
              <a:noFill/>
            </a:ln>
          </p:spPr>
        </p:sp>
        <p:sp>
          <p:nvSpPr>
            <p:cNvPr id="152" name="Google Shape;152;p21"/>
            <p:cNvSpPr txBox="1"/>
            <p:nvPr/>
          </p:nvSpPr>
          <p:spPr>
            <a:xfrm>
              <a:off x="0" y="-123825"/>
              <a:ext cx="5119675" cy="17078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6000" u="none" cap="none" strike="noStrike">
                  <a:solidFill>
                    <a:srgbClr val="1A3C2B"/>
                  </a:solidFill>
                  <a:latin typeface="Calibri"/>
                  <a:ea typeface="Calibri"/>
                  <a:cs typeface="Calibri"/>
                  <a:sym typeface="Calibri"/>
                </a:rPr>
                <a:t>13,324</a:t>
              </a:r>
              <a:endParaRPr/>
            </a:p>
          </p:txBody>
        </p:sp>
      </p:grpSp>
      <p:grpSp>
        <p:nvGrpSpPr>
          <p:cNvPr id="153" name="Google Shape;153;p21"/>
          <p:cNvGrpSpPr/>
          <p:nvPr/>
        </p:nvGrpSpPr>
        <p:grpSpPr>
          <a:xfrm>
            <a:off x="548640" y="3109960"/>
            <a:ext cx="3839760" cy="766518"/>
            <a:chOff x="0" y="-47625"/>
            <a:chExt cx="5119680" cy="1022025"/>
          </a:xfrm>
        </p:grpSpPr>
        <p:sp>
          <p:nvSpPr>
            <p:cNvPr id="154" name="Google Shape;154;p21"/>
            <p:cNvSpPr/>
            <p:nvPr/>
          </p:nvSpPr>
          <p:spPr>
            <a:xfrm>
              <a:off x="0" y="0"/>
              <a:ext cx="5119680" cy="974400"/>
            </a:xfrm>
            <a:custGeom>
              <a:rect b="b" l="l" r="r" t="t"/>
              <a:pathLst>
                <a:path extrusionOk="0" h="974400" w="5119680">
                  <a:moveTo>
                    <a:pt x="0" y="0"/>
                  </a:moveTo>
                  <a:lnTo>
                    <a:pt x="5119680" y="0"/>
                  </a:lnTo>
                  <a:lnTo>
                    <a:pt x="5119680" y="974400"/>
                  </a:lnTo>
                  <a:lnTo>
                    <a:pt x="0" y="974400"/>
                  </a:lnTo>
                  <a:close/>
                </a:path>
              </a:pathLst>
            </a:custGeom>
            <a:blipFill rotWithShape="1">
              <a:blip r:embed="rId3">
                <a:alphaModFix amt="0"/>
              </a:blip>
              <a:stretch>
                <a:fillRect b="-52376" l="0" r="0" t="-52378"/>
              </a:stretch>
            </a:blipFill>
            <a:ln>
              <a:noFill/>
            </a:ln>
          </p:spPr>
        </p:sp>
        <p:sp>
          <p:nvSpPr>
            <p:cNvPr id="155" name="Google Shape;155;p21"/>
            <p:cNvSpPr txBox="1"/>
            <p:nvPr/>
          </p:nvSpPr>
          <p:spPr>
            <a:xfrm>
              <a:off x="0" y="-47625"/>
              <a:ext cx="5119675" cy="10220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2200" u="none" cap="none" strike="noStrike">
                  <a:solidFill>
                    <a:srgbClr val="5A7A65"/>
                  </a:solidFill>
                  <a:latin typeface="Calibri"/>
                  <a:ea typeface="Calibri"/>
                  <a:cs typeface="Calibri"/>
                  <a:sym typeface="Calibri"/>
                </a:rPr>
                <a:t>Total Images</a:t>
              </a:r>
              <a:endParaRPr/>
            </a:p>
          </p:txBody>
        </p:sp>
      </p:grpSp>
      <p:sp>
        <p:nvSpPr>
          <p:cNvPr id="156" name="Google Shape;156;p21"/>
          <p:cNvSpPr/>
          <p:nvPr/>
        </p:nvSpPr>
        <p:spPr>
          <a:xfrm>
            <a:off x="4937760" y="1645920"/>
            <a:ext cx="3839718" cy="2376678"/>
          </a:xfrm>
          <a:custGeom>
            <a:rect b="b" l="l" r="r" t="t"/>
            <a:pathLst>
              <a:path extrusionOk="0" h="3168904" w="5119624">
                <a:moveTo>
                  <a:pt x="0" y="0"/>
                </a:moveTo>
                <a:lnTo>
                  <a:pt x="5119624" y="0"/>
                </a:lnTo>
                <a:lnTo>
                  <a:pt x="5119624" y="3168904"/>
                </a:lnTo>
                <a:lnTo>
                  <a:pt x="0" y="3168904"/>
                </a:lnTo>
                <a:close/>
              </a:path>
            </a:pathLst>
          </a:custGeom>
          <a:solidFill>
            <a:srgbClr val="FFFFFF"/>
          </a:solidFill>
          <a:ln>
            <a:noFill/>
          </a:ln>
        </p:spPr>
      </p:sp>
      <p:sp>
        <p:nvSpPr>
          <p:cNvPr id="157" name="Google Shape;157;p21"/>
          <p:cNvSpPr/>
          <p:nvPr/>
        </p:nvSpPr>
        <p:spPr>
          <a:xfrm>
            <a:off x="4937760" y="1645920"/>
            <a:ext cx="3839718" cy="218884"/>
          </a:xfrm>
          <a:custGeom>
            <a:rect b="b" l="l" r="r" t="t"/>
            <a:pathLst>
              <a:path extrusionOk="0" h="291846" w="5119624">
                <a:moveTo>
                  <a:pt x="0" y="0"/>
                </a:moveTo>
                <a:lnTo>
                  <a:pt x="5119624" y="0"/>
                </a:lnTo>
                <a:lnTo>
                  <a:pt x="5119624" y="291846"/>
                </a:lnTo>
                <a:lnTo>
                  <a:pt x="0" y="291846"/>
                </a:lnTo>
                <a:close/>
              </a:path>
            </a:pathLst>
          </a:custGeom>
          <a:solidFill>
            <a:srgbClr val="97BC62"/>
          </a:solidFill>
          <a:ln>
            <a:noFill/>
          </a:ln>
        </p:spPr>
      </p:sp>
      <p:grpSp>
        <p:nvGrpSpPr>
          <p:cNvPr id="158" name="Google Shape;158;p21"/>
          <p:cNvGrpSpPr/>
          <p:nvPr/>
        </p:nvGrpSpPr>
        <p:grpSpPr>
          <a:xfrm>
            <a:off x="4937760" y="1827371"/>
            <a:ext cx="3839760" cy="1280868"/>
            <a:chOff x="0" y="-123825"/>
            <a:chExt cx="5119680" cy="1707825"/>
          </a:xfrm>
        </p:grpSpPr>
        <p:sp>
          <p:nvSpPr>
            <p:cNvPr id="159" name="Google Shape;159;p21"/>
            <p:cNvSpPr/>
            <p:nvPr/>
          </p:nvSpPr>
          <p:spPr>
            <a:xfrm>
              <a:off x="0" y="0"/>
              <a:ext cx="5119680" cy="1584000"/>
            </a:xfrm>
            <a:custGeom>
              <a:rect b="b" l="l" r="r" t="t"/>
              <a:pathLst>
                <a:path extrusionOk="0" h="1584000" w="5119680">
                  <a:moveTo>
                    <a:pt x="0" y="0"/>
                  </a:moveTo>
                  <a:lnTo>
                    <a:pt x="5119680" y="0"/>
                  </a:lnTo>
                  <a:lnTo>
                    <a:pt x="5119680" y="1584000"/>
                  </a:lnTo>
                  <a:lnTo>
                    <a:pt x="0" y="1584000"/>
                  </a:lnTo>
                  <a:close/>
                </a:path>
              </a:pathLst>
            </a:custGeom>
            <a:blipFill rotWithShape="1">
              <a:blip r:embed="rId3">
                <a:alphaModFix amt="0"/>
              </a:blip>
              <a:stretch>
                <a:fillRect b="-12977" l="0" r="0" t="-12978"/>
              </a:stretch>
            </a:blipFill>
            <a:ln>
              <a:noFill/>
            </a:ln>
          </p:spPr>
        </p:sp>
        <p:sp>
          <p:nvSpPr>
            <p:cNvPr id="160" name="Google Shape;160;p21"/>
            <p:cNvSpPr txBox="1"/>
            <p:nvPr/>
          </p:nvSpPr>
          <p:spPr>
            <a:xfrm>
              <a:off x="0" y="-123825"/>
              <a:ext cx="5119675" cy="17078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6000" u="none" cap="none" strike="noStrike">
                  <a:solidFill>
                    <a:srgbClr val="1A3C2B"/>
                  </a:solidFill>
                  <a:latin typeface="Calibri"/>
                  <a:ea typeface="Calibri"/>
                  <a:cs typeface="Calibri"/>
                  <a:sym typeface="Calibri"/>
                </a:rPr>
                <a:t>17</a:t>
              </a:r>
              <a:endParaRPr/>
            </a:p>
          </p:txBody>
        </p:sp>
      </p:grpSp>
      <p:grpSp>
        <p:nvGrpSpPr>
          <p:cNvPr id="161" name="Google Shape;161;p21"/>
          <p:cNvGrpSpPr/>
          <p:nvPr/>
        </p:nvGrpSpPr>
        <p:grpSpPr>
          <a:xfrm>
            <a:off x="4937760" y="3109960"/>
            <a:ext cx="3839760" cy="766518"/>
            <a:chOff x="0" y="-47625"/>
            <a:chExt cx="5119680" cy="1022025"/>
          </a:xfrm>
        </p:grpSpPr>
        <p:sp>
          <p:nvSpPr>
            <p:cNvPr id="162" name="Google Shape;162;p21"/>
            <p:cNvSpPr/>
            <p:nvPr/>
          </p:nvSpPr>
          <p:spPr>
            <a:xfrm>
              <a:off x="0" y="0"/>
              <a:ext cx="5119680" cy="974400"/>
            </a:xfrm>
            <a:custGeom>
              <a:rect b="b" l="l" r="r" t="t"/>
              <a:pathLst>
                <a:path extrusionOk="0" h="974400" w="5119680">
                  <a:moveTo>
                    <a:pt x="0" y="0"/>
                  </a:moveTo>
                  <a:lnTo>
                    <a:pt x="5119680" y="0"/>
                  </a:lnTo>
                  <a:lnTo>
                    <a:pt x="5119680" y="974400"/>
                  </a:lnTo>
                  <a:lnTo>
                    <a:pt x="0" y="974400"/>
                  </a:lnTo>
                  <a:close/>
                </a:path>
              </a:pathLst>
            </a:custGeom>
            <a:blipFill rotWithShape="1">
              <a:blip r:embed="rId3">
                <a:alphaModFix amt="0"/>
              </a:blip>
              <a:stretch>
                <a:fillRect b="-52376" l="0" r="0" t="-52378"/>
              </a:stretch>
            </a:blipFill>
            <a:ln>
              <a:noFill/>
            </a:ln>
          </p:spPr>
        </p:sp>
        <p:sp>
          <p:nvSpPr>
            <p:cNvPr id="163" name="Google Shape;163;p21"/>
            <p:cNvSpPr txBox="1"/>
            <p:nvPr/>
          </p:nvSpPr>
          <p:spPr>
            <a:xfrm>
              <a:off x="0" y="-47625"/>
              <a:ext cx="5119675" cy="10220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2200" u="none" cap="none" strike="noStrike">
                  <a:solidFill>
                    <a:srgbClr val="5A7A65"/>
                  </a:solidFill>
                  <a:latin typeface="Calibri"/>
                  <a:ea typeface="Calibri"/>
                  <a:cs typeface="Calibri"/>
                  <a:sym typeface="Calibri"/>
                </a:rPr>
                <a:t>Disease Classes</a:t>
              </a:r>
              <a:endParaRPr/>
            </a:p>
          </p:txBody>
        </p:sp>
      </p:grpSp>
      <p:sp>
        <p:nvSpPr>
          <p:cNvPr id="164" name="Google Shape;164;p21"/>
          <p:cNvSpPr/>
          <p:nvPr/>
        </p:nvSpPr>
        <p:spPr>
          <a:xfrm>
            <a:off x="9326880" y="1645920"/>
            <a:ext cx="3839718" cy="2376678"/>
          </a:xfrm>
          <a:custGeom>
            <a:rect b="b" l="l" r="r" t="t"/>
            <a:pathLst>
              <a:path extrusionOk="0" h="3168904" w="5119624">
                <a:moveTo>
                  <a:pt x="0" y="0"/>
                </a:moveTo>
                <a:lnTo>
                  <a:pt x="5119624" y="0"/>
                </a:lnTo>
                <a:lnTo>
                  <a:pt x="5119624" y="3168904"/>
                </a:lnTo>
                <a:lnTo>
                  <a:pt x="0" y="3168904"/>
                </a:lnTo>
                <a:close/>
              </a:path>
            </a:pathLst>
          </a:custGeom>
          <a:solidFill>
            <a:srgbClr val="FFFFFF"/>
          </a:solidFill>
          <a:ln>
            <a:noFill/>
          </a:ln>
        </p:spPr>
      </p:sp>
      <p:sp>
        <p:nvSpPr>
          <p:cNvPr id="165" name="Google Shape;165;p21"/>
          <p:cNvSpPr/>
          <p:nvPr/>
        </p:nvSpPr>
        <p:spPr>
          <a:xfrm>
            <a:off x="9326880" y="1645920"/>
            <a:ext cx="3839718" cy="218884"/>
          </a:xfrm>
          <a:custGeom>
            <a:rect b="b" l="l" r="r" t="t"/>
            <a:pathLst>
              <a:path extrusionOk="0" h="291846" w="5119624">
                <a:moveTo>
                  <a:pt x="0" y="0"/>
                </a:moveTo>
                <a:lnTo>
                  <a:pt x="5119624" y="0"/>
                </a:lnTo>
                <a:lnTo>
                  <a:pt x="5119624" y="291846"/>
                </a:lnTo>
                <a:lnTo>
                  <a:pt x="0" y="291846"/>
                </a:lnTo>
                <a:close/>
              </a:path>
            </a:pathLst>
          </a:custGeom>
          <a:solidFill>
            <a:srgbClr val="97BC62"/>
          </a:solidFill>
          <a:ln>
            <a:noFill/>
          </a:ln>
        </p:spPr>
      </p:sp>
      <p:grpSp>
        <p:nvGrpSpPr>
          <p:cNvPr id="166" name="Google Shape;166;p21"/>
          <p:cNvGrpSpPr/>
          <p:nvPr/>
        </p:nvGrpSpPr>
        <p:grpSpPr>
          <a:xfrm>
            <a:off x="9326880" y="1827371"/>
            <a:ext cx="3839760" cy="1280868"/>
            <a:chOff x="0" y="-123825"/>
            <a:chExt cx="5119680" cy="1707825"/>
          </a:xfrm>
        </p:grpSpPr>
        <p:sp>
          <p:nvSpPr>
            <p:cNvPr id="167" name="Google Shape;167;p21"/>
            <p:cNvSpPr/>
            <p:nvPr/>
          </p:nvSpPr>
          <p:spPr>
            <a:xfrm>
              <a:off x="0" y="0"/>
              <a:ext cx="5119680" cy="1584000"/>
            </a:xfrm>
            <a:custGeom>
              <a:rect b="b" l="l" r="r" t="t"/>
              <a:pathLst>
                <a:path extrusionOk="0" h="1584000" w="5119680">
                  <a:moveTo>
                    <a:pt x="0" y="0"/>
                  </a:moveTo>
                  <a:lnTo>
                    <a:pt x="5119680" y="0"/>
                  </a:lnTo>
                  <a:lnTo>
                    <a:pt x="5119680" y="1584000"/>
                  </a:lnTo>
                  <a:lnTo>
                    <a:pt x="0" y="1584000"/>
                  </a:lnTo>
                  <a:close/>
                </a:path>
              </a:pathLst>
            </a:custGeom>
            <a:blipFill rotWithShape="1">
              <a:blip r:embed="rId3">
                <a:alphaModFix amt="0"/>
              </a:blip>
              <a:stretch>
                <a:fillRect b="-12977" l="0" r="0" t="-12978"/>
              </a:stretch>
            </a:blipFill>
            <a:ln>
              <a:noFill/>
            </a:ln>
          </p:spPr>
        </p:sp>
        <p:sp>
          <p:nvSpPr>
            <p:cNvPr id="168" name="Google Shape;168;p21"/>
            <p:cNvSpPr txBox="1"/>
            <p:nvPr/>
          </p:nvSpPr>
          <p:spPr>
            <a:xfrm>
              <a:off x="0" y="-123825"/>
              <a:ext cx="5119675" cy="17078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6000" u="none" cap="none" strike="noStrike">
                  <a:solidFill>
                    <a:srgbClr val="1A3C2B"/>
                  </a:solidFill>
                  <a:latin typeface="Calibri"/>
                  <a:ea typeface="Calibri"/>
                  <a:cs typeface="Calibri"/>
                  <a:sym typeface="Calibri"/>
                </a:rPr>
                <a:t>5</a:t>
              </a:r>
              <a:endParaRPr/>
            </a:p>
          </p:txBody>
        </p:sp>
      </p:grpSp>
      <p:grpSp>
        <p:nvGrpSpPr>
          <p:cNvPr id="169" name="Google Shape;169;p21"/>
          <p:cNvGrpSpPr/>
          <p:nvPr/>
        </p:nvGrpSpPr>
        <p:grpSpPr>
          <a:xfrm>
            <a:off x="9326880" y="3109960"/>
            <a:ext cx="3839760" cy="766518"/>
            <a:chOff x="0" y="-47625"/>
            <a:chExt cx="5119680" cy="1022025"/>
          </a:xfrm>
        </p:grpSpPr>
        <p:sp>
          <p:nvSpPr>
            <p:cNvPr id="170" name="Google Shape;170;p21"/>
            <p:cNvSpPr/>
            <p:nvPr/>
          </p:nvSpPr>
          <p:spPr>
            <a:xfrm>
              <a:off x="0" y="0"/>
              <a:ext cx="5119680" cy="974400"/>
            </a:xfrm>
            <a:custGeom>
              <a:rect b="b" l="l" r="r" t="t"/>
              <a:pathLst>
                <a:path extrusionOk="0" h="974400" w="5119680">
                  <a:moveTo>
                    <a:pt x="0" y="0"/>
                  </a:moveTo>
                  <a:lnTo>
                    <a:pt x="5119680" y="0"/>
                  </a:lnTo>
                  <a:lnTo>
                    <a:pt x="5119680" y="974400"/>
                  </a:lnTo>
                  <a:lnTo>
                    <a:pt x="0" y="974400"/>
                  </a:lnTo>
                  <a:close/>
                </a:path>
              </a:pathLst>
            </a:custGeom>
            <a:blipFill rotWithShape="1">
              <a:blip r:embed="rId3">
                <a:alphaModFix amt="0"/>
              </a:blip>
              <a:stretch>
                <a:fillRect b="-52376" l="0" r="0" t="-52378"/>
              </a:stretch>
            </a:blipFill>
            <a:ln>
              <a:noFill/>
            </a:ln>
          </p:spPr>
        </p:sp>
        <p:sp>
          <p:nvSpPr>
            <p:cNvPr id="171" name="Google Shape;171;p21"/>
            <p:cNvSpPr txBox="1"/>
            <p:nvPr/>
          </p:nvSpPr>
          <p:spPr>
            <a:xfrm>
              <a:off x="0" y="-47625"/>
              <a:ext cx="5119675" cy="10220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2200" u="none" cap="none" strike="noStrike">
                  <a:solidFill>
                    <a:srgbClr val="5A7A65"/>
                  </a:solidFill>
                  <a:latin typeface="Calibri"/>
                  <a:ea typeface="Calibri"/>
                  <a:cs typeface="Calibri"/>
                  <a:sym typeface="Calibri"/>
                </a:rPr>
                <a:t>Crop Species</a:t>
              </a:r>
              <a:endParaRPr/>
            </a:p>
          </p:txBody>
        </p:sp>
      </p:grpSp>
      <p:sp>
        <p:nvSpPr>
          <p:cNvPr id="172" name="Google Shape;172;p21"/>
          <p:cNvSpPr/>
          <p:nvPr/>
        </p:nvSpPr>
        <p:spPr>
          <a:xfrm>
            <a:off x="13716000" y="1645920"/>
            <a:ext cx="3839718" cy="2376678"/>
          </a:xfrm>
          <a:custGeom>
            <a:rect b="b" l="l" r="r" t="t"/>
            <a:pathLst>
              <a:path extrusionOk="0" h="3168904" w="5119624">
                <a:moveTo>
                  <a:pt x="0" y="0"/>
                </a:moveTo>
                <a:lnTo>
                  <a:pt x="5119624" y="0"/>
                </a:lnTo>
                <a:lnTo>
                  <a:pt x="5119624" y="3168904"/>
                </a:lnTo>
                <a:lnTo>
                  <a:pt x="0" y="3168904"/>
                </a:lnTo>
                <a:close/>
              </a:path>
            </a:pathLst>
          </a:custGeom>
          <a:solidFill>
            <a:srgbClr val="FFFFFF"/>
          </a:solidFill>
          <a:ln>
            <a:noFill/>
          </a:ln>
        </p:spPr>
      </p:sp>
      <p:sp>
        <p:nvSpPr>
          <p:cNvPr id="173" name="Google Shape;173;p21"/>
          <p:cNvSpPr/>
          <p:nvPr/>
        </p:nvSpPr>
        <p:spPr>
          <a:xfrm>
            <a:off x="13716000" y="1645920"/>
            <a:ext cx="3839718" cy="218884"/>
          </a:xfrm>
          <a:custGeom>
            <a:rect b="b" l="l" r="r" t="t"/>
            <a:pathLst>
              <a:path extrusionOk="0" h="291846" w="5119624">
                <a:moveTo>
                  <a:pt x="0" y="0"/>
                </a:moveTo>
                <a:lnTo>
                  <a:pt x="5119624" y="0"/>
                </a:lnTo>
                <a:lnTo>
                  <a:pt x="5119624" y="291846"/>
                </a:lnTo>
                <a:lnTo>
                  <a:pt x="0" y="291846"/>
                </a:lnTo>
                <a:close/>
              </a:path>
            </a:pathLst>
          </a:custGeom>
          <a:solidFill>
            <a:srgbClr val="97BC62"/>
          </a:solidFill>
          <a:ln>
            <a:noFill/>
          </a:ln>
        </p:spPr>
      </p:sp>
      <p:grpSp>
        <p:nvGrpSpPr>
          <p:cNvPr id="174" name="Google Shape;174;p21"/>
          <p:cNvGrpSpPr/>
          <p:nvPr/>
        </p:nvGrpSpPr>
        <p:grpSpPr>
          <a:xfrm>
            <a:off x="13716000" y="1827371"/>
            <a:ext cx="3839760" cy="1280868"/>
            <a:chOff x="0" y="-123825"/>
            <a:chExt cx="5119680" cy="1707825"/>
          </a:xfrm>
        </p:grpSpPr>
        <p:sp>
          <p:nvSpPr>
            <p:cNvPr id="175" name="Google Shape;175;p21"/>
            <p:cNvSpPr/>
            <p:nvPr/>
          </p:nvSpPr>
          <p:spPr>
            <a:xfrm>
              <a:off x="0" y="0"/>
              <a:ext cx="5119680" cy="1584000"/>
            </a:xfrm>
            <a:custGeom>
              <a:rect b="b" l="l" r="r" t="t"/>
              <a:pathLst>
                <a:path extrusionOk="0" h="1584000" w="5119680">
                  <a:moveTo>
                    <a:pt x="0" y="0"/>
                  </a:moveTo>
                  <a:lnTo>
                    <a:pt x="5119680" y="0"/>
                  </a:lnTo>
                  <a:lnTo>
                    <a:pt x="5119680" y="1584000"/>
                  </a:lnTo>
                  <a:lnTo>
                    <a:pt x="0" y="1584000"/>
                  </a:lnTo>
                  <a:close/>
                </a:path>
              </a:pathLst>
            </a:custGeom>
            <a:blipFill rotWithShape="1">
              <a:blip r:embed="rId3">
                <a:alphaModFix amt="0"/>
              </a:blip>
              <a:stretch>
                <a:fillRect b="-12977" l="0" r="0" t="-12978"/>
              </a:stretch>
            </a:blipFill>
            <a:ln>
              <a:noFill/>
            </a:ln>
          </p:spPr>
        </p:sp>
        <p:sp>
          <p:nvSpPr>
            <p:cNvPr id="176" name="Google Shape;176;p21"/>
            <p:cNvSpPr txBox="1"/>
            <p:nvPr/>
          </p:nvSpPr>
          <p:spPr>
            <a:xfrm>
              <a:off x="0" y="-123825"/>
              <a:ext cx="5119675" cy="17078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6000" u="none" cap="none" strike="noStrike">
                  <a:solidFill>
                    <a:srgbClr val="1A3C2B"/>
                  </a:solidFill>
                  <a:latin typeface="Calibri"/>
                  <a:ea typeface="Calibri"/>
                  <a:cs typeface="Calibri"/>
                  <a:sym typeface="Calibri"/>
                </a:rPr>
                <a:t>14.9×</a:t>
              </a:r>
              <a:endParaRPr/>
            </a:p>
          </p:txBody>
        </p:sp>
      </p:grpSp>
      <p:grpSp>
        <p:nvGrpSpPr>
          <p:cNvPr id="177" name="Google Shape;177;p21"/>
          <p:cNvGrpSpPr/>
          <p:nvPr/>
        </p:nvGrpSpPr>
        <p:grpSpPr>
          <a:xfrm>
            <a:off x="13716000" y="3109960"/>
            <a:ext cx="3839760" cy="766518"/>
            <a:chOff x="0" y="-47625"/>
            <a:chExt cx="5119680" cy="1022025"/>
          </a:xfrm>
        </p:grpSpPr>
        <p:sp>
          <p:nvSpPr>
            <p:cNvPr id="178" name="Google Shape;178;p21"/>
            <p:cNvSpPr/>
            <p:nvPr/>
          </p:nvSpPr>
          <p:spPr>
            <a:xfrm>
              <a:off x="0" y="0"/>
              <a:ext cx="5119680" cy="974400"/>
            </a:xfrm>
            <a:custGeom>
              <a:rect b="b" l="l" r="r" t="t"/>
              <a:pathLst>
                <a:path extrusionOk="0" h="974400" w="5119680">
                  <a:moveTo>
                    <a:pt x="0" y="0"/>
                  </a:moveTo>
                  <a:lnTo>
                    <a:pt x="5119680" y="0"/>
                  </a:lnTo>
                  <a:lnTo>
                    <a:pt x="5119680" y="974400"/>
                  </a:lnTo>
                  <a:lnTo>
                    <a:pt x="0" y="974400"/>
                  </a:lnTo>
                  <a:close/>
                </a:path>
              </a:pathLst>
            </a:custGeom>
            <a:blipFill rotWithShape="1">
              <a:blip r:embed="rId3">
                <a:alphaModFix amt="0"/>
              </a:blip>
              <a:stretch>
                <a:fillRect b="-52376" l="0" r="0" t="-52378"/>
              </a:stretch>
            </a:blipFill>
            <a:ln>
              <a:noFill/>
            </a:ln>
          </p:spPr>
        </p:sp>
        <p:sp>
          <p:nvSpPr>
            <p:cNvPr id="179" name="Google Shape;179;p21"/>
            <p:cNvSpPr txBox="1"/>
            <p:nvPr/>
          </p:nvSpPr>
          <p:spPr>
            <a:xfrm>
              <a:off x="0" y="-47625"/>
              <a:ext cx="5119675" cy="10220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2200" u="none" cap="none" strike="noStrike">
                  <a:solidFill>
                    <a:srgbClr val="5A7A65"/>
                  </a:solidFill>
                  <a:latin typeface="Calibri"/>
                  <a:ea typeface="Calibri"/>
                  <a:cs typeface="Calibri"/>
                  <a:sym typeface="Calibri"/>
                </a:rPr>
                <a:t>Imbalance Ratio</a:t>
              </a:r>
              <a:endParaRPr/>
            </a:p>
          </p:txBody>
        </p:sp>
      </p:grpSp>
      <p:sp>
        <p:nvSpPr>
          <p:cNvPr id="180" name="Google Shape;180;p21"/>
          <p:cNvSpPr/>
          <p:nvPr/>
        </p:nvSpPr>
        <p:spPr>
          <a:xfrm>
            <a:off x="548640" y="4389120"/>
            <a:ext cx="5852160" cy="694087"/>
          </a:xfrm>
          <a:custGeom>
            <a:rect b="b" l="l" r="r" t="t"/>
            <a:pathLst>
              <a:path extrusionOk="0" h="925449" w="7802880">
                <a:moveTo>
                  <a:pt x="0" y="0"/>
                </a:moveTo>
                <a:lnTo>
                  <a:pt x="7802880" y="0"/>
                </a:lnTo>
                <a:lnTo>
                  <a:pt x="7802880" y="925449"/>
                </a:lnTo>
                <a:lnTo>
                  <a:pt x="0" y="925449"/>
                </a:lnTo>
                <a:close/>
              </a:path>
            </a:pathLst>
          </a:custGeom>
          <a:solidFill>
            <a:srgbClr val="2C5F2D"/>
          </a:solidFill>
          <a:ln>
            <a:noFill/>
          </a:ln>
        </p:spPr>
      </p:sp>
      <p:grpSp>
        <p:nvGrpSpPr>
          <p:cNvPr id="181" name="Google Shape;181;p21"/>
          <p:cNvGrpSpPr/>
          <p:nvPr/>
        </p:nvGrpSpPr>
        <p:grpSpPr>
          <a:xfrm>
            <a:off x="731520" y="4353401"/>
            <a:ext cx="3656880" cy="729799"/>
            <a:chOff x="0" y="-47625"/>
            <a:chExt cx="4875840" cy="973065"/>
          </a:xfrm>
        </p:grpSpPr>
        <p:sp>
          <p:nvSpPr>
            <p:cNvPr id="182" name="Google Shape;182;p21"/>
            <p:cNvSpPr/>
            <p:nvPr/>
          </p:nvSpPr>
          <p:spPr>
            <a:xfrm>
              <a:off x="0" y="0"/>
              <a:ext cx="4875840" cy="925440"/>
            </a:xfrm>
            <a:custGeom>
              <a:rect b="b" l="l" r="r" t="t"/>
              <a:pathLst>
                <a:path extrusionOk="0" h="925440" w="4875840">
                  <a:moveTo>
                    <a:pt x="0" y="0"/>
                  </a:moveTo>
                  <a:lnTo>
                    <a:pt x="4875840" y="0"/>
                  </a:lnTo>
                  <a:lnTo>
                    <a:pt x="4875840" y="925440"/>
                  </a:lnTo>
                  <a:lnTo>
                    <a:pt x="0" y="925440"/>
                  </a:lnTo>
                  <a:close/>
                </a:path>
              </a:pathLst>
            </a:custGeom>
            <a:blipFill rotWithShape="1">
              <a:blip r:embed="rId3">
                <a:alphaModFix amt="0"/>
              </a:blip>
              <a:stretch>
                <a:fillRect b="-52658" l="0" r="0" t="-52660"/>
              </a:stretch>
            </a:blipFill>
            <a:ln>
              <a:noFill/>
            </a:ln>
          </p:spPr>
        </p:sp>
        <p:sp>
          <p:nvSpPr>
            <p:cNvPr id="183" name="Google Shape;183;p21"/>
            <p:cNvSpPr txBox="1"/>
            <p:nvPr/>
          </p:nvSpPr>
          <p:spPr>
            <a:xfrm>
              <a:off x="0" y="-47625"/>
              <a:ext cx="4875835" cy="97306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FFFFFF"/>
                  </a:solidFill>
                  <a:latin typeface="Calibri"/>
                  <a:ea typeface="Calibri"/>
                  <a:cs typeface="Calibri"/>
                  <a:sym typeface="Calibri"/>
                </a:rPr>
                <a:t>Crop</a:t>
              </a:r>
              <a:endParaRPr/>
            </a:p>
          </p:txBody>
        </p:sp>
      </p:grpSp>
      <p:grpSp>
        <p:nvGrpSpPr>
          <p:cNvPr id="184" name="Google Shape;184;p21"/>
          <p:cNvGrpSpPr/>
          <p:nvPr/>
        </p:nvGrpSpPr>
        <p:grpSpPr>
          <a:xfrm>
            <a:off x="4023360" y="4353401"/>
            <a:ext cx="3656880" cy="729799"/>
            <a:chOff x="0" y="-47625"/>
            <a:chExt cx="4875840" cy="973065"/>
          </a:xfrm>
        </p:grpSpPr>
        <p:sp>
          <p:nvSpPr>
            <p:cNvPr id="185" name="Google Shape;185;p21"/>
            <p:cNvSpPr/>
            <p:nvPr/>
          </p:nvSpPr>
          <p:spPr>
            <a:xfrm>
              <a:off x="0" y="0"/>
              <a:ext cx="4875840" cy="925440"/>
            </a:xfrm>
            <a:custGeom>
              <a:rect b="b" l="l" r="r" t="t"/>
              <a:pathLst>
                <a:path extrusionOk="0" h="925440" w="4875840">
                  <a:moveTo>
                    <a:pt x="0" y="0"/>
                  </a:moveTo>
                  <a:lnTo>
                    <a:pt x="4875840" y="0"/>
                  </a:lnTo>
                  <a:lnTo>
                    <a:pt x="4875840" y="925440"/>
                  </a:lnTo>
                  <a:lnTo>
                    <a:pt x="0" y="925440"/>
                  </a:lnTo>
                  <a:close/>
                </a:path>
              </a:pathLst>
            </a:custGeom>
            <a:blipFill rotWithShape="1">
              <a:blip r:embed="rId3">
                <a:alphaModFix amt="0"/>
              </a:blip>
              <a:stretch>
                <a:fillRect b="-52658" l="0" r="0" t="-52660"/>
              </a:stretch>
            </a:blipFill>
            <a:ln>
              <a:noFill/>
            </a:ln>
          </p:spPr>
        </p:sp>
        <p:sp>
          <p:nvSpPr>
            <p:cNvPr id="186" name="Google Shape;186;p21"/>
            <p:cNvSpPr txBox="1"/>
            <p:nvPr/>
          </p:nvSpPr>
          <p:spPr>
            <a:xfrm>
              <a:off x="0" y="-47625"/>
              <a:ext cx="4875835" cy="97306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FFFFFF"/>
                  </a:solidFill>
                  <a:latin typeface="Calibri"/>
                  <a:ea typeface="Calibri"/>
                  <a:cs typeface="Calibri"/>
                  <a:sym typeface="Calibri"/>
                </a:rPr>
                <a:t>Classes</a:t>
              </a:r>
              <a:endParaRPr/>
            </a:p>
          </p:txBody>
        </p:sp>
      </p:grpSp>
      <p:sp>
        <p:nvSpPr>
          <p:cNvPr id="187" name="Google Shape;187;p21"/>
          <p:cNvSpPr/>
          <p:nvPr/>
        </p:nvSpPr>
        <p:spPr>
          <a:xfrm>
            <a:off x="548640" y="5083921"/>
            <a:ext cx="5852160" cy="767524"/>
          </a:xfrm>
          <a:custGeom>
            <a:rect b="b" l="l" r="r" t="t"/>
            <a:pathLst>
              <a:path extrusionOk="0" h="1023366" w="7802880">
                <a:moveTo>
                  <a:pt x="0" y="0"/>
                </a:moveTo>
                <a:lnTo>
                  <a:pt x="7802880" y="0"/>
                </a:lnTo>
                <a:lnTo>
                  <a:pt x="7802880" y="1023366"/>
                </a:lnTo>
                <a:lnTo>
                  <a:pt x="0" y="1023366"/>
                </a:lnTo>
                <a:close/>
              </a:path>
            </a:pathLst>
          </a:custGeom>
          <a:solidFill>
            <a:srgbClr val="FFFFFF"/>
          </a:solidFill>
          <a:ln>
            <a:noFill/>
          </a:ln>
        </p:spPr>
      </p:sp>
      <p:grpSp>
        <p:nvGrpSpPr>
          <p:cNvPr id="188" name="Google Shape;188;p21"/>
          <p:cNvGrpSpPr/>
          <p:nvPr/>
        </p:nvGrpSpPr>
        <p:grpSpPr>
          <a:xfrm>
            <a:off x="731520" y="5048202"/>
            <a:ext cx="3108240" cy="803243"/>
            <a:chOff x="0" y="-47625"/>
            <a:chExt cx="4144320" cy="1070991"/>
          </a:xfrm>
        </p:grpSpPr>
        <p:sp>
          <p:nvSpPr>
            <p:cNvPr id="189" name="Google Shape;189;p21"/>
            <p:cNvSpPr/>
            <p:nvPr/>
          </p:nvSpPr>
          <p:spPr>
            <a:xfrm>
              <a:off x="0" y="0"/>
              <a:ext cx="4144320" cy="1023360"/>
            </a:xfrm>
            <a:custGeom>
              <a:rect b="b" l="l" r="r" t="t"/>
              <a:pathLst>
                <a:path extrusionOk="0" h="1023360" w="4144320">
                  <a:moveTo>
                    <a:pt x="0" y="0"/>
                  </a:moveTo>
                  <a:lnTo>
                    <a:pt x="4144320" y="0"/>
                  </a:lnTo>
                  <a:lnTo>
                    <a:pt x="4144320" y="1023360"/>
                  </a:lnTo>
                  <a:lnTo>
                    <a:pt x="0" y="1023360"/>
                  </a:lnTo>
                  <a:close/>
                </a:path>
              </a:pathLst>
            </a:custGeom>
            <a:blipFill rotWithShape="1">
              <a:blip r:embed="rId3">
                <a:alphaModFix amt="0"/>
              </a:blip>
              <a:stretch>
                <a:fillRect b="-28909" l="0" r="0" t="-28907"/>
              </a:stretch>
            </a:blipFill>
            <a:ln>
              <a:noFill/>
            </a:ln>
          </p:spPr>
        </p:sp>
        <p:sp>
          <p:nvSpPr>
            <p:cNvPr id="190" name="Google Shape;190;p21"/>
            <p:cNvSpPr txBox="1"/>
            <p:nvPr/>
          </p:nvSpPr>
          <p:spPr>
            <a:xfrm>
              <a:off x="0" y="-47625"/>
              <a:ext cx="4144315" cy="107099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1E1E1E"/>
                  </a:solidFill>
                  <a:latin typeface="Calibri"/>
                  <a:ea typeface="Calibri"/>
                  <a:cs typeface="Calibri"/>
                  <a:sym typeface="Calibri"/>
                </a:rPr>
                <a:t>Corn</a:t>
              </a:r>
              <a:endParaRPr/>
            </a:p>
          </p:txBody>
        </p:sp>
      </p:grpSp>
      <p:grpSp>
        <p:nvGrpSpPr>
          <p:cNvPr id="191" name="Google Shape;191;p21"/>
          <p:cNvGrpSpPr/>
          <p:nvPr/>
        </p:nvGrpSpPr>
        <p:grpSpPr>
          <a:xfrm>
            <a:off x="4023360" y="5048202"/>
            <a:ext cx="3108240" cy="803243"/>
            <a:chOff x="0" y="-47625"/>
            <a:chExt cx="4144320" cy="1070991"/>
          </a:xfrm>
        </p:grpSpPr>
        <p:sp>
          <p:nvSpPr>
            <p:cNvPr id="192" name="Google Shape;192;p21"/>
            <p:cNvSpPr/>
            <p:nvPr/>
          </p:nvSpPr>
          <p:spPr>
            <a:xfrm>
              <a:off x="0" y="0"/>
              <a:ext cx="4144320" cy="1023360"/>
            </a:xfrm>
            <a:custGeom>
              <a:rect b="b" l="l" r="r" t="t"/>
              <a:pathLst>
                <a:path extrusionOk="0" h="1023360" w="4144320">
                  <a:moveTo>
                    <a:pt x="0" y="0"/>
                  </a:moveTo>
                  <a:lnTo>
                    <a:pt x="4144320" y="0"/>
                  </a:lnTo>
                  <a:lnTo>
                    <a:pt x="4144320" y="1023360"/>
                  </a:lnTo>
                  <a:lnTo>
                    <a:pt x="0" y="1023360"/>
                  </a:lnTo>
                  <a:close/>
                </a:path>
              </a:pathLst>
            </a:custGeom>
            <a:blipFill rotWithShape="1">
              <a:blip r:embed="rId3">
                <a:alphaModFix amt="0"/>
              </a:blip>
              <a:stretch>
                <a:fillRect b="-28909" l="0" r="0" t="-28907"/>
              </a:stretch>
            </a:blipFill>
            <a:ln>
              <a:noFill/>
            </a:ln>
          </p:spPr>
        </p:sp>
        <p:sp>
          <p:nvSpPr>
            <p:cNvPr id="193" name="Google Shape;193;p21"/>
            <p:cNvSpPr txBox="1"/>
            <p:nvPr/>
          </p:nvSpPr>
          <p:spPr>
            <a:xfrm>
              <a:off x="0" y="-47625"/>
              <a:ext cx="4144315" cy="107099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1E1E1E"/>
                  </a:solidFill>
                  <a:latin typeface="Calibri"/>
                  <a:ea typeface="Calibri"/>
                  <a:cs typeface="Calibri"/>
                  <a:sym typeface="Calibri"/>
                </a:rPr>
                <a:t>4 classes</a:t>
              </a:r>
              <a:endParaRPr/>
            </a:p>
          </p:txBody>
        </p:sp>
      </p:grpSp>
      <p:sp>
        <p:nvSpPr>
          <p:cNvPr id="194" name="Google Shape;194;p21"/>
          <p:cNvSpPr/>
          <p:nvPr/>
        </p:nvSpPr>
        <p:spPr>
          <a:xfrm>
            <a:off x="548640" y="5852160"/>
            <a:ext cx="5852160" cy="767524"/>
          </a:xfrm>
          <a:custGeom>
            <a:rect b="b" l="l" r="r" t="t"/>
            <a:pathLst>
              <a:path extrusionOk="0" h="1023366" w="7802880">
                <a:moveTo>
                  <a:pt x="0" y="0"/>
                </a:moveTo>
                <a:lnTo>
                  <a:pt x="7802880" y="0"/>
                </a:lnTo>
                <a:lnTo>
                  <a:pt x="7802880" y="1023366"/>
                </a:lnTo>
                <a:lnTo>
                  <a:pt x="0" y="1023366"/>
                </a:lnTo>
                <a:close/>
              </a:path>
            </a:pathLst>
          </a:custGeom>
          <a:solidFill>
            <a:srgbClr val="EAF0E6"/>
          </a:solidFill>
          <a:ln>
            <a:noFill/>
          </a:ln>
        </p:spPr>
      </p:sp>
      <p:grpSp>
        <p:nvGrpSpPr>
          <p:cNvPr id="195" name="Google Shape;195;p21"/>
          <p:cNvGrpSpPr/>
          <p:nvPr/>
        </p:nvGrpSpPr>
        <p:grpSpPr>
          <a:xfrm>
            <a:off x="731520" y="5816441"/>
            <a:ext cx="3108240" cy="803243"/>
            <a:chOff x="0" y="-47625"/>
            <a:chExt cx="4144320" cy="1070991"/>
          </a:xfrm>
        </p:grpSpPr>
        <p:sp>
          <p:nvSpPr>
            <p:cNvPr id="196" name="Google Shape;196;p21"/>
            <p:cNvSpPr/>
            <p:nvPr/>
          </p:nvSpPr>
          <p:spPr>
            <a:xfrm>
              <a:off x="0" y="0"/>
              <a:ext cx="4144320" cy="1023360"/>
            </a:xfrm>
            <a:custGeom>
              <a:rect b="b" l="l" r="r" t="t"/>
              <a:pathLst>
                <a:path extrusionOk="0" h="1023360" w="4144320">
                  <a:moveTo>
                    <a:pt x="0" y="0"/>
                  </a:moveTo>
                  <a:lnTo>
                    <a:pt x="4144320" y="0"/>
                  </a:lnTo>
                  <a:lnTo>
                    <a:pt x="4144320" y="1023360"/>
                  </a:lnTo>
                  <a:lnTo>
                    <a:pt x="0" y="1023360"/>
                  </a:lnTo>
                  <a:close/>
                </a:path>
              </a:pathLst>
            </a:custGeom>
            <a:blipFill rotWithShape="1">
              <a:blip r:embed="rId3">
                <a:alphaModFix amt="0"/>
              </a:blip>
              <a:stretch>
                <a:fillRect b="-28909" l="0" r="0" t="-28907"/>
              </a:stretch>
            </a:blipFill>
            <a:ln>
              <a:noFill/>
            </a:ln>
          </p:spPr>
        </p:sp>
        <p:sp>
          <p:nvSpPr>
            <p:cNvPr id="197" name="Google Shape;197;p21"/>
            <p:cNvSpPr txBox="1"/>
            <p:nvPr/>
          </p:nvSpPr>
          <p:spPr>
            <a:xfrm>
              <a:off x="0" y="-47625"/>
              <a:ext cx="4144315" cy="107099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1E1E1E"/>
                  </a:solidFill>
                  <a:latin typeface="Calibri"/>
                  <a:ea typeface="Calibri"/>
                  <a:cs typeface="Calibri"/>
                  <a:sym typeface="Calibri"/>
                </a:rPr>
                <a:t>Potato</a:t>
              </a:r>
              <a:endParaRPr/>
            </a:p>
          </p:txBody>
        </p:sp>
      </p:grpSp>
      <p:grpSp>
        <p:nvGrpSpPr>
          <p:cNvPr id="198" name="Google Shape;198;p21"/>
          <p:cNvGrpSpPr/>
          <p:nvPr/>
        </p:nvGrpSpPr>
        <p:grpSpPr>
          <a:xfrm>
            <a:off x="4023360" y="5816441"/>
            <a:ext cx="3108240" cy="803243"/>
            <a:chOff x="0" y="-47625"/>
            <a:chExt cx="4144320" cy="1070991"/>
          </a:xfrm>
        </p:grpSpPr>
        <p:sp>
          <p:nvSpPr>
            <p:cNvPr id="199" name="Google Shape;199;p21"/>
            <p:cNvSpPr/>
            <p:nvPr/>
          </p:nvSpPr>
          <p:spPr>
            <a:xfrm>
              <a:off x="0" y="0"/>
              <a:ext cx="4144320" cy="1023360"/>
            </a:xfrm>
            <a:custGeom>
              <a:rect b="b" l="l" r="r" t="t"/>
              <a:pathLst>
                <a:path extrusionOk="0" h="1023360" w="4144320">
                  <a:moveTo>
                    <a:pt x="0" y="0"/>
                  </a:moveTo>
                  <a:lnTo>
                    <a:pt x="4144320" y="0"/>
                  </a:lnTo>
                  <a:lnTo>
                    <a:pt x="4144320" y="1023360"/>
                  </a:lnTo>
                  <a:lnTo>
                    <a:pt x="0" y="1023360"/>
                  </a:lnTo>
                  <a:close/>
                </a:path>
              </a:pathLst>
            </a:custGeom>
            <a:blipFill rotWithShape="1">
              <a:blip r:embed="rId3">
                <a:alphaModFix amt="0"/>
              </a:blip>
              <a:stretch>
                <a:fillRect b="-28909" l="0" r="0" t="-28907"/>
              </a:stretch>
            </a:blipFill>
            <a:ln>
              <a:noFill/>
            </a:ln>
          </p:spPr>
        </p:sp>
        <p:sp>
          <p:nvSpPr>
            <p:cNvPr id="200" name="Google Shape;200;p21"/>
            <p:cNvSpPr txBox="1"/>
            <p:nvPr/>
          </p:nvSpPr>
          <p:spPr>
            <a:xfrm>
              <a:off x="0" y="-47625"/>
              <a:ext cx="4144315" cy="107099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1E1E1E"/>
                  </a:solidFill>
                  <a:latin typeface="Calibri"/>
                  <a:ea typeface="Calibri"/>
                  <a:cs typeface="Calibri"/>
                  <a:sym typeface="Calibri"/>
                </a:rPr>
                <a:t>3 classes</a:t>
              </a:r>
              <a:endParaRPr/>
            </a:p>
          </p:txBody>
        </p:sp>
      </p:grpSp>
      <p:sp>
        <p:nvSpPr>
          <p:cNvPr id="201" name="Google Shape;201;p21"/>
          <p:cNvSpPr/>
          <p:nvPr/>
        </p:nvSpPr>
        <p:spPr>
          <a:xfrm>
            <a:off x="548640" y="6620399"/>
            <a:ext cx="5852160" cy="767524"/>
          </a:xfrm>
          <a:custGeom>
            <a:rect b="b" l="l" r="r" t="t"/>
            <a:pathLst>
              <a:path extrusionOk="0" h="1023366" w="7802880">
                <a:moveTo>
                  <a:pt x="0" y="0"/>
                </a:moveTo>
                <a:lnTo>
                  <a:pt x="7802880" y="0"/>
                </a:lnTo>
                <a:lnTo>
                  <a:pt x="7802880" y="1023366"/>
                </a:lnTo>
                <a:lnTo>
                  <a:pt x="0" y="1023366"/>
                </a:lnTo>
                <a:close/>
              </a:path>
            </a:pathLst>
          </a:custGeom>
          <a:solidFill>
            <a:srgbClr val="FFFFFF"/>
          </a:solidFill>
          <a:ln>
            <a:noFill/>
          </a:ln>
        </p:spPr>
      </p:sp>
      <p:grpSp>
        <p:nvGrpSpPr>
          <p:cNvPr id="202" name="Google Shape;202;p21"/>
          <p:cNvGrpSpPr/>
          <p:nvPr/>
        </p:nvGrpSpPr>
        <p:grpSpPr>
          <a:xfrm>
            <a:off x="731520" y="6584680"/>
            <a:ext cx="3108240" cy="803243"/>
            <a:chOff x="0" y="-47625"/>
            <a:chExt cx="4144320" cy="1070991"/>
          </a:xfrm>
        </p:grpSpPr>
        <p:sp>
          <p:nvSpPr>
            <p:cNvPr id="203" name="Google Shape;203;p21"/>
            <p:cNvSpPr/>
            <p:nvPr/>
          </p:nvSpPr>
          <p:spPr>
            <a:xfrm>
              <a:off x="0" y="0"/>
              <a:ext cx="4144320" cy="1023360"/>
            </a:xfrm>
            <a:custGeom>
              <a:rect b="b" l="l" r="r" t="t"/>
              <a:pathLst>
                <a:path extrusionOk="0" h="1023360" w="4144320">
                  <a:moveTo>
                    <a:pt x="0" y="0"/>
                  </a:moveTo>
                  <a:lnTo>
                    <a:pt x="4144320" y="0"/>
                  </a:lnTo>
                  <a:lnTo>
                    <a:pt x="4144320" y="1023360"/>
                  </a:lnTo>
                  <a:lnTo>
                    <a:pt x="0" y="1023360"/>
                  </a:lnTo>
                  <a:close/>
                </a:path>
              </a:pathLst>
            </a:custGeom>
            <a:blipFill rotWithShape="1">
              <a:blip r:embed="rId3">
                <a:alphaModFix amt="0"/>
              </a:blip>
              <a:stretch>
                <a:fillRect b="-28909" l="0" r="0" t="-28907"/>
              </a:stretch>
            </a:blipFill>
            <a:ln>
              <a:noFill/>
            </a:ln>
          </p:spPr>
        </p:sp>
        <p:sp>
          <p:nvSpPr>
            <p:cNvPr id="204" name="Google Shape;204;p21"/>
            <p:cNvSpPr txBox="1"/>
            <p:nvPr/>
          </p:nvSpPr>
          <p:spPr>
            <a:xfrm>
              <a:off x="0" y="-47625"/>
              <a:ext cx="4144315" cy="107099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1E1E1E"/>
                  </a:solidFill>
                  <a:latin typeface="Calibri"/>
                  <a:ea typeface="Calibri"/>
                  <a:cs typeface="Calibri"/>
                  <a:sym typeface="Calibri"/>
                </a:rPr>
                <a:t>Rice</a:t>
              </a:r>
              <a:endParaRPr/>
            </a:p>
          </p:txBody>
        </p:sp>
      </p:grpSp>
      <p:grpSp>
        <p:nvGrpSpPr>
          <p:cNvPr id="205" name="Google Shape;205;p21"/>
          <p:cNvGrpSpPr/>
          <p:nvPr/>
        </p:nvGrpSpPr>
        <p:grpSpPr>
          <a:xfrm>
            <a:off x="4023360" y="6584680"/>
            <a:ext cx="3108240" cy="803243"/>
            <a:chOff x="0" y="-47625"/>
            <a:chExt cx="4144320" cy="1070991"/>
          </a:xfrm>
        </p:grpSpPr>
        <p:sp>
          <p:nvSpPr>
            <p:cNvPr id="206" name="Google Shape;206;p21"/>
            <p:cNvSpPr/>
            <p:nvPr/>
          </p:nvSpPr>
          <p:spPr>
            <a:xfrm>
              <a:off x="0" y="0"/>
              <a:ext cx="4144320" cy="1023360"/>
            </a:xfrm>
            <a:custGeom>
              <a:rect b="b" l="l" r="r" t="t"/>
              <a:pathLst>
                <a:path extrusionOk="0" h="1023360" w="4144320">
                  <a:moveTo>
                    <a:pt x="0" y="0"/>
                  </a:moveTo>
                  <a:lnTo>
                    <a:pt x="4144320" y="0"/>
                  </a:lnTo>
                  <a:lnTo>
                    <a:pt x="4144320" y="1023360"/>
                  </a:lnTo>
                  <a:lnTo>
                    <a:pt x="0" y="1023360"/>
                  </a:lnTo>
                  <a:close/>
                </a:path>
              </a:pathLst>
            </a:custGeom>
            <a:blipFill rotWithShape="1">
              <a:blip r:embed="rId3">
                <a:alphaModFix amt="0"/>
              </a:blip>
              <a:stretch>
                <a:fillRect b="-28909" l="0" r="0" t="-28907"/>
              </a:stretch>
            </a:blipFill>
            <a:ln>
              <a:noFill/>
            </a:ln>
          </p:spPr>
        </p:sp>
        <p:sp>
          <p:nvSpPr>
            <p:cNvPr id="207" name="Google Shape;207;p21"/>
            <p:cNvSpPr txBox="1"/>
            <p:nvPr/>
          </p:nvSpPr>
          <p:spPr>
            <a:xfrm>
              <a:off x="0" y="-47625"/>
              <a:ext cx="4144315" cy="107099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1E1E1E"/>
                  </a:solidFill>
                  <a:latin typeface="Calibri"/>
                  <a:ea typeface="Calibri"/>
                  <a:cs typeface="Calibri"/>
                  <a:sym typeface="Calibri"/>
                </a:rPr>
                <a:t>4 classes</a:t>
              </a:r>
              <a:endParaRPr/>
            </a:p>
          </p:txBody>
        </p:sp>
      </p:grpSp>
      <p:sp>
        <p:nvSpPr>
          <p:cNvPr id="208" name="Google Shape;208;p21"/>
          <p:cNvSpPr/>
          <p:nvPr/>
        </p:nvSpPr>
        <p:spPr>
          <a:xfrm>
            <a:off x="548640" y="7388638"/>
            <a:ext cx="5852160" cy="767524"/>
          </a:xfrm>
          <a:custGeom>
            <a:rect b="b" l="l" r="r" t="t"/>
            <a:pathLst>
              <a:path extrusionOk="0" h="1023366" w="7802880">
                <a:moveTo>
                  <a:pt x="0" y="0"/>
                </a:moveTo>
                <a:lnTo>
                  <a:pt x="7802880" y="0"/>
                </a:lnTo>
                <a:lnTo>
                  <a:pt x="7802880" y="1023366"/>
                </a:lnTo>
                <a:lnTo>
                  <a:pt x="0" y="1023366"/>
                </a:lnTo>
                <a:close/>
              </a:path>
            </a:pathLst>
          </a:custGeom>
          <a:solidFill>
            <a:srgbClr val="EAF0E6"/>
          </a:solidFill>
          <a:ln>
            <a:noFill/>
          </a:ln>
        </p:spPr>
      </p:sp>
      <p:grpSp>
        <p:nvGrpSpPr>
          <p:cNvPr id="209" name="Google Shape;209;p21"/>
          <p:cNvGrpSpPr/>
          <p:nvPr/>
        </p:nvGrpSpPr>
        <p:grpSpPr>
          <a:xfrm>
            <a:off x="731520" y="7352919"/>
            <a:ext cx="3108240" cy="803243"/>
            <a:chOff x="0" y="-47625"/>
            <a:chExt cx="4144320" cy="1070991"/>
          </a:xfrm>
        </p:grpSpPr>
        <p:sp>
          <p:nvSpPr>
            <p:cNvPr id="210" name="Google Shape;210;p21"/>
            <p:cNvSpPr/>
            <p:nvPr/>
          </p:nvSpPr>
          <p:spPr>
            <a:xfrm>
              <a:off x="0" y="0"/>
              <a:ext cx="4144320" cy="1023360"/>
            </a:xfrm>
            <a:custGeom>
              <a:rect b="b" l="l" r="r" t="t"/>
              <a:pathLst>
                <a:path extrusionOk="0" h="1023360" w="4144320">
                  <a:moveTo>
                    <a:pt x="0" y="0"/>
                  </a:moveTo>
                  <a:lnTo>
                    <a:pt x="4144320" y="0"/>
                  </a:lnTo>
                  <a:lnTo>
                    <a:pt x="4144320" y="1023360"/>
                  </a:lnTo>
                  <a:lnTo>
                    <a:pt x="0" y="1023360"/>
                  </a:lnTo>
                  <a:close/>
                </a:path>
              </a:pathLst>
            </a:custGeom>
            <a:blipFill rotWithShape="1">
              <a:blip r:embed="rId3">
                <a:alphaModFix amt="0"/>
              </a:blip>
              <a:stretch>
                <a:fillRect b="-28909" l="0" r="0" t="-28907"/>
              </a:stretch>
            </a:blipFill>
            <a:ln>
              <a:noFill/>
            </a:ln>
          </p:spPr>
        </p:sp>
        <p:sp>
          <p:nvSpPr>
            <p:cNvPr id="211" name="Google Shape;211;p21"/>
            <p:cNvSpPr txBox="1"/>
            <p:nvPr/>
          </p:nvSpPr>
          <p:spPr>
            <a:xfrm>
              <a:off x="0" y="-47625"/>
              <a:ext cx="4144315" cy="107099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1E1E1E"/>
                  </a:solidFill>
                  <a:latin typeface="Calibri"/>
                  <a:ea typeface="Calibri"/>
                  <a:cs typeface="Calibri"/>
                  <a:sym typeface="Calibri"/>
                </a:rPr>
                <a:t>Wheat</a:t>
              </a:r>
              <a:endParaRPr/>
            </a:p>
          </p:txBody>
        </p:sp>
      </p:grpSp>
      <p:grpSp>
        <p:nvGrpSpPr>
          <p:cNvPr id="212" name="Google Shape;212;p21"/>
          <p:cNvGrpSpPr/>
          <p:nvPr/>
        </p:nvGrpSpPr>
        <p:grpSpPr>
          <a:xfrm>
            <a:off x="4023360" y="7352919"/>
            <a:ext cx="3108240" cy="803243"/>
            <a:chOff x="0" y="-47625"/>
            <a:chExt cx="4144320" cy="1070991"/>
          </a:xfrm>
        </p:grpSpPr>
        <p:sp>
          <p:nvSpPr>
            <p:cNvPr id="213" name="Google Shape;213;p21"/>
            <p:cNvSpPr/>
            <p:nvPr/>
          </p:nvSpPr>
          <p:spPr>
            <a:xfrm>
              <a:off x="0" y="0"/>
              <a:ext cx="4144320" cy="1023360"/>
            </a:xfrm>
            <a:custGeom>
              <a:rect b="b" l="l" r="r" t="t"/>
              <a:pathLst>
                <a:path extrusionOk="0" h="1023360" w="4144320">
                  <a:moveTo>
                    <a:pt x="0" y="0"/>
                  </a:moveTo>
                  <a:lnTo>
                    <a:pt x="4144320" y="0"/>
                  </a:lnTo>
                  <a:lnTo>
                    <a:pt x="4144320" y="1023360"/>
                  </a:lnTo>
                  <a:lnTo>
                    <a:pt x="0" y="1023360"/>
                  </a:lnTo>
                  <a:close/>
                </a:path>
              </a:pathLst>
            </a:custGeom>
            <a:blipFill rotWithShape="1">
              <a:blip r:embed="rId3">
                <a:alphaModFix amt="0"/>
              </a:blip>
              <a:stretch>
                <a:fillRect b="-28909" l="0" r="0" t="-28907"/>
              </a:stretch>
            </a:blipFill>
            <a:ln>
              <a:noFill/>
            </a:ln>
          </p:spPr>
        </p:sp>
        <p:sp>
          <p:nvSpPr>
            <p:cNvPr id="214" name="Google Shape;214;p21"/>
            <p:cNvSpPr txBox="1"/>
            <p:nvPr/>
          </p:nvSpPr>
          <p:spPr>
            <a:xfrm>
              <a:off x="0" y="-47625"/>
              <a:ext cx="4144315" cy="107099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1E1E1E"/>
                  </a:solidFill>
                  <a:latin typeface="Calibri"/>
                  <a:ea typeface="Calibri"/>
                  <a:cs typeface="Calibri"/>
                  <a:sym typeface="Calibri"/>
                </a:rPr>
                <a:t>3 classes</a:t>
              </a:r>
              <a:endParaRPr/>
            </a:p>
          </p:txBody>
        </p:sp>
      </p:grpSp>
      <p:sp>
        <p:nvSpPr>
          <p:cNvPr id="215" name="Google Shape;215;p21"/>
          <p:cNvSpPr/>
          <p:nvPr/>
        </p:nvSpPr>
        <p:spPr>
          <a:xfrm>
            <a:off x="548640" y="8156162"/>
            <a:ext cx="5852160" cy="767524"/>
          </a:xfrm>
          <a:custGeom>
            <a:rect b="b" l="l" r="r" t="t"/>
            <a:pathLst>
              <a:path extrusionOk="0" h="1023366" w="7802880">
                <a:moveTo>
                  <a:pt x="0" y="0"/>
                </a:moveTo>
                <a:lnTo>
                  <a:pt x="7802880" y="0"/>
                </a:lnTo>
                <a:lnTo>
                  <a:pt x="7802880" y="1023366"/>
                </a:lnTo>
                <a:lnTo>
                  <a:pt x="0" y="1023366"/>
                </a:lnTo>
                <a:close/>
              </a:path>
            </a:pathLst>
          </a:custGeom>
          <a:solidFill>
            <a:srgbClr val="FFFFFF"/>
          </a:solidFill>
          <a:ln>
            <a:noFill/>
          </a:ln>
        </p:spPr>
      </p:sp>
      <p:grpSp>
        <p:nvGrpSpPr>
          <p:cNvPr id="216" name="Google Shape;216;p21"/>
          <p:cNvGrpSpPr/>
          <p:nvPr/>
        </p:nvGrpSpPr>
        <p:grpSpPr>
          <a:xfrm>
            <a:off x="731520" y="8120443"/>
            <a:ext cx="3108240" cy="803243"/>
            <a:chOff x="0" y="-47625"/>
            <a:chExt cx="4144320" cy="1070991"/>
          </a:xfrm>
        </p:grpSpPr>
        <p:sp>
          <p:nvSpPr>
            <p:cNvPr id="217" name="Google Shape;217;p21"/>
            <p:cNvSpPr/>
            <p:nvPr/>
          </p:nvSpPr>
          <p:spPr>
            <a:xfrm>
              <a:off x="0" y="0"/>
              <a:ext cx="4144320" cy="1023360"/>
            </a:xfrm>
            <a:custGeom>
              <a:rect b="b" l="l" r="r" t="t"/>
              <a:pathLst>
                <a:path extrusionOk="0" h="1023360" w="4144320">
                  <a:moveTo>
                    <a:pt x="0" y="0"/>
                  </a:moveTo>
                  <a:lnTo>
                    <a:pt x="4144320" y="0"/>
                  </a:lnTo>
                  <a:lnTo>
                    <a:pt x="4144320" y="1023360"/>
                  </a:lnTo>
                  <a:lnTo>
                    <a:pt x="0" y="1023360"/>
                  </a:lnTo>
                  <a:close/>
                </a:path>
              </a:pathLst>
            </a:custGeom>
            <a:blipFill rotWithShape="1">
              <a:blip r:embed="rId3">
                <a:alphaModFix amt="0"/>
              </a:blip>
              <a:stretch>
                <a:fillRect b="-28909" l="0" r="0" t="-28907"/>
              </a:stretch>
            </a:blipFill>
            <a:ln>
              <a:noFill/>
            </a:ln>
          </p:spPr>
        </p:sp>
        <p:sp>
          <p:nvSpPr>
            <p:cNvPr id="218" name="Google Shape;218;p21"/>
            <p:cNvSpPr txBox="1"/>
            <p:nvPr/>
          </p:nvSpPr>
          <p:spPr>
            <a:xfrm>
              <a:off x="0" y="-47625"/>
              <a:ext cx="4144315" cy="107099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1E1E1E"/>
                  </a:solidFill>
                  <a:latin typeface="Calibri"/>
                  <a:ea typeface="Calibri"/>
                  <a:cs typeface="Calibri"/>
                  <a:sym typeface="Calibri"/>
                </a:rPr>
                <a:t>Sugarcane</a:t>
              </a:r>
              <a:endParaRPr/>
            </a:p>
          </p:txBody>
        </p:sp>
      </p:grpSp>
      <p:grpSp>
        <p:nvGrpSpPr>
          <p:cNvPr id="219" name="Google Shape;219;p21"/>
          <p:cNvGrpSpPr/>
          <p:nvPr/>
        </p:nvGrpSpPr>
        <p:grpSpPr>
          <a:xfrm>
            <a:off x="4023360" y="8120443"/>
            <a:ext cx="3108240" cy="803243"/>
            <a:chOff x="0" y="-47625"/>
            <a:chExt cx="4144320" cy="1070991"/>
          </a:xfrm>
        </p:grpSpPr>
        <p:sp>
          <p:nvSpPr>
            <p:cNvPr id="220" name="Google Shape;220;p21"/>
            <p:cNvSpPr/>
            <p:nvPr/>
          </p:nvSpPr>
          <p:spPr>
            <a:xfrm>
              <a:off x="0" y="0"/>
              <a:ext cx="4144320" cy="1023360"/>
            </a:xfrm>
            <a:custGeom>
              <a:rect b="b" l="l" r="r" t="t"/>
              <a:pathLst>
                <a:path extrusionOk="0" h="1023360" w="4144320">
                  <a:moveTo>
                    <a:pt x="0" y="0"/>
                  </a:moveTo>
                  <a:lnTo>
                    <a:pt x="4144320" y="0"/>
                  </a:lnTo>
                  <a:lnTo>
                    <a:pt x="4144320" y="1023360"/>
                  </a:lnTo>
                  <a:lnTo>
                    <a:pt x="0" y="1023360"/>
                  </a:lnTo>
                  <a:close/>
                </a:path>
              </a:pathLst>
            </a:custGeom>
            <a:blipFill rotWithShape="1">
              <a:blip r:embed="rId3">
                <a:alphaModFix amt="0"/>
              </a:blip>
              <a:stretch>
                <a:fillRect b="-28909" l="0" r="0" t="-28907"/>
              </a:stretch>
            </a:blipFill>
            <a:ln>
              <a:noFill/>
            </a:ln>
          </p:spPr>
        </p:sp>
        <p:sp>
          <p:nvSpPr>
            <p:cNvPr id="221" name="Google Shape;221;p21"/>
            <p:cNvSpPr txBox="1"/>
            <p:nvPr/>
          </p:nvSpPr>
          <p:spPr>
            <a:xfrm>
              <a:off x="0" y="-47625"/>
              <a:ext cx="4144315" cy="107099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1E1E1E"/>
                  </a:solidFill>
                  <a:latin typeface="Calibri"/>
                  <a:ea typeface="Calibri"/>
                  <a:cs typeface="Calibri"/>
                  <a:sym typeface="Calibri"/>
                </a:rPr>
                <a:t>3 classes</a:t>
              </a:r>
              <a:endParaRPr/>
            </a:p>
          </p:txBody>
        </p:sp>
      </p:grpSp>
      <p:grpSp>
        <p:nvGrpSpPr>
          <p:cNvPr id="222" name="Google Shape;222;p21"/>
          <p:cNvGrpSpPr/>
          <p:nvPr/>
        </p:nvGrpSpPr>
        <p:grpSpPr>
          <a:xfrm>
            <a:off x="548640" y="9319736"/>
            <a:ext cx="17189999" cy="646503"/>
            <a:chOff x="0" y="-9525"/>
            <a:chExt cx="22919999" cy="862005"/>
          </a:xfrm>
        </p:grpSpPr>
        <p:sp>
          <p:nvSpPr>
            <p:cNvPr id="223" name="Google Shape;223;p21"/>
            <p:cNvSpPr/>
            <p:nvPr/>
          </p:nvSpPr>
          <p:spPr>
            <a:xfrm>
              <a:off x="0" y="0"/>
              <a:ext cx="22919999" cy="852480"/>
            </a:xfrm>
            <a:custGeom>
              <a:rect b="b" l="l" r="r" t="t"/>
              <a:pathLst>
                <a:path extrusionOk="0" h="852480" w="22919999">
                  <a:moveTo>
                    <a:pt x="0" y="0"/>
                  </a:moveTo>
                  <a:lnTo>
                    <a:pt x="22919999" y="0"/>
                  </a:lnTo>
                  <a:lnTo>
                    <a:pt x="22919999" y="852480"/>
                  </a:lnTo>
                  <a:lnTo>
                    <a:pt x="0" y="852480"/>
                  </a:lnTo>
                  <a:close/>
                </a:path>
              </a:pathLst>
            </a:custGeom>
            <a:blipFill rotWithShape="1">
              <a:blip r:embed="rId3">
                <a:alphaModFix amt="0"/>
              </a:blip>
              <a:stretch>
                <a:fillRect b="-473890" l="0" r="0" t="-473890"/>
              </a:stretch>
            </a:blipFill>
            <a:ln>
              <a:noFill/>
            </a:ln>
          </p:spPr>
        </p:sp>
        <p:sp>
          <p:nvSpPr>
            <p:cNvPr id="224" name="Google Shape;224;p21"/>
            <p:cNvSpPr txBox="1"/>
            <p:nvPr/>
          </p:nvSpPr>
          <p:spPr>
            <a:xfrm>
              <a:off x="0" y="-9525"/>
              <a:ext cx="22919995" cy="862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1" lang="en-US" sz="2000" u="none" cap="none" strike="noStrike">
                  <a:solidFill>
                    <a:srgbClr val="E07B39"/>
                  </a:solidFill>
                  <a:latin typeface="Arial"/>
                  <a:ea typeface="Arial"/>
                  <a:cs typeface="Arial"/>
                  <a:sym typeface="Arial"/>
                </a:rPr>
                <a:t>⚠️  Sugarcane severely under-represented — addressed via targeted augmentation</a:t>
              </a:r>
              <a:endParaRPr/>
            </a:p>
          </p:txBody>
        </p:sp>
      </p:grpSp>
      <p:sp>
        <p:nvSpPr>
          <p:cNvPr id="225" name="Google Shape;225;p21"/>
          <p:cNvSpPr/>
          <p:nvPr/>
        </p:nvSpPr>
        <p:spPr>
          <a:xfrm>
            <a:off x="6858000" y="4741202"/>
            <a:ext cx="10673239" cy="3945636"/>
          </a:xfrm>
          <a:custGeom>
            <a:rect b="b" l="l" r="r" t="t"/>
            <a:pathLst>
              <a:path extrusionOk="0" h="5260848" w="14230986">
                <a:moveTo>
                  <a:pt x="0" y="0"/>
                </a:moveTo>
                <a:lnTo>
                  <a:pt x="14230986" y="0"/>
                </a:lnTo>
                <a:lnTo>
                  <a:pt x="14230986" y="5260848"/>
                </a:lnTo>
                <a:lnTo>
                  <a:pt x="0" y="5260848"/>
                </a:lnTo>
                <a:lnTo>
                  <a:pt x="0" y="0"/>
                </a:lnTo>
                <a:close/>
              </a:path>
            </a:pathLst>
          </a:custGeom>
          <a:blipFill rotWithShape="1">
            <a:blip r:embed="rId4">
              <a:alphaModFix/>
            </a:blip>
            <a:stretch>
              <a:fillRect b="-9" l="0" r="0" t="-10"/>
            </a:stretch>
          </a:blipFill>
          <a:ln>
            <a:noFill/>
          </a:ln>
        </p:spPr>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EF"/>
        </a:solidFill>
      </p:bgPr>
    </p:bg>
    <p:spTree>
      <p:nvGrpSpPr>
        <p:cNvPr id="233" name="Shape 233"/>
        <p:cNvGrpSpPr/>
        <p:nvPr/>
      </p:nvGrpSpPr>
      <p:grpSpPr>
        <a:xfrm>
          <a:off x="0" y="0"/>
          <a:ext cx="0" cy="0"/>
          <a:chOff x="0" y="0"/>
          <a:chExt cx="0" cy="0"/>
        </a:xfrm>
      </p:grpSpPr>
      <p:sp>
        <p:nvSpPr>
          <p:cNvPr id="234" name="Google Shape;234;p22"/>
          <p:cNvSpPr/>
          <p:nvPr/>
        </p:nvSpPr>
        <p:spPr>
          <a:xfrm>
            <a:off x="0" y="0"/>
            <a:ext cx="18287239" cy="1370838"/>
          </a:xfrm>
          <a:custGeom>
            <a:rect b="b" l="l" r="r" t="t"/>
            <a:pathLst>
              <a:path extrusionOk="0" h="1827784" w="24382985">
                <a:moveTo>
                  <a:pt x="0" y="0"/>
                </a:moveTo>
                <a:lnTo>
                  <a:pt x="24382985" y="0"/>
                </a:lnTo>
                <a:lnTo>
                  <a:pt x="24382985" y="1827784"/>
                </a:lnTo>
                <a:lnTo>
                  <a:pt x="0" y="1827784"/>
                </a:lnTo>
                <a:close/>
              </a:path>
            </a:pathLst>
          </a:custGeom>
          <a:solidFill>
            <a:srgbClr val="1A3C2B"/>
          </a:solidFill>
          <a:ln>
            <a:noFill/>
          </a:ln>
        </p:spPr>
      </p:sp>
      <p:grpSp>
        <p:nvGrpSpPr>
          <p:cNvPr id="235" name="Google Shape;235;p22"/>
          <p:cNvGrpSpPr/>
          <p:nvPr/>
        </p:nvGrpSpPr>
        <p:grpSpPr>
          <a:xfrm>
            <a:off x="731520" y="-57150"/>
            <a:ext cx="16824240" cy="1428034"/>
            <a:chOff x="0" y="-76200"/>
            <a:chExt cx="22432321" cy="1904045"/>
          </a:xfrm>
        </p:grpSpPr>
        <p:sp>
          <p:nvSpPr>
            <p:cNvPr id="236" name="Google Shape;236;p22"/>
            <p:cNvSpPr/>
            <p:nvPr/>
          </p:nvSpPr>
          <p:spPr>
            <a:xfrm>
              <a:off x="0" y="0"/>
              <a:ext cx="22432321" cy="1827845"/>
            </a:xfrm>
            <a:custGeom>
              <a:rect b="b" l="l" r="r" t="t"/>
              <a:pathLst>
                <a:path extrusionOk="0" h="1827845" w="22432321">
                  <a:moveTo>
                    <a:pt x="0" y="0"/>
                  </a:moveTo>
                  <a:lnTo>
                    <a:pt x="22432321" y="0"/>
                  </a:lnTo>
                  <a:lnTo>
                    <a:pt x="22432321" y="1827845"/>
                  </a:lnTo>
                  <a:lnTo>
                    <a:pt x="0" y="1827845"/>
                  </a:lnTo>
                  <a:close/>
                </a:path>
              </a:pathLst>
            </a:custGeom>
            <a:blipFill rotWithShape="1">
              <a:blip r:embed="rId3">
                <a:alphaModFix amt="0"/>
              </a:blip>
              <a:stretch>
                <a:fillRect b="-189129" l="0" r="0" t="-189134"/>
              </a:stretch>
            </a:blipFill>
            <a:ln>
              <a:noFill/>
            </a:ln>
          </p:spPr>
        </p:sp>
        <p:sp>
          <p:nvSpPr>
            <p:cNvPr id="237" name="Google Shape;237;p22"/>
            <p:cNvSpPr txBox="1"/>
            <p:nvPr/>
          </p:nvSpPr>
          <p:spPr>
            <a:xfrm>
              <a:off x="0" y="-76200"/>
              <a:ext cx="22432315" cy="19040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000" u="none" cap="none" strike="noStrike">
                  <a:solidFill>
                    <a:srgbClr val="FFFFFF"/>
                  </a:solidFill>
                  <a:latin typeface="Calibri"/>
                  <a:ea typeface="Calibri"/>
                  <a:cs typeface="Calibri"/>
                  <a:sym typeface="Calibri"/>
                </a:rPr>
                <a:t>DATASET EXAMPLES</a:t>
              </a:r>
              <a:endParaRPr/>
            </a:p>
          </p:txBody>
        </p:sp>
      </p:grpSp>
      <p:sp>
        <p:nvSpPr>
          <p:cNvPr id="238" name="Google Shape;238;p22"/>
          <p:cNvSpPr/>
          <p:nvPr/>
        </p:nvSpPr>
        <p:spPr>
          <a:xfrm>
            <a:off x="2097100" y="2333195"/>
            <a:ext cx="6349012" cy="6356958"/>
          </a:xfrm>
          <a:custGeom>
            <a:rect b="b" l="l" r="r" t="t"/>
            <a:pathLst>
              <a:path extrusionOk="0" h="6356958" w="6349012">
                <a:moveTo>
                  <a:pt x="0" y="0"/>
                </a:moveTo>
                <a:lnTo>
                  <a:pt x="6349012" y="0"/>
                </a:lnTo>
                <a:lnTo>
                  <a:pt x="6349012" y="6356958"/>
                </a:lnTo>
                <a:lnTo>
                  <a:pt x="0" y="6356958"/>
                </a:lnTo>
                <a:lnTo>
                  <a:pt x="0" y="0"/>
                </a:lnTo>
                <a:close/>
              </a:path>
            </a:pathLst>
          </a:custGeom>
          <a:blipFill rotWithShape="1">
            <a:blip r:embed="rId4">
              <a:alphaModFix/>
            </a:blip>
            <a:stretch>
              <a:fillRect b="0" l="0" r="0" t="0"/>
            </a:stretch>
          </a:blipFill>
          <a:ln cap="sq" cmpd="sng" w="38100">
            <a:solidFill>
              <a:srgbClr val="000000"/>
            </a:solidFill>
            <a:prstDash val="solid"/>
            <a:miter lim="8000"/>
            <a:headEnd len="sm" w="sm" type="none"/>
            <a:tailEnd len="sm" w="sm" type="none"/>
          </a:ln>
        </p:spPr>
      </p:sp>
      <p:sp>
        <p:nvSpPr>
          <p:cNvPr id="239" name="Google Shape;239;p22"/>
          <p:cNvSpPr/>
          <p:nvPr/>
        </p:nvSpPr>
        <p:spPr>
          <a:xfrm>
            <a:off x="9802156" y="2367457"/>
            <a:ext cx="6388021" cy="6348095"/>
          </a:xfrm>
          <a:custGeom>
            <a:rect b="b" l="l" r="r" t="t"/>
            <a:pathLst>
              <a:path extrusionOk="0" h="6348095" w="6388021">
                <a:moveTo>
                  <a:pt x="0" y="0"/>
                </a:moveTo>
                <a:lnTo>
                  <a:pt x="6388020" y="0"/>
                </a:lnTo>
                <a:lnTo>
                  <a:pt x="6388020" y="6348096"/>
                </a:lnTo>
                <a:lnTo>
                  <a:pt x="0" y="6348096"/>
                </a:lnTo>
                <a:lnTo>
                  <a:pt x="0" y="0"/>
                </a:lnTo>
                <a:close/>
              </a:path>
            </a:pathLst>
          </a:custGeom>
          <a:blipFill rotWithShape="1">
            <a:blip r:embed="rId5">
              <a:alphaModFix/>
            </a:blip>
            <a:stretch>
              <a:fillRect b="0" l="0" r="0" t="0"/>
            </a:stretch>
          </a:blipFill>
          <a:ln cap="sq" cmpd="sng" w="38100">
            <a:solidFill>
              <a:srgbClr val="000000"/>
            </a:solidFill>
            <a:prstDash val="solid"/>
            <a:miter lim="8000"/>
            <a:headEnd len="sm" w="sm" type="none"/>
            <a:tailEnd len="sm" w="sm" type="none"/>
          </a:ln>
        </p:spPr>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EF"/>
        </a:solidFill>
      </p:bgPr>
    </p:bg>
    <p:spTree>
      <p:nvGrpSpPr>
        <p:cNvPr id="247" name="Shape 247"/>
        <p:cNvGrpSpPr/>
        <p:nvPr/>
      </p:nvGrpSpPr>
      <p:grpSpPr>
        <a:xfrm>
          <a:off x="0" y="0"/>
          <a:ext cx="0" cy="0"/>
          <a:chOff x="0" y="0"/>
          <a:chExt cx="0" cy="0"/>
        </a:xfrm>
      </p:grpSpPr>
      <p:sp>
        <p:nvSpPr>
          <p:cNvPr id="248" name="Google Shape;248;p23"/>
          <p:cNvSpPr/>
          <p:nvPr/>
        </p:nvSpPr>
        <p:spPr>
          <a:xfrm>
            <a:off x="0" y="0"/>
            <a:ext cx="18287239" cy="1370838"/>
          </a:xfrm>
          <a:custGeom>
            <a:rect b="b" l="l" r="r" t="t"/>
            <a:pathLst>
              <a:path extrusionOk="0" h="1827784" w="24382985">
                <a:moveTo>
                  <a:pt x="0" y="0"/>
                </a:moveTo>
                <a:lnTo>
                  <a:pt x="24382985" y="0"/>
                </a:lnTo>
                <a:lnTo>
                  <a:pt x="24382985" y="1827784"/>
                </a:lnTo>
                <a:lnTo>
                  <a:pt x="0" y="1827784"/>
                </a:lnTo>
                <a:close/>
              </a:path>
            </a:pathLst>
          </a:custGeom>
          <a:solidFill>
            <a:srgbClr val="1A3C2B"/>
          </a:solidFill>
          <a:ln>
            <a:noFill/>
          </a:ln>
        </p:spPr>
      </p:sp>
      <p:grpSp>
        <p:nvGrpSpPr>
          <p:cNvPr id="249" name="Google Shape;249;p23"/>
          <p:cNvGrpSpPr/>
          <p:nvPr/>
        </p:nvGrpSpPr>
        <p:grpSpPr>
          <a:xfrm>
            <a:off x="731520" y="-57150"/>
            <a:ext cx="16824240" cy="1428030"/>
            <a:chOff x="0" y="-76200"/>
            <a:chExt cx="22432321" cy="1904040"/>
          </a:xfrm>
        </p:grpSpPr>
        <p:sp>
          <p:nvSpPr>
            <p:cNvPr id="250" name="Google Shape;250;p23"/>
            <p:cNvSpPr/>
            <p:nvPr/>
          </p:nvSpPr>
          <p:spPr>
            <a:xfrm>
              <a:off x="0" y="0"/>
              <a:ext cx="22432321" cy="1827840"/>
            </a:xfrm>
            <a:custGeom>
              <a:rect b="b" l="l" r="r" t="t"/>
              <a:pathLst>
                <a:path extrusionOk="0" h="1827840" w="22432321">
                  <a:moveTo>
                    <a:pt x="0" y="0"/>
                  </a:moveTo>
                  <a:lnTo>
                    <a:pt x="22432321" y="0"/>
                  </a:lnTo>
                  <a:lnTo>
                    <a:pt x="22432321" y="1827840"/>
                  </a:lnTo>
                  <a:lnTo>
                    <a:pt x="0" y="1827840"/>
                  </a:lnTo>
                  <a:close/>
                </a:path>
              </a:pathLst>
            </a:custGeom>
            <a:blipFill rotWithShape="1">
              <a:blip r:embed="rId3">
                <a:alphaModFix amt="0"/>
              </a:blip>
              <a:stretch>
                <a:fillRect b="-189120" l="0" r="0" t="-189120"/>
              </a:stretch>
            </a:blipFill>
            <a:ln>
              <a:noFill/>
            </a:ln>
          </p:spPr>
        </p:sp>
        <p:sp>
          <p:nvSpPr>
            <p:cNvPr id="251" name="Google Shape;251;p23"/>
            <p:cNvSpPr txBox="1"/>
            <p:nvPr/>
          </p:nvSpPr>
          <p:spPr>
            <a:xfrm>
              <a:off x="0" y="-76200"/>
              <a:ext cx="22432315" cy="19040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000" u="none" cap="none" strike="noStrike">
                  <a:solidFill>
                    <a:srgbClr val="FFFFFF"/>
                  </a:solidFill>
                  <a:latin typeface="Calibri"/>
                  <a:ea typeface="Calibri"/>
                  <a:cs typeface="Calibri"/>
                  <a:sym typeface="Calibri"/>
                </a:rPr>
                <a:t>EXPLORATORY DATA ANALYSIS — KEY FINDINGS</a:t>
              </a:r>
              <a:endParaRPr/>
            </a:p>
          </p:txBody>
        </p:sp>
      </p:grpSp>
      <p:sp>
        <p:nvSpPr>
          <p:cNvPr id="252" name="Google Shape;252;p23"/>
          <p:cNvSpPr/>
          <p:nvPr/>
        </p:nvSpPr>
        <p:spPr>
          <a:xfrm>
            <a:off x="548640" y="1737360"/>
            <a:ext cx="5485638" cy="3656838"/>
          </a:xfrm>
          <a:custGeom>
            <a:rect b="b" l="l" r="r" t="t"/>
            <a:pathLst>
              <a:path extrusionOk="0" h="4875784" w="7314184">
                <a:moveTo>
                  <a:pt x="0" y="0"/>
                </a:moveTo>
                <a:lnTo>
                  <a:pt x="7314184" y="0"/>
                </a:lnTo>
                <a:lnTo>
                  <a:pt x="7314184" y="4875784"/>
                </a:lnTo>
                <a:lnTo>
                  <a:pt x="0" y="4875784"/>
                </a:lnTo>
                <a:close/>
              </a:path>
            </a:pathLst>
          </a:custGeom>
          <a:solidFill>
            <a:srgbClr val="FFFFFF"/>
          </a:solidFill>
          <a:ln>
            <a:noFill/>
          </a:ln>
        </p:spPr>
      </p:sp>
      <p:sp>
        <p:nvSpPr>
          <p:cNvPr id="253" name="Google Shape;253;p23"/>
          <p:cNvSpPr/>
          <p:nvPr/>
        </p:nvSpPr>
        <p:spPr>
          <a:xfrm>
            <a:off x="548640" y="1737360"/>
            <a:ext cx="164116" cy="3656838"/>
          </a:xfrm>
          <a:custGeom>
            <a:rect b="b" l="l" r="r" t="t"/>
            <a:pathLst>
              <a:path extrusionOk="0" h="4875784" w="218821">
                <a:moveTo>
                  <a:pt x="0" y="0"/>
                </a:moveTo>
                <a:lnTo>
                  <a:pt x="218821" y="0"/>
                </a:lnTo>
                <a:lnTo>
                  <a:pt x="218821" y="4875784"/>
                </a:lnTo>
                <a:lnTo>
                  <a:pt x="0" y="4875784"/>
                </a:lnTo>
                <a:close/>
              </a:path>
            </a:pathLst>
          </a:custGeom>
          <a:solidFill>
            <a:srgbClr val="97BC62"/>
          </a:solidFill>
          <a:ln>
            <a:noFill/>
          </a:ln>
        </p:spPr>
      </p:sp>
      <p:grpSp>
        <p:nvGrpSpPr>
          <p:cNvPr id="254" name="Google Shape;254;p23"/>
          <p:cNvGrpSpPr/>
          <p:nvPr/>
        </p:nvGrpSpPr>
        <p:grpSpPr>
          <a:xfrm>
            <a:off x="877681" y="1949815"/>
            <a:ext cx="4937040" cy="737943"/>
            <a:chOff x="0" y="-9525"/>
            <a:chExt cx="6582720" cy="983925"/>
          </a:xfrm>
        </p:grpSpPr>
        <p:sp>
          <p:nvSpPr>
            <p:cNvPr id="255" name="Google Shape;255;p23"/>
            <p:cNvSpPr/>
            <p:nvPr/>
          </p:nvSpPr>
          <p:spPr>
            <a:xfrm>
              <a:off x="0" y="0"/>
              <a:ext cx="6582720" cy="974400"/>
            </a:xfrm>
            <a:custGeom>
              <a:rect b="b" l="l" r="r" t="t"/>
              <a:pathLst>
                <a:path extrusionOk="0" h="974400" w="6582720">
                  <a:moveTo>
                    <a:pt x="0" y="0"/>
                  </a:moveTo>
                  <a:lnTo>
                    <a:pt x="6582720" y="0"/>
                  </a:lnTo>
                  <a:lnTo>
                    <a:pt x="6582720" y="974400"/>
                  </a:lnTo>
                  <a:lnTo>
                    <a:pt x="0" y="974400"/>
                  </a:lnTo>
                  <a:close/>
                </a:path>
              </a:pathLst>
            </a:custGeom>
            <a:blipFill rotWithShape="1">
              <a:blip r:embed="rId3">
                <a:alphaModFix amt="0"/>
              </a:blip>
              <a:stretch>
                <a:fillRect b="-81634" l="0" r="0" t="-81634"/>
              </a:stretch>
            </a:blipFill>
            <a:ln>
              <a:noFill/>
            </a:ln>
          </p:spPr>
        </p:sp>
        <p:sp>
          <p:nvSpPr>
            <p:cNvPr id="256" name="Google Shape;256;p23"/>
            <p:cNvSpPr txBox="1"/>
            <p:nvPr/>
          </p:nvSpPr>
          <p:spPr>
            <a:xfrm>
              <a:off x="0" y="-9525"/>
              <a:ext cx="6582715" cy="983920"/>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None/>
              </a:pPr>
              <a:r>
                <a:rPr b="1" i="0" lang="en-US" sz="2400" u="none" cap="none" strike="noStrike">
                  <a:solidFill>
                    <a:srgbClr val="1A3C2B"/>
                  </a:solidFill>
                  <a:latin typeface="Arial"/>
                  <a:ea typeface="Arial"/>
                  <a:cs typeface="Arial"/>
                  <a:sym typeface="Arial"/>
                </a:rPr>
                <a:t>📐 Image Dimensions</a:t>
              </a:r>
              <a:endParaRPr/>
            </a:p>
          </p:txBody>
        </p:sp>
      </p:grpSp>
      <p:grpSp>
        <p:nvGrpSpPr>
          <p:cNvPr id="257" name="Google Shape;257;p23"/>
          <p:cNvGrpSpPr/>
          <p:nvPr/>
        </p:nvGrpSpPr>
        <p:grpSpPr>
          <a:xfrm>
            <a:off x="877681" y="2636044"/>
            <a:ext cx="4937040" cy="2483876"/>
            <a:chOff x="0" y="-142875"/>
            <a:chExt cx="6582720" cy="3311835"/>
          </a:xfrm>
        </p:grpSpPr>
        <p:sp>
          <p:nvSpPr>
            <p:cNvPr id="258" name="Google Shape;258;p23"/>
            <p:cNvSpPr/>
            <p:nvPr/>
          </p:nvSpPr>
          <p:spPr>
            <a:xfrm>
              <a:off x="0" y="0"/>
              <a:ext cx="6582720" cy="3168960"/>
            </a:xfrm>
            <a:custGeom>
              <a:rect b="b" l="l" r="r" t="t"/>
              <a:pathLst>
                <a:path extrusionOk="0" h="3168960" w="6582720">
                  <a:moveTo>
                    <a:pt x="0" y="0"/>
                  </a:moveTo>
                  <a:lnTo>
                    <a:pt x="6582720" y="0"/>
                  </a:lnTo>
                  <a:lnTo>
                    <a:pt x="6582720" y="3168960"/>
                  </a:lnTo>
                  <a:lnTo>
                    <a:pt x="0" y="3168960"/>
                  </a:lnTo>
                  <a:close/>
                </a:path>
              </a:pathLst>
            </a:custGeom>
            <a:blipFill rotWithShape="1">
              <a:blip r:embed="rId3">
                <a:alphaModFix amt="0"/>
              </a:blip>
              <a:stretch>
                <a:fillRect b="0" l="-11766" r="-11765" t="0"/>
              </a:stretch>
            </a:blipFill>
            <a:ln>
              <a:noFill/>
            </a:ln>
          </p:spPr>
        </p:sp>
        <p:sp>
          <p:nvSpPr>
            <p:cNvPr id="259" name="Google Shape;259;p23"/>
            <p:cNvSpPr txBox="1"/>
            <p:nvPr/>
          </p:nvSpPr>
          <p:spPr>
            <a:xfrm>
              <a:off x="0" y="-142875"/>
              <a:ext cx="6582715" cy="3311830"/>
            </a:xfrm>
            <a:prstGeom prst="rect">
              <a:avLst/>
            </a:prstGeom>
            <a:noFill/>
            <a:ln>
              <a:noFill/>
            </a:ln>
          </p:spPr>
          <p:txBody>
            <a:bodyPr anchorCtr="0" anchor="ctr" bIns="0" lIns="0" spcFirstLastPara="1" rIns="0" wrap="square" tIns="0">
              <a:noAutofit/>
            </a:bodyPr>
            <a:lstStyle/>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Extreme variability:</a:t>
              </a:r>
              <a:endParaRPr/>
            </a:p>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16px → 6,000px width</a:t>
              </a:r>
              <a:endParaRPr/>
            </a:p>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Mandatory resize to 224×224</a:t>
              </a:r>
              <a:endParaRPr/>
            </a:p>
          </p:txBody>
        </p:sp>
      </p:grpSp>
      <p:sp>
        <p:nvSpPr>
          <p:cNvPr id="260" name="Google Shape;260;p23"/>
          <p:cNvSpPr/>
          <p:nvPr/>
        </p:nvSpPr>
        <p:spPr>
          <a:xfrm>
            <a:off x="6400800" y="1737360"/>
            <a:ext cx="5485638" cy="3656838"/>
          </a:xfrm>
          <a:custGeom>
            <a:rect b="b" l="l" r="r" t="t"/>
            <a:pathLst>
              <a:path extrusionOk="0" h="4875784" w="7314184">
                <a:moveTo>
                  <a:pt x="0" y="0"/>
                </a:moveTo>
                <a:lnTo>
                  <a:pt x="7314184" y="0"/>
                </a:lnTo>
                <a:lnTo>
                  <a:pt x="7314184" y="4875784"/>
                </a:lnTo>
                <a:lnTo>
                  <a:pt x="0" y="4875784"/>
                </a:lnTo>
                <a:close/>
              </a:path>
            </a:pathLst>
          </a:custGeom>
          <a:solidFill>
            <a:srgbClr val="FFFFFF"/>
          </a:solidFill>
          <a:ln>
            <a:noFill/>
          </a:ln>
        </p:spPr>
      </p:sp>
      <p:sp>
        <p:nvSpPr>
          <p:cNvPr id="261" name="Google Shape;261;p23"/>
          <p:cNvSpPr/>
          <p:nvPr/>
        </p:nvSpPr>
        <p:spPr>
          <a:xfrm>
            <a:off x="6400800" y="1737360"/>
            <a:ext cx="164116" cy="3656838"/>
          </a:xfrm>
          <a:custGeom>
            <a:rect b="b" l="l" r="r" t="t"/>
            <a:pathLst>
              <a:path extrusionOk="0" h="4875784" w="218821">
                <a:moveTo>
                  <a:pt x="0" y="0"/>
                </a:moveTo>
                <a:lnTo>
                  <a:pt x="218821" y="0"/>
                </a:lnTo>
                <a:lnTo>
                  <a:pt x="218821" y="4875784"/>
                </a:lnTo>
                <a:lnTo>
                  <a:pt x="0" y="4875784"/>
                </a:lnTo>
                <a:close/>
              </a:path>
            </a:pathLst>
          </a:custGeom>
          <a:solidFill>
            <a:srgbClr val="97BC62"/>
          </a:solidFill>
          <a:ln>
            <a:noFill/>
          </a:ln>
        </p:spPr>
      </p:sp>
      <p:grpSp>
        <p:nvGrpSpPr>
          <p:cNvPr id="262" name="Google Shape;262;p23"/>
          <p:cNvGrpSpPr/>
          <p:nvPr/>
        </p:nvGrpSpPr>
        <p:grpSpPr>
          <a:xfrm>
            <a:off x="6729841" y="1949815"/>
            <a:ext cx="4937040" cy="737943"/>
            <a:chOff x="0" y="-9525"/>
            <a:chExt cx="6582720" cy="983925"/>
          </a:xfrm>
        </p:grpSpPr>
        <p:sp>
          <p:nvSpPr>
            <p:cNvPr id="263" name="Google Shape;263;p23"/>
            <p:cNvSpPr/>
            <p:nvPr/>
          </p:nvSpPr>
          <p:spPr>
            <a:xfrm>
              <a:off x="0" y="0"/>
              <a:ext cx="6582720" cy="974400"/>
            </a:xfrm>
            <a:custGeom>
              <a:rect b="b" l="l" r="r" t="t"/>
              <a:pathLst>
                <a:path extrusionOk="0" h="974400" w="6582720">
                  <a:moveTo>
                    <a:pt x="0" y="0"/>
                  </a:moveTo>
                  <a:lnTo>
                    <a:pt x="6582720" y="0"/>
                  </a:lnTo>
                  <a:lnTo>
                    <a:pt x="6582720" y="974400"/>
                  </a:lnTo>
                  <a:lnTo>
                    <a:pt x="0" y="974400"/>
                  </a:lnTo>
                  <a:close/>
                </a:path>
              </a:pathLst>
            </a:custGeom>
            <a:blipFill rotWithShape="1">
              <a:blip r:embed="rId3">
                <a:alphaModFix amt="0"/>
              </a:blip>
              <a:stretch>
                <a:fillRect b="-81634" l="0" r="0" t="-81634"/>
              </a:stretch>
            </a:blipFill>
            <a:ln>
              <a:noFill/>
            </a:ln>
          </p:spPr>
        </p:sp>
        <p:sp>
          <p:nvSpPr>
            <p:cNvPr id="264" name="Google Shape;264;p23"/>
            <p:cNvSpPr txBox="1"/>
            <p:nvPr/>
          </p:nvSpPr>
          <p:spPr>
            <a:xfrm>
              <a:off x="0" y="-9525"/>
              <a:ext cx="6582715" cy="983920"/>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None/>
              </a:pPr>
              <a:r>
                <a:rPr b="1" i="0" lang="en-US" sz="2400" u="none" cap="none" strike="noStrike">
                  <a:solidFill>
                    <a:srgbClr val="1A3C2B"/>
                  </a:solidFill>
                  <a:latin typeface="Arial"/>
                  <a:ea typeface="Arial"/>
                  <a:cs typeface="Arial"/>
                  <a:sym typeface="Arial"/>
                </a:rPr>
                <a:t>🎨 Color Channels</a:t>
              </a:r>
              <a:endParaRPr/>
            </a:p>
          </p:txBody>
        </p:sp>
      </p:grpSp>
      <p:grpSp>
        <p:nvGrpSpPr>
          <p:cNvPr id="265" name="Google Shape;265;p23"/>
          <p:cNvGrpSpPr/>
          <p:nvPr/>
        </p:nvGrpSpPr>
        <p:grpSpPr>
          <a:xfrm>
            <a:off x="6729841" y="2636044"/>
            <a:ext cx="4937040" cy="2483876"/>
            <a:chOff x="0" y="-142875"/>
            <a:chExt cx="6582720" cy="3311835"/>
          </a:xfrm>
        </p:grpSpPr>
        <p:sp>
          <p:nvSpPr>
            <p:cNvPr id="266" name="Google Shape;266;p23"/>
            <p:cNvSpPr/>
            <p:nvPr/>
          </p:nvSpPr>
          <p:spPr>
            <a:xfrm>
              <a:off x="0" y="0"/>
              <a:ext cx="6582720" cy="3168960"/>
            </a:xfrm>
            <a:custGeom>
              <a:rect b="b" l="l" r="r" t="t"/>
              <a:pathLst>
                <a:path extrusionOk="0" h="3168960" w="6582720">
                  <a:moveTo>
                    <a:pt x="0" y="0"/>
                  </a:moveTo>
                  <a:lnTo>
                    <a:pt x="6582720" y="0"/>
                  </a:lnTo>
                  <a:lnTo>
                    <a:pt x="6582720" y="3168960"/>
                  </a:lnTo>
                  <a:lnTo>
                    <a:pt x="0" y="3168960"/>
                  </a:lnTo>
                  <a:close/>
                </a:path>
              </a:pathLst>
            </a:custGeom>
            <a:blipFill rotWithShape="1">
              <a:blip r:embed="rId3">
                <a:alphaModFix amt="0"/>
              </a:blip>
              <a:stretch>
                <a:fillRect b="0" l="-11766" r="-11765" t="0"/>
              </a:stretch>
            </a:blipFill>
            <a:ln>
              <a:noFill/>
            </a:ln>
          </p:spPr>
        </p:sp>
        <p:sp>
          <p:nvSpPr>
            <p:cNvPr id="267" name="Google Shape;267;p23"/>
            <p:cNvSpPr txBox="1"/>
            <p:nvPr/>
          </p:nvSpPr>
          <p:spPr>
            <a:xfrm>
              <a:off x="0" y="-142875"/>
              <a:ext cx="6582715" cy="3311830"/>
            </a:xfrm>
            <a:prstGeom prst="rect">
              <a:avLst/>
            </a:prstGeom>
            <a:noFill/>
            <a:ln>
              <a:noFill/>
            </a:ln>
          </p:spPr>
          <p:txBody>
            <a:bodyPr anchorCtr="0" anchor="ctr" bIns="0" lIns="0" spcFirstLastPara="1" rIns="0" wrap="square" tIns="0">
              <a:noAutofit/>
            </a:bodyPr>
            <a:lstStyle/>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All 13,324 images confirmed</a:t>
              </a:r>
              <a:endParaRPr/>
            </a:p>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RGB (3-channel)</a:t>
              </a:r>
              <a:endParaRPr/>
            </a:p>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No grayscale or RGBA found</a:t>
              </a:r>
              <a:endParaRPr/>
            </a:p>
          </p:txBody>
        </p:sp>
      </p:grpSp>
      <p:sp>
        <p:nvSpPr>
          <p:cNvPr id="268" name="Google Shape;268;p23"/>
          <p:cNvSpPr/>
          <p:nvPr/>
        </p:nvSpPr>
        <p:spPr>
          <a:xfrm>
            <a:off x="12252960" y="1737360"/>
            <a:ext cx="5485638" cy="3656838"/>
          </a:xfrm>
          <a:custGeom>
            <a:rect b="b" l="l" r="r" t="t"/>
            <a:pathLst>
              <a:path extrusionOk="0" h="4875784" w="7314184">
                <a:moveTo>
                  <a:pt x="0" y="0"/>
                </a:moveTo>
                <a:lnTo>
                  <a:pt x="7314184" y="0"/>
                </a:lnTo>
                <a:lnTo>
                  <a:pt x="7314184" y="4875784"/>
                </a:lnTo>
                <a:lnTo>
                  <a:pt x="0" y="4875784"/>
                </a:lnTo>
                <a:close/>
              </a:path>
            </a:pathLst>
          </a:custGeom>
          <a:solidFill>
            <a:srgbClr val="FFFFFF"/>
          </a:solidFill>
          <a:ln>
            <a:noFill/>
          </a:ln>
        </p:spPr>
      </p:sp>
      <p:sp>
        <p:nvSpPr>
          <p:cNvPr id="269" name="Google Shape;269;p23"/>
          <p:cNvSpPr/>
          <p:nvPr/>
        </p:nvSpPr>
        <p:spPr>
          <a:xfrm>
            <a:off x="12252960" y="1737360"/>
            <a:ext cx="164116" cy="3656838"/>
          </a:xfrm>
          <a:custGeom>
            <a:rect b="b" l="l" r="r" t="t"/>
            <a:pathLst>
              <a:path extrusionOk="0" h="4875784" w="218821">
                <a:moveTo>
                  <a:pt x="0" y="0"/>
                </a:moveTo>
                <a:lnTo>
                  <a:pt x="218821" y="0"/>
                </a:lnTo>
                <a:lnTo>
                  <a:pt x="218821" y="4875784"/>
                </a:lnTo>
                <a:lnTo>
                  <a:pt x="0" y="4875784"/>
                </a:lnTo>
                <a:close/>
              </a:path>
            </a:pathLst>
          </a:custGeom>
          <a:solidFill>
            <a:srgbClr val="97BC62"/>
          </a:solidFill>
          <a:ln>
            <a:noFill/>
          </a:ln>
        </p:spPr>
      </p:sp>
      <p:grpSp>
        <p:nvGrpSpPr>
          <p:cNvPr id="270" name="Google Shape;270;p23"/>
          <p:cNvGrpSpPr/>
          <p:nvPr/>
        </p:nvGrpSpPr>
        <p:grpSpPr>
          <a:xfrm>
            <a:off x="12582001" y="1949815"/>
            <a:ext cx="4937040" cy="737943"/>
            <a:chOff x="0" y="-9525"/>
            <a:chExt cx="6582720" cy="983925"/>
          </a:xfrm>
        </p:grpSpPr>
        <p:sp>
          <p:nvSpPr>
            <p:cNvPr id="271" name="Google Shape;271;p23"/>
            <p:cNvSpPr/>
            <p:nvPr/>
          </p:nvSpPr>
          <p:spPr>
            <a:xfrm>
              <a:off x="0" y="0"/>
              <a:ext cx="6582720" cy="974400"/>
            </a:xfrm>
            <a:custGeom>
              <a:rect b="b" l="l" r="r" t="t"/>
              <a:pathLst>
                <a:path extrusionOk="0" h="974400" w="6582720">
                  <a:moveTo>
                    <a:pt x="0" y="0"/>
                  </a:moveTo>
                  <a:lnTo>
                    <a:pt x="6582720" y="0"/>
                  </a:lnTo>
                  <a:lnTo>
                    <a:pt x="6582720" y="974400"/>
                  </a:lnTo>
                  <a:lnTo>
                    <a:pt x="0" y="974400"/>
                  </a:lnTo>
                  <a:close/>
                </a:path>
              </a:pathLst>
            </a:custGeom>
            <a:blipFill rotWithShape="1">
              <a:blip r:embed="rId3">
                <a:alphaModFix amt="0"/>
              </a:blip>
              <a:stretch>
                <a:fillRect b="-81634" l="0" r="0" t="-81634"/>
              </a:stretch>
            </a:blipFill>
            <a:ln>
              <a:noFill/>
            </a:ln>
          </p:spPr>
        </p:sp>
        <p:sp>
          <p:nvSpPr>
            <p:cNvPr id="272" name="Google Shape;272;p23"/>
            <p:cNvSpPr txBox="1"/>
            <p:nvPr/>
          </p:nvSpPr>
          <p:spPr>
            <a:xfrm>
              <a:off x="0" y="-9525"/>
              <a:ext cx="6582715" cy="983920"/>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None/>
              </a:pPr>
              <a:r>
                <a:rPr b="1" i="0" lang="en-US" sz="2400" u="none" cap="none" strike="noStrike">
                  <a:solidFill>
                    <a:srgbClr val="1A3C2B"/>
                  </a:solidFill>
                  <a:latin typeface="Arial"/>
                  <a:ea typeface="Arial"/>
                  <a:cs typeface="Arial"/>
                  <a:sym typeface="Arial"/>
                </a:rPr>
                <a:t>🌿 Color Analysis</a:t>
              </a:r>
              <a:endParaRPr/>
            </a:p>
          </p:txBody>
        </p:sp>
      </p:grpSp>
      <p:grpSp>
        <p:nvGrpSpPr>
          <p:cNvPr id="273" name="Google Shape;273;p23"/>
          <p:cNvGrpSpPr/>
          <p:nvPr/>
        </p:nvGrpSpPr>
        <p:grpSpPr>
          <a:xfrm>
            <a:off x="12582001" y="2636044"/>
            <a:ext cx="4937040" cy="2483876"/>
            <a:chOff x="0" y="-142875"/>
            <a:chExt cx="6582720" cy="3311835"/>
          </a:xfrm>
        </p:grpSpPr>
        <p:sp>
          <p:nvSpPr>
            <p:cNvPr id="274" name="Google Shape;274;p23"/>
            <p:cNvSpPr/>
            <p:nvPr/>
          </p:nvSpPr>
          <p:spPr>
            <a:xfrm>
              <a:off x="0" y="0"/>
              <a:ext cx="6582720" cy="3168960"/>
            </a:xfrm>
            <a:custGeom>
              <a:rect b="b" l="l" r="r" t="t"/>
              <a:pathLst>
                <a:path extrusionOk="0" h="3168960" w="6582720">
                  <a:moveTo>
                    <a:pt x="0" y="0"/>
                  </a:moveTo>
                  <a:lnTo>
                    <a:pt x="6582720" y="0"/>
                  </a:lnTo>
                  <a:lnTo>
                    <a:pt x="6582720" y="3168960"/>
                  </a:lnTo>
                  <a:lnTo>
                    <a:pt x="0" y="3168960"/>
                  </a:lnTo>
                  <a:close/>
                </a:path>
              </a:pathLst>
            </a:custGeom>
            <a:blipFill rotWithShape="1">
              <a:blip r:embed="rId3">
                <a:alphaModFix amt="0"/>
              </a:blip>
              <a:stretch>
                <a:fillRect b="0" l="-11766" r="-11765" t="0"/>
              </a:stretch>
            </a:blipFill>
            <a:ln>
              <a:noFill/>
            </a:ln>
          </p:spPr>
        </p:sp>
        <p:sp>
          <p:nvSpPr>
            <p:cNvPr id="275" name="Google Shape;275;p23"/>
            <p:cNvSpPr txBox="1"/>
            <p:nvPr/>
          </p:nvSpPr>
          <p:spPr>
            <a:xfrm>
              <a:off x="0" y="-142875"/>
              <a:ext cx="6582715" cy="3311830"/>
            </a:xfrm>
            <a:prstGeom prst="rect">
              <a:avLst/>
            </a:prstGeom>
            <a:noFill/>
            <a:ln>
              <a:noFill/>
            </a:ln>
          </p:spPr>
          <p:txBody>
            <a:bodyPr anchorCtr="0" anchor="ctr" bIns="0" lIns="0" spcFirstLastPara="1" rIns="0" wrap="square" tIns="0">
              <a:noAutofit/>
            </a:bodyPr>
            <a:lstStyle/>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Green channel dominant</a:t>
              </a:r>
              <a:endParaRPr/>
            </a:p>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in healthy leaves</a:t>
              </a:r>
              <a:endParaRPr/>
            </a:p>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Measurable shift in diseased classes</a:t>
              </a:r>
              <a:endParaRPr/>
            </a:p>
          </p:txBody>
        </p:sp>
      </p:grpSp>
      <p:sp>
        <p:nvSpPr>
          <p:cNvPr id="276" name="Google Shape;276;p23"/>
          <p:cNvSpPr/>
          <p:nvPr/>
        </p:nvSpPr>
        <p:spPr>
          <a:xfrm>
            <a:off x="548640" y="5760720"/>
            <a:ext cx="5485638" cy="3656838"/>
          </a:xfrm>
          <a:custGeom>
            <a:rect b="b" l="l" r="r" t="t"/>
            <a:pathLst>
              <a:path extrusionOk="0" h="4875784" w="7314184">
                <a:moveTo>
                  <a:pt x="0" y="0"/>
                </a:moveTo>
                <a:lnTo>
                  <a:pt x="7314184" y="0"/>
                </a:lnTo>
                <a:lnTo>
                  <a:pt x="7314184" y="4875784"/>
                </a:lnTo>
                <a:lnTo>
                  <a:pt x="0" y="4875784"/>
                </a:lnTo>
                <a:close/>
              </a:path>
            </a:pathLst>
          </a:custGeom>
          <a:solidFill>
            <a:srgbClr val="FFFFFF"/>
          </a:solidFill>
          <a:ln>
            <a:noFill/>
          </a:ln>
        </p:spPr>
      </p:sp>
      <p:sp>
        <p:nvSpPr>
          <p:cNvPr id="277" name="Google Shape;277;p23"/>
          <p:cNvSpPr/>
          <p:nvPr/>
        </p:nvSpPr>
        <p:spPr>
          <a:xfrm>
            <a:off x="548640" y="5760720"/>
            <a:ext cx="164116" cy="3656838"/>
          </a:xfrm>
          <a:custGeom>
            <a:rect b="b" l="l" r="r" t="t"/>
            <a:pathLst>
              <a:path extrusionOk="0" h="4875784" w="218821">
                <a:moveTo>
                  <a:pt x="0" y="0"/>
                </a:moveTo>
                <a:lnTo>
                  <a:pt x="218821" y="0"/>
                </a:lnTo>
                <a:lnTo>
                  <a:pt x="218821" y="4875784"/>
                </a:lnTo>
                <a:lnTo>
                  <a:pt x="0" y="4875784"/>
                </a:lnTo>
                <a:close/>
              </a:path>
            </a:pathLst>
          </a:custGeom>
          <a:solidFill>
            <a:srgbClr val="97BC62"/>
          </a:solidFill>
          <a:ln>
            <a:noFill/>
          </a:ln>
        </p:spPr>
      </p:sp>
      <p:grpSp>
        <p:nvGrpSpPr>
          <p:cNvPr id="278" name="Google Shape;278;p23"/>
          <p:cNvGrpSpPr/>
          <p:nvPr/>
        </p:nvGrpSpPr>
        <p:grpSpPr>
          <a:xfrm>
            <a:off x="877681" y="5973175"/>
            <a:ext cx="4937040" cy="737943"/>
            <a:chOff x="0" y="-9525"/>
            <a:chExt cx="6582720" cy="983925"/>
          </a:xfrm>
        </p:grpSpPr>
        <p:sp>
          <p:nvSpPr>
            <p:cNvPr id="279" name="Google Shape;279;p23"/>
            <p:cNvSpPr/>
            <p:nvPr/>
          </p:nvSpPr>
          <p:spPr>
            <a:xfrm>
              <a:off x="0" y="0"/>
              <a:ext cx="6582720" cy="974400"/>
            </a:xfrm>
            <a:custGeom>
              <a:rect b="b" l="l" r="r" t="t"/>
              <a:pathLst>
                <a:path extrusionOk="0" h="974400" w="6582720">
                  <a:moveTo>
                    <a:pt x="0" y="0"/>
                  </a:moveTo>
                  <a:lnTo>
                    <a:pt x="6582720" y="0"/>
                  </a:lnTo>
                  <a:lnTo>
                    <a:pt x="6582720" y="974400"/>
                  </a:lnTo>
                  <a:lnTo>
                    <a:pt x="0" y="974400"/>
                  </a:lnTo>
                  <a:close/>
                </a:path>
              </a:pathLst>
            </a:custGeom>
            <a:blipFill rotWithShape="1">
              <a:blip r:embed="rId3">
                <a:alphaModFix amt="0"/>
              </a:blip>
              <a:stretch>
                <a:fillRect b="-81634" l="0" r="0" t="-81634"/>
              </a:stretch>
            </a:blipFill>
            <a:ln>
              <a:noFill/>
            </a:ln>
          </p:spPr>
        </p:sp>
        <p:sp>
          <p:nvSpPr>
            <p:cNvPr id="280" name="Google Shape;280;p23"/>
            <p:cNvSpPr txBox="1"/>
            <p:nvPr/>
          </p:nvSpPr>
          <p:spPr>
            <a:xfrm>
              <a:off x="0" y="-9525"/>
              <a:ext cx="6582715" cy="983920"/>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None/>
              </a:pPr>
              <a:r>
                <a:rPr b="1" i="0" lang="en-US" sz="2400" u="none" cap="none" strike="noStrike">
                  <a:solidFill>
                    <a:srgbClr val="1A3C2B"/>
                  </a:solidFill>
                  <a:latin typeface="Arial"/>
                  <a:ea typeface="Arial"/>
                  <a:cs typeface="Arial"/>
                  <a:sym typeface="Arial"/>
                </a:rPr>
                <a:t>🔍 Duplicate Check</a:t>
              </a:r>
              <a:endParaRPr/>
            </a:p>
          </p:txBody>
        </p:sp>
      </p:grpSp>
      <p:grpSp>
        <p:nvGrpSpPr>
          <p:cNvPr id="281" name="Google Shape;281;p23"/>
          <p:cNvGrpSpPr/>
          <p:nvPr/>
        </p:nvGrpSpPr>
        <p:grpSpPr>
          <a:xfrm>
            <a:off x="877681" y="6659404"/>
            <a:ext cx="4937040" cy="2483876"/>
            <a:chOff x="0" y="-142875"/>
            <a:chExt cx="6582720" cy="3311835"/>
          </a:xfrm>
        </p:grpSpPr>
        <p:sp>
          <p:nvSpPr>
            <p:cNvPr id="282" name="Google Shape;282;p23"/>
            <p:cNvSpPr/>
            <p:nvPr/>
          </p:nvSpPr>
          <p:spPr>
            <a:xfrm>
              <a:off x="0" y="0"/>
              <a:ext cx="6582720" cy="3168960"/>
            </a:xfrm>
            <a:custGeom>
              <a:rect b="b" l="l" r="r" t="t"/>
              <a:pathLst>
                <a:path extrusionOk="0" h="3168960" w="6582720">
                  <a:moveTo>
                    <a:pt x="0" y="0"/>
                  </a:moveTo>
                  <a:lnTo>
                    <a:pt x="6582720" y="0"/>
                  </a:lnTo>
                  <a:lnTo>
                    <a:pt x="6582720" y="3168960"/>
                  </a:lnTo>
                  <a:lnTo>
                    <a:pt x="0" y="3168960"/>
                  </a:lnTo>
                  <a:close/>
                </a:path>
              </a:pathLst>
            </a:custGeom>
            <a:blipFill rotWithShape="1">
              <a:blip r:embed="rId3">
                <a:alphaModFix amt="0"/>
              </a:blip>
              <a:stretch>
                <a:fillRect b="0" l="-11766" r="-11765" t="0"/>
              </a:stretch>
            </a:blipFill>
            <a:ln>
              <a:noFill/>
            </a:ln>
          </p:spPr>
        </p:sp>
        <p:sp>
          <p:nvSpPr>
            <p:cNvPr id="283" name="Google Shape;283;p23"/>
            <p:cNvSpPr txBox="1"/>
            <p:nvPr/>
          </p:nvSpPr>
          <p:spPr>
            <a:xfrm>
              <a:off x="0" y="-142875"/>
              <a:ext cx="6582715" cy="3311830"/>
            </a:xfrm>
            <a:prstGeom prst="rect">
              <a:avLst/>
            </a:prstGeom>
            <a:noFill/>
            <a:ln>
              <a:noFill/>
            </a:ln>
          </p:spPr>
          <p:txBody>
            <a:bodyPr anchorCtr="0" anchor="ctr" bIns="0" lIns="0" spcFirstLastPara="1" rIns="0" wrap="square" tIns="0">
              <a:noAutofit/>
            </a:bodyPr>
            <a:lstStyle/>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0 corrupt files</a:t>
              </a:r>
              <a:endParaRPr/>
            </a:p>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0 exact duplicates (MD5)</a:t>
              </a:r>
              <a:endParaRPr/>
            </a:p>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2 near-duplicate pairs (pHash)</a:t>
              </a:r>
              <a:endParaRPr/>
            </a:p>
          </p:txBody>
        </p:sp>
      </p:grpSp>
      <p:sp>
        <p:nvSpPr>
          <p:cNvPr id="284" name="Google Shape;284;p23"/>
          <p:cNvSpPr/>
          <p:nvPr/>
        </p:nvSpPr>
        <p:spPr>
          <a:xfrm>
            <a:off x="6400800" y="5760720"/>
            <a:ext cx="5485638" cy="3656838"/>
          </a:xfrm>
          <a:custGeom>
            <a:rect b="b" l="l" r="r" t="t"/>
            <a:pathLst>
              <a:path extrusionOk="0" h="4875784" w="7314184">
                <a:moveTo>
                  <a:pt x="0" y="0"/>
                </a:moveTo>
                <a:lnTo>
                  <a:pt x="7314184" y="0"/>
                </a:lnTo>
                <a:lnTo>
                  <a:pt x="7314184" y="4875784"/>
                </a:lnTo>
                <a:lnTo>
                  <a:pt x="0" y="4875784"/>
                </a:lnTo>
                <a:close/>
              </a:path>
            </a:pathLst>
          </a:custGeom>
          <a:solidFill>
            <a:srgbClr val="FFFFFF"/>
          </a:solidFill>
          <a:ln>
            <a:noFill/>
          </a:ln>
        </p:spPr>
      </p:sp>
      <p:sp>
        <p:nvSpPr>
          <p:cNvPr id="285" name="Google Shape;285;p23"/>
          <p:cNvSpPr/>
          <p:nvPr/>
        </p:nvSpPr>
        <p:spPr>
          <a:xfrm>
            <a:off x="6400800" y="5760720"/>
            <a:ext cx="164116" cy="3656838"/>
          </a:xfrm>
          <a:custGeom>
            <a:rect b="b" l="l" r="r" t="t"/>
            <a:pathLst>
              <a:path extrusionOk="0" h="4875784" w="218821">
                <a:moveTo>
                  <a:pt x="0" y="0"/>
                </a:moveTo>
                <a:lnTo>
                  <a:pt x="218821" y="0"/>
                </a:lnTo>
                <a:lnTo>
                  <a:pt x="218821" y="4875784"/>
                </a:lnTo>
                <a:lnTo>
                  <a:pt x="0" y="4875784"/>
                </a:lnTo>
                <a:close/>
              </a:path>
            </a:pathLst>
          </a:custGeom>
          <a:solidFill>
            <a:srgbClr val="97BC62"/>
          </a:solidFill>
          <a:ln>
            <a:noFill/>
          </a:ln>
        </p:spPr>
      </p:sp>
      <p:grpSp>
        <p:nvGrpSpPr>
          <p:cNvPr id="286" name="Google Shape;286;p23"/>
          <p:cNvGrpSpPr/>
          <p:nvPr/>
        </p:nvGrpSpPr>
        <p:grpSpPr>
          <a:xfrm>
            <a:off x="6729841" y="5973175"/>
            <a:ext cx="4937040" cy="737943"/>
            <a:chOff x="0" y="-9525"/>
            <a:chExt cx="6582720" cy="983925"/>
          </a:xfrm>
        </p:grpSpPr>
        <p:sp>
          <p:nvSpPr>
            <p:cNvPr id="287" name="Google Shape;287;p23"/>
            <p:cNvSpPr/>
            <p:nvPr/>
          </p:nvSpPr>
          <p:spPr>
            <a:xfrm>
              <a:off x="0" y="0"/>
              <a:ext cx="6582720" cy="974400"/>
            </a:xfrm>
            <a:custGeom>
              <a:rect b="b" l="l" r="r" t="t"/>
              <a:pathLst>
                <a:path extrusionOk="0" h="974400" w="6582720">
                  <a:moveTo>
                    <a:pt x="0" y="0"/>
                  </a:moveTo>
                  <a:lnTo>
                    <a:pt x="6582720" y="0"/>
                  </a:lnTo>
                  <a:lnTo>
                    <a:pt x="6582720" y="974400"/>
                  </a:lnTo>
                  <a:lnTo>
                    <a:pt x="0" y="974400"/>
                  </a:lnTo>
                  <a:close/>
                </a:path>
              </a:pathLst>
            </a:custGeom>
            <a:blipFill rotWithShape="1">
              <a:blip r:embed="rId3">
                <a:alphaModFix amt="0"/>
              </a:blip>
              <a:stretch>
                <a:fillRect b="-81634" l="0" r="0" t="-81634"/>
              </a:stretch>
            </a:blipFill>
            <a:ln>
              <a:noFill/>
            </a:ln>
          </p:spPr>
        </p:sp>
        <p:sp>
          <p:nvSpPr>
            <p:cNvPr id="288" name="Google Shape;288;p23"/>
            <p:cNvSpPr txBox="1"/>
            <p:nvPr/>
          </p:nvSpPr>
          <p:spPr>
            <a:xfrm>
              <a:off x="0" y="-9525"/>
              <a:ext cx="6582715" cy="983920"/>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None/>
              </a:pPr>
              <a:r>
                <a:rPr b="1" i="0" lang="en-US" sz="2400" u="none" cap="none" strike="noStrike">
                  <a:solidFill>
                    <a:srgbClr val="1A3C2B"/>
                  </a:solidFill>
                  <a:latin typeface="Arial"/>
                  <a:ea typeface="Arial"/>
                  <a:cs typeface="Arial"/>
                  <a:sym typeface="Arial"/>
                </a:rPr>
                <a:t>⚖️ Class Imbalance</a:t>
              </a:r>
              <a:endParaRPr/>
            </a:p>
          </p:txBody>
        </p:sp>
      </p:grpSp>
      <p:grpSp>
        <p:nvGrpSpPr>
          <p:cNvPr id="289" name="Google Shape;289;p23"/>
          <p:cNvGrpSpPr/>
          <p:nvPr/>
        </p:nvGrpSpPr>
        <p:grpSpPr>
          <a:xfrm>
            <a:off x="6729841" y="6659404"/>
            <a:ext cx="4937040" cy="2483876"/>
            <a:chOff x="0" y="-142875"/>
            <a:chExt cx="6582720" cy="3311835"/>
          </a:xfrm>
        </p:grpSpPr>
        <p:sp>
          <p:nvSpPr>
            <p:cNvPr id="290" name="Google Shape;290;p23"/>
            <p:cNvSpPr/>
            <p:nvPr/>
          </p:nvSpPr>
          <p:spPr>
            <a:xfrm>
              <a:off x="0" y="0"/>
              <a:ext cx="6582720" cy="3168960"/>
            </a:xfrm>
            <a:custGeom>
              <a:rect b="b" l="l" r="r" t="t"/>
              <a:pathLst>
                <a:path extrusionOk="0" h="3168960" w="6582720">
                  <a:moveTo>
                    <a:pt x="0" y="0"/>
                  </a:moveTo>
                  <a:lnTo>
                    <a:pt x="6582720" y="0"/>
                  </a:lnTo>
                  <a:lnTo>
                    <a:pt x="6582720" y="3168960"/>
                  </a:lnTo>
                  <a:lnTo>
                    <a:pt x="0" y="3168960"/>
                  </a:lnTo>
                  <a:close/>
                </a:path>
              </a:pathLst>
            </a:custGeom>
            <a:blipFill rotWithShape="1">
              <a:blip r:embed="rId3">
                <a:alphaModFix amt="0"/>
              </a:blip>
              <a:stretch>
                <a:fillRect b="0" l="-11766" r="-11765" t="0"/>
              </a:stretch>
            </a:blipFill>
            <a:ln>
              <a:noFill/>
            </a:ln>
          </p:spPr>
        </p:sp>
        <p:sp>
          <p:nvSpPr>
            <p:cNvPr id="291" name="Google Shape;291;p23"/>
            <p:cNvSpPr txBox="1"/>
            <p:nvPr/>
          </p:nvSpPr>
          <p:spPr>
            <a:xfrm>
              <a:off x="0" y="-142875"/>
              <a:ext cx="6582715" cy="3311830"/>
            </a:xfrm>
            <a:prstGeom prst="rect">
              <a:avLst/>
            </a:prstGeom>
            <a:noFill/>
            <a:ln>
              <a:noFill/>
            </a:ln>
          </p:spPr>
          <p:txBody>
            <a:bodyPr anchorCtr="0" anchor="ctr" bIns="0" lIns="0" spcFirstLastPara="1" rIns="0" wrap="square" tIns="0">
              <a:noAutofit/>
            </a:bodyPr>
            <a:lstStyle/>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Rice___Healthy: 1,488 imgs</a:t>
              </a:r>
              <a:endParaRPr/>
            </a:p>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Sugarcane classes: 100 imgs</a:t>
              </a:r>
              <a:endParaRPr/>
            </a:p>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Ratio: 14.9× imbalance</a:t>
              </a:r>
              <a:endParaRPr/>
            </a:p>
          </p:txBody>
        </p:sp>
      </p:grpSp>
      <p:sp>
        <p:nvSpPr>
          <p:cNvPr id="292" name="Google Shape;292;p23"/>
          <p:cNvSpPr/>
          <p:nvPr/>
        </p:nvSpPr>
        <p:spPr>
          <a:xfrm>
            <a:off x="12252960" y="5760720"/>
            <a:ext cx="5485638" cy="3656838"/>
          </a:xfrm>
          <a:custGeom>
            <a:rect b="b" l="l" r="r" t="t"/>
            <a:pathLst>
              <a:path extrusionOk="0" h="4875784" w="7314184">
                <a:moveTo>
                  <a:pt x="0" y="0"/>
                </a:moveTo>
                <a:lnTo>
                  <a:pt x="7314184" y="0"/>
                </a:lnTo>
                <a:lnTo>
                  <a:pt x="7314184" y="4875784"/>
                </a:lnTo>
                <a:lnTo>
                  <a:pt x="0" y="4875784"/>
                </a:lnTo>
                <a:close/>
              </a:path>
            </a:pathLst>
          </a:custGeom>
          <a:solidFill>
            <a:srgbClr val="FFFFFF"/>
          </a:solidFill>
          <a:ln>
            <a:noFill/>
          </a:ln>
        </p:spPr>
      </p:sp>
      <p:sp>
        <p:nvSpPr>
          <p:cNvPr id="293" name="Google Shape;293;p23"/>
          <p:cNvSpPr/>
          <p:nvPr/>
        </p:nvSpPr>
        <p:spPr>
          <a:xfrm>
            <a:off x="12252960" y="5760720"/>
            <a:ext cx="164116" cy="3656838"/>
          </a:xfrm>
          <a:custGeom>
            <a:rect b="b" l="l" r="r" t="t"/>
            <a:pathLst>
              <a:path extrusionOk="0" h="4875784" w="218821">
                <a:moveTo>
                  <a:pt x="0" y="0"/>
                </a:moveTo>
                <a:lnTo>
                  <a:pt x="218821" y="0"/>
                </a:lnTo>
                <a:lnTo>
                  <a:pt x="218821" y="4875784"/>
                </a:lnTo>
                <a:lnTo>
                  <a:pt x="0" y="4875784"/>
                </a:lnTo>
                <a:close/>
              </a:path>
            </a:pathLst>
          </a:custGeom>
          <a:solidFill>
            <a:srgbClr val="97BC62"/>
          </a:solidFill>
          <a:ln>
            <a:noFill/>
          </a:ln>
        </p:spPr>
      </p:sp>
      <p:grpSp>
        <p:nvGrpSpPr>
          <p:cNvPr id="294" name="Google Shape;294;p23"/>
          <p:cNvGrpSpPr/>
          <p:nvPr/>
        </p:nvGrpSpPr>
        <p:grpSpPr>
          <a:xfrm>
            <a:off x="12582001" y="5973175"/>
            <a:ext cx="4937040" cy="737943"/>
            <a:chOff x="0" y="-9525"/>
            <a:chExt cx="6582720" cy="983925"/>
          </a:xfrm>
        </p:grpSpPr>
        <p:sp>
          <p:nvSpPr>
            <p:cNvPr id="295" name="Google Shape;295;p23"/>
            <p:cNvSpPr/>
            <p:nvPr/>
          </p:nvSpPr>
          <p:spPr>
            <a:xfrm>
              <a:off x="0" y="0"/>
              <a:ext cx="6582720" cy="974400"/>
            </a:xfrm>
            <a:custGeom>
              <a:rect b="b" l="l" r="r" t="t"/>
              <a:pathLst>
                <a:path extrusionOk="0" h="974400" w="6582720">
                  <a:moveTo>
                    <a:pt x="0" y="0"/>
                  </a:moveTo>
                  <a:lnTo>
                    <a:pt x="6582720" y="0"/>
                  </a:lnTo>
                  <a:lnTo>
                    <a:pt x="6582720" y="974400"/>
                  </a:lnTo>
                  <a:lnTo>
                    <a:pt x="0" y="974400"/>
                  </a:lnTo>
                  <a:close/>
                </a:path>
              </a:pathLst>
            </a:custGeom>
            <a:blipFill rotWithShape="1">
              <a:blip r:embed="rId3">
                <a:alphaModFix amt="0"/>
              </a:blip>
              <a:stretch>
                <a:fillRect b="-81634" l="0" r="0" t="-81634"/>
              </a:stretch>
            </a:blipFill>
            <a:ln>
              <a:noFill/>
            </a:ln>
          </p:spPr>
        </p:sp>
        <p:sp>
          <p:nvSpPr>
            <p:cNvPr id="296" name="Google Shape;296;p23"/>
            <p:cNvSpPr txBox="1"/>
            <p:nvPr/>
          </p:nvSpPr>
          <p:spPr>
            <a:xfrm>
              <a:off x="0" y="-9525"/>
              <a:ext cx="6582715" cy="983920"/>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None/>
              </a:pPr>
              <a:r>
                <a:rPr b="1" i="0" lang="en-US" sz="2400" u="none" cap="none" strike="noStrike">
                  <a:solidFill>
                    <a:srgbClr val="1A3C2B"/>
                  </a:solidFill>
                  <a:latin typeface="Arial"/>
                  <a:ea typeface="Arial"/>
                  <a:cs typeface="Arial"/>
                  <a:sym typeface="Arial"/>
                </a:rPr>
                <a:t>✅ Data Quality</a:t>
              </a:r>
              <a:endParaRPr/>
            </a:p>
          </p:txBody>
        </p:sp>
      </p:grpSp>
      <p:grpSp>
        <p:nvGrpSpPr>
          <p:cNvPr id="297" name="Google Shape;297;p23"/>
          <p:cNvGrpSpPr/>
          <p:nvPr/>
        </p:nvGrpSpPr>
        <p:grpSpPr>
          <a:xfrm>
            <a:off x="12582001" y="6659404"/>
            <a:ext cx="4937040" cy="2483876"/>
            <a:chOff x="0" y="-142875"/>
            <a:chExt cx="6582720" cy="3311835"/>
          </a:xfrm>
        </p:grpSpPr>
        <p:sp>
          <p:nvSpPr>
            <p:cNvPr id="298" name="Google Shape;298;p23"/>
            <p:cNvSpPr/>
            <p:nvPr/>
          </p:nvSpPr>
          <p:spPr>
            <a:xfrm>
              <a:off x="0" y="0"/>
              <a:ext cx="6582720" cy="3168960"/>
            </a:xfrm>
            <a:custGeom>
              <a:rect b="b" l="l" r="r" t="t"/>
              <a:pathLst>
                <a:path extrusionOk="0" h="3168960" w="6582720">
                  <a:moveTo>
                    <a:pt x="0" y="0"/>
                  </a:moveTo>
                  <a:lnTo>
                    <a:pt x="6582720" y="0"/>
                  </a:lnTo>
                  <a:lnTo>
                    <a:pt x="6582720" y="3168960"/>
                  </a:lnTo>
                  <a:lnTo>
                    <a:pt x="0" y="3168960"/>
                  </a:lnTo>
                  <a:close/>
                </a:path>
              </a:pathLst>
            </a:custGeom>
            <a:blipFill rotWithShape="1">
              <a:blip r:embed="rId3">
                <a:alphaModFix amt="0"/>
              </a:blip>
              <a:stretch>
                <a:fillRect b="0" l="-11766" r="-11765" t="0"/>
              </a:stretch>
            </a:blipFill>
            <a:ln>
              <a:noFill/>
            </a:ln>
          </p:spPr>
        </p:sp>
        <p:sp>
          <p:nvSpPr>
            <p:cNvPr id="299" name="Google Shape;299;p23"/>
            <p:cNvSpPr txBox="1"/>
            <p:nvPr/>
          </p:nvSpPr>
          <p:spPr>
            <a:xfrm>
              <a:off x="0" y="-142875"/>
              <a:ext cx="6582715" cy="3311830"/>
            </a:xfrm>
            <a:prstGeom prst="rect">
              <a:avLst/>
            </a:prstGeom>
            <a:noFill/>
            <a:ln>
              <a:noFill/>
            </a:ln>
          </p:spPr>
          <p:txBody>
            <a:bodyPr anchorCtr="0" anchor="ctr" bIns="0" lIns="0" spcFirstLastPara="1" rIns="0" wrap="square" tIns="0">
              <a:noAutofit/>
            </a:bodyPr>
            <a:lstStyle/>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High overall quality</a:t>
              </a:r>
              <a:endParaRPr/>
            </a:p>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All files readable</a:t>
              </a:r>
              <a:endParaRPr/>
            </a:p>
            <a:p>
              <a:pPr indent="0" lvl="0" marL="0" marR="0" rtl="0" algn="l">
                <a:lnSpc>
                  <a:spcPct val="168000"/>
                </a:lnSpc>
                <a:spcBef>
                  <a:spcPts val="0"/>
                </a:spcBef>
                <a:spcAft>
                  <a:spcPts val="0"/>
                </a:spcAft>
                <a:buNone/>
              </a:pPr>
              <a:r>
                <a:rPr b="0" i="0" lang="en-US" sz="2200" u="none" cap="none" strike="noStrike">
                  <a:solidFill>
                    <a:srgbClr val="1E1E1E"/>
                  </a:solidFill>
                  <a:latin typeface="Calibri"/>
                  <a:ea typeface="Calibri"/>
                  <a:cs typeface="Calibri"/>
                  <a:sym typeface="Calibri"/>
                </a:rPr>
                <a:t>Clean for model training</a:t>
              </a:r>
              <a:endParaRPr/>
            </a:p>
          </p:txBody>
        </p:sp>
      </p:gr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EF"/>
        </a:solidFill>
      </p:bgPr>
    </p:bg>
    <p:spTree>
      <p:nvGrpSpPr>
        <p:cNvPr id="307" name="Shape 307"/>
        <p:cNvGrpSpPr/>
        <p:nvPr/>
      </p:nvGrpSpPr>
      <p:grpSpPr>
        <a:xfrm>
          <a:off x="0" y="0"/>
          <a:ext cx="0" cy="0"/>
          <a:chOff x="0" y="0"/>
          <a:chExt cx="0" cy="0"/>
        </a:xfrm>
      </p:grpSpPr>
      <p:sp>
        <p:nvSpPr>
          <p:cNvPr id="308" name="Google Shape;308;p24"/>
          <p:cNvSpPr/>
          <p:nvPr/>
        </p:nvSpPr>
        <p:spPr>
          <a:xfrm>
            <a:off x="0" y="0"/>
            <a:ext cx="18287239" cy="1370838"/>
          </a:xfrm>
          <a:custGeom>
            <a:rect b="b" l="l" r="r" t="t"/>
            <a:pathLst>
              <a:path extrusionOk="0" h="1827784" w="24382985">
                <a:moveTo>
                  <a:pt x="0" y="0"/>
                </a:moveTo>
                <a:lnTo>
                  <a:pt x="24382985" y="0"/>
                </a:lnTo>
                <a:lnTo>
                  <a:pt x="24382985" y="1827784"/>
                </a:lnTo>
                <a:lnTo>
                  <a:pt x="0" y="1827784"/>
                </a:lnTo>
                <a:close/>
              </a:path>
            </a:pathLst>
          </a:custGeom>
          <a:solidFill>
            <a:srgbClr val="1A3C2B"/>
          </a:solidFill>
          <a:ln>
            <a:noFill/>
          </a:ln>
        </p:spPr>
      </p:sp>
      <p:grpSp>
        <p:nvGrpSpPr>
          <p:cNvPr id="309" name="Google Shape;309;p24"/>
          <p:cNvGrpSpPr/>
          <p:nvPr/>
        </p:nvGrpSpPr>
        <p:grpSpPr>
          <a:xfrm>
            <a:off x="731520" y="-57150"/>
            <a:ext cx="16824240" cy="1428030"/>
            <a:chOff x="0" y="-76200"/>
            <a:chExt cx="22432321" cy="1904040"/>
          </a:xfrm>
        </p:grpSpPr>
        <p:sp>
          <p:nvSpPr>
            <p:cNvPr id="310" name="Google Shape;310;p24"/>
            <p:cNvSpPr/>
            <p:nvPr/>
          </p:nvSpPr>
          <p:spPr>
            <a:xfrm>
              <a:off x="0" y="0"/>
              <a:ext cx="22432321" cy="1827840"/>
            </a:xfrm>
            <a:custGeom>
              <a:rect b="b" l="l" r="r" t="t"/>
              <a:pathLst>
                <a:path extrusionOk="0" h="1827840" w="22432321">
                  <a:moveTo>
                    <a:pt x="0" y="0"/>
                  </a:moveTo>
                  <a:lnTo>
                    <a:pt x="22432321" y="0"/>
                  </a:lnTo>
                  <a:lnTo>
                    <a:pt x="22432321" y="1827840"/>
                  </a:lnTo>
                  <a:lnTo>
                    <a:pt x="0" y="1827840"/>
                  </a:lnTo>
                  <a:close/>
                </a:path>
              </a:pathLst>
            </a:custGeom>
            <a:blipFill rotWithShape="1">
              <a:blip r:embed="rId3">
                <a:alphaModFix amt="0"/>
              </a:blip>
              <a:stretch>
                <a:fillRect b="-189120" l="0" r="0" t="-189120"/>
              </a:stretch>
            </a:blipFill>
            <a:ln>
              <a:noFill/>
            </a:ln>
          </p:spPr>
        </p:sp>
        <p:sp>
          <p:nvSpPr>
            <p:cNvPr id="311" name="Google Shape;311;p24"/>
            <p:cNvSpPr txBox="1"/>
            <p:nvPr/>
          </p:nvSpPr>
          <p:spPr>
            <a:xfrm>
              <a:off x="0" y="-76200"/>
              <a:ext cx="22432315" cy="19040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000" u="none" cap="none" strike="noStrike">
                  <a:solidFill>
                    <a:srgbClr val="FFFFFF"/>
                  </a:solidFill>
                  <a:latin typeface="Calibri"/>
                  <a:ea typeface="Calibri"/>
                  <a:cs typeface="Calibri"/>
                  <a:sym typeface="Calibri"/>
                </a:rPr>
                <a:t>PREPROCESSING PIPELINE</a:t>
              </a:r>
              <a:endParaRPr/>
            </a:p>
          </p:txBody>
        </p:sp>
      </p:grpSp>
      <p:sp>
        <p:nvSpPr>
          <p:cNvPr id="312" name="Google Shape;312;p24"/>
          <p:cNvSpPr/>
          <p:nvPr/>
        </p:nvSpPr>
        <p:spPr>
          <a:xfrm>
            <a:off x="274320" y="1737360"/>
            <a:ext cx="2614327" cy="6400038"/>
          </a:xfrm>
          <a:custGeom>
            <a:rect b="b" l="l" r="r" t="t"/>
            <a:pathLst>
              <a:path extrusionOk="0" h="8533384" w="3485769">
                <a:moveTo>
                  <a:pt x="0" y="0"/>
                </a:moveTo>
                <a:lnTo>
                  <a:pt x="3485769" y="0"/>
                </a:lnTo>
                <a:lnTo>
                  <a:pt x="3485769" y="8533384"/>
                </a:lnTo>
                <a:lnTo>
                  <a:pt x="0" y="8533384"/>
                </a:lnTo>
                <a:close/>
              </a:path>
            </a:pathLst>
          </a:custGeom>
          <a:solidFill>
            <a:srgbClr val="FFFFFF"/>
          </a:solidFill>
          <a:ln>
            <a:noFill/>
          </a:ln>
        </p:spPr>
      </p:sp>
      <p:sp>
        <p:nvSpPr>
          <p:cNvPr id="313" name="Google Shape;313;p24"/>
          <p:cNvSpPr/>
          <p:nvPr/>
        </p:nvSpPr>
        <p:spPr>
          <a:xfrm>
            <a:off x="274320" y="1737360"/>
            <a:ext cx="2614327" cy="1005078"/>
          </a:xfrm>
          <a:custGeom>
            <a:rect b="b" l="l" r="r" t="t"/>
            <a:pathLst>
              <a:path extrusionOk="0" h="1340104" w="3485769">
                <a:moveTo>
                  <a:pt x="0" y="0"/>
                </a:moveTo>
                <a:lnTo>
                  <a:pt x="3485769" y="0"/>
                </a:lnTo>
                <a:lnTo>
                  <a:pt x="3485769" y="1340104"/>
                </a:lnTo>
                <a:lnTo>
                  <a:pt x="0" y="1340104"/>
                </a:lnTo>
                <a:close/>
              </a:path>
            </a:pathLst>
          </a:custGeom>
          <a:solidFill>
            <a:srgbClr val="2C5F2D"/>
          </a:solidFill>
          <a:ln>
            <a:noFill/>
          </a:ln>
        </p:spPr>
      </p:sp>
      <p:grpSp>
        <p:nvGrpSpPr>
          <p:cNvPr id="314" name="Google Shape;314;p24"/>
          <p:cNvGrpSpPr/>
          <p:nvPr/>
        </p:nvGrpSpPr>
        <p:grpSpPr>
          <a:xfrm>
            <a:off x="274320" y="1680210"/>
            <a:ext cx="2614320" cy="1062270"/>
            <a:chOff x="0" y="-76200"/>
            <a:chExt cx="3485760" cy="1416360"/>
          </a:xfrm>
        </p:grpSpPr>
        <p:sp>
          <p:nvSpPr>
            <p:cNvPr id="315" name="Google Shape;315;p24"/>
            <p:cNvSpPr/>
            <p:nvPr/>
          </p:nvSpPr>
          <p:spPr>
            <a:xfrm>
              <a:off x="0" y="0"/>
              <a:ext cx="3485760" cy="1340160"/>
            </a:xfrm>
            <a:custGeom>
              <a:rect b="b" l="l" r="r" t="t"/>
              <a:pathLst>
                <a:path extrusionOk="0" h="1340160" w="3485760">
                  <a:moveTo>
                    <a:pt x="0" y="0"/>
                  </a:moveTo>
                  <a:lnTo>
                    <a:pt x="3485760" y="0"/>
                  </a:lnTo>
                  <a:lnTo>
                    <a:pt x="3485760" y="1340160"/>
                  </a:lnTo>
                  <a:lnTo>
                    <a:pt x="0" y="1340160"/>
                  </a:lnTo>
                  <a:close/>
                </a:path>
              </a:pathLst>
            </a:custGeom>
            <a:blipFill rotWithShape="1">
              <a:blip r:embed="rId3">
                <a:alphaModFix amt="0"/>
              </a:blip>
              <a:stretch>
                <a:fillRect b="-680" l="0" r="0" t="-680"/>
              </a:stretch>
            </a:blipFill>
            <a:ln>
              <a:noFill/>
            </a:ln>
          </p:spPr>
        </p:sp>
        <p:sp>
          <p:nvSpPr>
            <p:cNvPr id="316" name="Google Shape;316;p24"/>
            <p:cNvSpPr txBox="1"/>
            <p:nvPr/>
          </p:nvSpPr>
          <p:spPr>
            <a:xfrm>
              <a:off x="0" y="-76200"/>
              <a:ext cx="3485756" cy="141635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1</a:t>
              </a:r>
              <a:endParaRPr/>
            </a:p>
          </p:txBody>
        </p:sp>
      </p:grpSp>
      <p:grpSp>
        <p:nvGrpSpPr>
          <p:cNvPr id="317" name="Google Shape;317;p24"/>
          <p:cNvGrpSpPr/>
          <p:nvPr/>
        </p:nvGrpSpPr>
        <p:grpSpPr>
          <a:xfrm>
            <a:off x="365760" y="2853642"/>
            <a:ext cx="2431440" cy="1315158"/>
            <a:chOff x="0" y="-47625"/>
            <a:chExt cx="3241920" cy="1753545"/>
          </a:xfrm>
        </p:grpSpPr>
        <p:sp>
          <p:nvSpPr>
            <p:cNvPr id="318" name="Google Shape;318;p24"/>
            <p:cNvSpPr/>
            <p:nvPr/>
          </p:nvSpPr>
          <p:spPr>
            <a:xfrm>
              <a:off x="0" y="0"/>
              <a:ext cx="3241920" cy="1705920"/>
            </a:xfrm>
            <a:custGeom>
              <a:rect b="b" l="l" r="r" t="t"/>
              <a:pathLst>
                <a:path extrusionOk="0" h="1705920" w="3241920">
                  <a:moveTo>
                    <a:pt x="0" y="0"/>
                  </a:moveTo>
                  <a:lnTo>
                    <a:pt x="3241920" y="0"/>
                  </a:lnTo>
                  <a:lnTo>
                    <a:pt x="3241920" y="1705920"/>
                  </a:lnTo>
                  <a:lnTo>
                    <a:pt x="0" y="1705920"/>
                  </a:lnTo>
                  <a:close/>
                </a:path>
              </a:pathLst>
            </a:custGeom>
            <a:blipFill rotWithShape="1">
              <a:blip r:embed="rId3">
                <a:alphaModFix amt="0"/>
              </a:blip>
              <a:stretch>
                <a:fillRect b="0" l="-17514" r="-17513" t="0"/>
              </a:stretch>
            </a:blipFill>
            <a:ln>
              <a:noFill/>
            </a:ln>
          </p:spPr>
        </p:sp>
        <p:sp>
          <p:nvSpPr>
            <p:cNvPr id="319" name="Google Shape;319;p24"/>
            <p:cNvSpPr txBox="1"/>
            <p:nvPr/>
          </p:nvSpPr>
          <p:spPr>
            <a:xfrm>
              <a:off x="0" y="-47625"/>
              <a:ext cx="3241916" cy="17535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1A3C2B"/>
                  </a:solidFill>
                  <a:latin typeface="Calibri"/>
                  <a:ea typeface="Calibri"/>
                  <a:cs typeface="Calibri"/>
                  <a:sym typeface="Calibri"/>
                </a:rPr>
                <a:t>Resize 224×224</a:t>
              </a:r>
              <a:endParaRPr/>
            </a:p>
          </p:txBody>
        </p:sp>
      </p:grpSp>
      <p:grpSp>
        <p:nvGrpSpPr>
          <p:cNvPr id="320" name="Google Shape;320;p24"/>
          <p:cNvGrpSpPr/>
          <p:nvPr/>
        </p:nvGrpSpPr>
        <p:grpSpPr>
          <a:xfrm>
            <a:off x="365760" y="4204811"/>
            <a:ext cx="2431440" cy="3383988"/>
            <a:chOff x="0" y="-123825"/>
            <a:chExt cx="3241920" cy="4511985"/>
          </a:xfrm>
        </p:grpSpPr>
        <p:sp>
          <p:nvSpPr>
            <p:cNvPr id="321" name="Google Shape;321;p24"/>
            <p:cNvSpPr/>
            <p:nvPr/>
          </p:nvSpPr>
          <p:spPr>
            <a:xfrm>
              <a:off x="0" y="0"/>
              <a:ext cx="3241920" cy="4388160"/>
            </a:xfrm>
            <a:custGeom>
              <a:rect b="b" l="l" r="r" t="t"/>
              <a:pathLst>
                <a:path extrusionOk="0" h="4388160" w="3241920">
                  <a:moveTo>
                    <a:pt x="0" y="0"/>
                  </a:moveTo>
                  <a:lnTo>
                    <a:pt x="3241920" y="0"/>
                  </a:lnTo>
                  <a:lnTo>
                    <a:pt x="3241920" y="4388160"/>
                  </a:lnTo>
                  <a:lnTo>
                    <a:pt x="0" y="4388160"/>
                  </a:lnTo>
                  <a:close/>
                </a:path>
              </a:pathLst>
            </a:custGeom>
            <a:blipFill rotWithShape="1">
              <a:blip r:embed="rId3">
                <a:alphaModFix amt="0"/>
              </a:blip>
              <a:stretch>
                <a:fillRect b="0" l="-123671" r="-123671" t="0"/>
              </a:stretch>
            </a:blipFill>
            <a:ln>
              <a:noFill/>
            </a:ln>
          </p:spPr>
        </p:sp>
        <p:sp>
          <p:nvSpPr>
            <p:cNvPr id="322" name="Google Shape;322;p24"/>
            <p:cNvSpPr txBox="1"/>
            <p:nvPr/>
          </p:nvSpPr>
          <p:spPr>
            <a:xfrm>
              <a:off x="0" y="-123825"/>
              <a:ext cx="3241916" cy="4511980"/>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0" i="0" lang="en-US" sz="1900" u="none" cap="none" strike="noStrike">
                  <a:solidFill>
                    <a:srgbClr val="5A7A65"/>
                  </a:solidFill>
                  <a:latin typeface="Calibri"/>
                  <a:ea typeface="Calibri"/>
                  <a:cs typeface="Calibri"/>
                  <a:sym typeface="Calibri"/>
                </a:rPr>
                <a:t>LANCZOS resampling</a:t>
              </a:r>
              <a:endParaRPr/>
            </a:p>
            <a:p>
              <a:pPr indent="0" lvl="0" marL="0" marR="0" rtl="0" algn="ctr">
                <a:lnSpc>
                  <a:spcPct val="168000"/>
                </a:lnSpc>
                <a:spcBef>
                  <a:spcPts val="0"/>
                </a:spcBef>
                <a:spcAft>
                  <a:spcPts val="0"/>
                </a:spcAft>
                <a:buNone/>
              </a:pPr>
              <a:r>
                <a:rPr b="0" i="0" lang="en-US" sz="1900" u="none" cap="none" strike="noStrike">
                  <a:solidFill>
                    <a:srgbClr val="5A7A65"/>
                  </a:solidFill>
                  <a:latin typeface="Calibri"/>
                  <a:ea typeface="Calibri"/>
                  <a:cs typeface="Calibri"/>
                  <a:sym typeface="Calibri"/>
                </a:rPr>
                <a:t>ImageNet standard input</a:t>
              </a:r>
              <a:endParaRPr/>
            </a:p>
          </p:txBody>
        </p:sp>
      </p:grpSp>
      <p:sp>
        <p:nvSpPr>
          <p:cNvPr id="323" name="Google Shape;323;p24"/>
          <p:cNvSpPr/>
          <p:nvPr/>
        </p:nvSpPr>
        <p:spPr>
          <a:xfrm>
            <a:off x="2889361" y="3840480"/>
            <a:ext cx="328327" cy="218884"/>
          </a:xfrm>
          <a:custGeom>
            <a:rect b="b" l="l" r="r" t="t"/>
            <a:pathLst>
              <a:path extrusionOk="0" h="291846" w="437769">
                <a:moveTo>
                  <a:pt x="0" y="0"/>
                </a:moveTo>
                <a:lnTo>
                  <a:pt x="437769" y="0"/>
                </a:lnTo>
                <a:lnTo>
                  <a:pt x="437769" y="291846"/>
                </a:lnTo>
                <a:lnTo>
                  <a:pt x="0" y="291846"/>
                </a:lnTo>
                <a:close/>
              </a:path>
            </a:pathLst>
          </a:custGeom>
          <a:solidFill>
            <a:srgbClr val="97BC62"/>
          </a:solidFill>
          <a:ln>
            <a:noFill/>
          </a:ln>
        </p:spPr>
      </p:sp>
      <p:sp>
        <p:nvSpPr>
          <p:cNvPr id="324" name="Google Shape;324;p24"/>
          <p:cNvSpPr/>
          <p:nvPr/>
        </p:nvSpPr>
        <p:spPr>
          <a:xfrm>
            <a:off x="3255121" y="1737360"/>
            <a:ext cx="2614327" cy="6400038"/>
          </a:xfrm>
          <a:custGeom>
            <a:rect b="b" l="l" r="r" t="t"/>
            <a:pathLst>
              <a:path extrusionOk="0" h="8533384" w="3485769">
                <a:moveTo>
                  <a:pt x="0" y="0"/>
                </a:moveTo>
                <a:lnTo>
                  <a:pt x="3485769" y="0"/>
                </a:lnTo>
                <a:lnTo>
                  <a:pt x="3485769" y="8533384"/>
                </a:lnTo>
                <a:lnTo>
                  <a:pt x="0" y="8533384"/>
                </a:lnTo>
                <a:close/>
              </a:path>
            </a:pathLst>
          </a:custGeom>
          <a:solidFill>
            <a:srgbClr val="FFFFFF"/>
          </a:solidFill>
          <a:ln>
            <a:noFill/>
          </a:ln>
        </p:spPr>
      </p:sp>
      <p:sp>
        <p:nvSpPr>
          <p:cNvPr id="325" name="Google Shape;325;p24"/>
          <p:cNvSpPr/>
          <p:nvPr/>
        </p:nvSpPr>
        <p:spPr>
          <a:xfrm>
            <a:off x="3255121" y="1737360"/>
            <a:ext cx="2614327" cy="1005078"/>
          </a:xfrm>
          <a:custGeom>
            <a:rect b="b" l="l" r="r" t="t"/>
            <a:pathLst>
              <a:path extrusionOk="0" h="1340104" w="3485769">
                <a:moveTo>
                  <a:pt x="0" y="0"/>
                </a:moveTo>
                <a:lnTo>
                  <a:pt x="3485769" y="0"/>
                </a:lnTo>
                <a:lnTo>
                  <a:pt x="3485769" y="1340104"/>
                </a:lnTo>
                <a:lnTo>
                  <a:pt x="0" y="1340104"/>
                </a:lnTo>
                <a:close/>
              </a:path>
            </a:pathLst>
          </a:custGeom>
          <a:solidFill>
            <a:srgbClr val="2C5F2D"/>
          </a:solidFill>
          <a:ln>
            <a:noFill/>
          </a:ln>
        </p:spPr>
      </p:sp>
      <p:grpSp>
        <p:nvGrpSpPr>
          <p:cNvPr id="326" name="Google Shape;326;p24"/>
          <p:cNvGrpSpPr/>
          <p:nvPr/>
        </p:nvGrpSpPr>
        <p:grpSpPr>
          <a:xfrm>
            <a:off x="3255121" y="1680210"/>
            <a:ext cx="2614320" cy="1062270"/>
            <a:chOff x="0" y="-76200"/>
            <a:chExt cx="3485760" cy="1416360"/>
          </a:xfrm>
        </p:grpSpPr>
        <p:sp>
          <p:nvSpPr>
            <p:cNvPr id="327" name="Google Shape;327;p24"/>
            <p:cNvSpPr/>
            <p:nvPr/>
          </p:nvSpPr>
          <p:spPr>
            <a:xfrm>
              <a:off x="0" y="0"/>
              <a:ext cx="3485760" cy="1340160"/>
            </a:xfrm>
            <a:custGeom>
              <a:rect b="b" l="l" r="r" t="t"/>
              <a:pathLst>
                <a:path extrusionOk="0" h="1340160" w="3485760">
                  <a:moveTo>
                    <a:pt x="0" y="0"/>
                  </a:moveTo>
                  <a:lnTo>
                    <a:pt x="3485760" y="0"/>
                  </a:lnTo>
                  <a:lnTo>
                    <a:pt x="3485760" y="1340160"/>
                  </a:lnTo>
                  <a:lnTo>
                    <a:pt x="0" y="1340160"/>
                  </a:lnTo>
                  <a:close/>
                </a:path>
              </a:pathLst>
            </a:custGeom>
            <a:blipFill rotWithShape="1">
              <a:blip r:embed="rId3">
                <a:alphaModFix amt="0"/>
              </a:blip>
              <a:stretch>
                <a:fillRect b="-680" l="0" r="0" t="-680"/>
              </a:stretch>
            </a:blipFill>
            <a:ln>
              <a:noFill/>
            </a:ln>
          </p:spPr>
        </p:sp>
        <p:sp>
          <p:nvSpPr>
            <p:cNvPr id="328" name="Google Shape;328;p24"/>
            <p:cNvSpPr txBox="1"/>
            <p:nvPr/>
          </p:nvSpPr>
          <p:spPr>
            <a:xfrm>
              <a:off x="0" y="-76200"/>
              <a:ext cx="3485756" cy="141635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2</a:t>
              </a:r>
              <a:endParaRPr/>
            </a:p>
          </p:txBody>
        </p:sp>
      </p:grpSp>
      <p:grpSp>
        <p:nvGrpSpPr>
          <p:cNvPr id="329" name="Google Shape;329;p24"/>
          <p:cNvGrpSpPr/>
          <p:nvPr/>
        </p:nvGrpSpPr>
        <p:grpSpPr>
          <a:xfrm>
            <a:off x="3346561" y="2853642"/>
            <a:ext cx="2431440" cy="1315158"/>
            <a:chOff x="0" y="-47625"/>
            <a:chExt cx="3241920" cy="1753545"/>
          </a:xfrm>
        </p:grpSpPr>
        <p:sp>
          <p:nvSpPr>
            <p:cNvPr id="330" name="Google Shape;330;p24"/>
            <p:cNvSpPr/>
            <p:nvPr/>
          </p:nvSpPr>
          <p:spPr>
            <a:xfrm>
              <a:off x="0" y="0"/>
              <a:ext cx="3241920" cy="1705920"/>
            </a:xfrm>
            <a:custGeom>
              <a:rect b="b" l="l" r="r" t="t"/>
              <a:pathLst>
                <a:path extrusionOk="0" h="1705920" w="3241920">
                  <a:moveTo>
                    <a:pt x="0" y="0"/>
                  </a:moveTo>
                  <a:lnTo>
                    <a:pt x="3241920" y="0"/>
                  </a:lnTo>
                  <a:lnTo>
                    <a:pt x="3241920" y="1705920"/>
                  </a:lnTo>
                  <a:lnTo>
                    <a:pt x="0" y="1705920"/>
                  </a:lnTo>
                  <a:close/>
                </a:path>
              </a:pathLst>
            </a:custGeom>
            <a:blipFill rotWithShape="1">
              <a:blip r:embed="rId3">
                <a:alphaModFix amt="0"/>
              </a:blip>
              <a:stretch>
                <a:fillRect b="0" l="-17514" r="-17513" t="0"/>
              </a:stretch>
            </a:blipFill>
            <a:ln>
              <a:noFill/>
            </a:ln>
          </p:spPr>
        </p:sp>
        <p:sp>
          <p:nvSpPr>
            <p:cNvPr id="331" name="Google Shape;331;p24"/>
            <p:cNvSpPr txBox="1"/>
            <p:nvPr/>
          </p:nvSpPr>
          <p:spPr>
            <a:xfrm>
              <a:off x="0" y="-47625"/>
              <a:ext cx="3241916" cy="17535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1A3C2B"/>
                  </a:solidFill>
                  <a:latin typeface="Calibri"/>
                  <a:ea typeface="Calibri"/>
                  <a:cs typeface="Calibri"/>
                  <a:sym typeface="Calibri"/>
                </a:rPr>
                <a:t>RGB Conversion</a:t>
              </a:r>
              <a:endParaRPr/>
            </a:p>
          </p:txBody>
        </p:sp>
      </p:grpSp>
      <p:grpSp>
        <p:nvGrpSpPr>
          <p:cNvPr id="332" name="Google Shape;332;p24"/>
          <p:cNvGrpSpPr/>
          <p:nvPr/>
        </p:nvGrpSpPr>
        <p:grpSpPr>
          <a:xfrm>
            <a:off x="3346561" y="4204811"/>
            <a:ext cx="2431440" cy="3383988"/>
            <a:chOff x="0" y="-123825"/>
            <a:chExt cx="3241920" cy="4511985"/>
          </a:xfrm>
        </p:grpSpPr>
        <p:sp>
          <p:nvSpPr>
            <p:cNvPr id="333" name="Google Shape;333;p24"/>
            <p:cNvSpPr/>
            <p:nvPr/>
          </p:nvSpPr>
          <p:spPr>
            <a:xfrm>
              <a:off x="0" y="0"/>
              <a:ext cx="3241920" cy="4388160"/>
            </a:xfrm>
            <a:custGeom>
              <a:rect b="b" l="l" r="r" t="t"/>
              <a:pathLst>
                <a:path extrusionOk="0" h="4388160" w="3241920">
                  <a:moveTo>
                    <a:pt x="0" y="0"/>
                  </a:moveTo>
                  <a:lnTo>
                    <a:pt x="3241920" y="0"/>
                  </a:lnTo>
                  <a:lnTo>
                    <a:pt x="3241920" y="4388160"/>
                  </a:lnTo>
                  <a:lnTo>
                    <a:pt x="0" y="4388160"/>
                  </a:lnTo>
                  <a:close/>
                </a:path>
              </a:pathLst>
            </a:custGeom>
            <a:blipFill rotWithShape="1">
              <a:blip r:embed="rId3">
                <a:alphaModFix amt="0"/>
              </a:blip>
              <a:stretch>
                <a:fillRect b="0" l="-123671" r="-123671" t="0"/>
              </a:stretch>
            </a:blipFill>
            <a:ln>
              <a:noFill/>
            </a:ln>
          </p:spPr>
        </p:sp>
        <p:sp>
          <p:nvSpPr>
            <p:cNvPr id="334" name="Google Shape;334;p24"/>
            <p:cNvSpPr txBox="1"/>
            <p:nvPr/>
          </p:nvSpPr>
          <p:spPr>
            <a:xfrm>
              <a:off x="0" y="-123825"/>
              <a:ext cx="3241916" cy="4511980"/>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0" i="0" lang="en-US" sz="1900" u="none" cap="none" strike="noStrike">
                  <a:solidFill>
                    <a:srgbClr val="5A7A65"/>
                  </a:solidFill>
                  <a:latin typeface="Calibri"/>
                  <a:ea typeface="Calibri"/>
                  <a:cs typeface="Calibri"/>
                  <a:sym typeface="Calibri"/>
                </a:rPr>
                <a:t>Safety step retained</a:t>
              </a:r>
              <a:endParaRPr/>
            </a:p>
            <a:p>
              <a:pPr indent="0" lvl="0" marL="0" marR="0" rtl="0" algn="ctr">
                <a:lnSpc>
                  <a:spcPct val="168000"/>
                </a:lnSpc>
                <a:spcBef>
                  <a:spcPts val="0"/>
                </a:spcBef>
                <a:spcAft>
                  <a:spcPts val="0"/>
                </a:spcAft>
                <a:buNone/>
              </a:pPr>
              <a:r>
                <a:rPr b="0" i="0" lang="en-US" sz="1900" u="none" cap="none" strike="noStrike">
                  <a:solidFill>
                    <a:srgbClr val="5A7A65"/>
                  </a:solidFill>
                  <a:latin typeface="Calibri"/>
                  <a:ea typeface="Calibri"/>
                  <a:cs typeface="Calibri"/>
                  <a:sym typeface="Calibri"/>
                </a:rPr>
                <a:t>0 non-RGB found</a:t>
              </a:r>
              <a:endParaRPr/>
            </a:p>
          </p:txBody>
        </p:sp>
      </p:grpSp>
      <p:sp>
        <p:nvSpPr>
          <p:cNvPr id="335" name="Google Shape;335;p24"/>
          <p:cNvSpPr/>
          <p:nvPr/>
        </p:nvSpPr>
        <p:spPr>
          <a:xfrm>
            <a:off x="5870162" y="3840480"/>
            <a:ext cx="328327" cy="218884"/>
          </a:xfrm>
          <a:custGeom>
            <a:rect b="b" l="l" r="r" t="t"/>
            <a:pathLst>
              <a:path extrusionOk="0" h="291846" w="437769">
                <a:moveTo>
                  <a:pt x="0" y="0"/>
                </a:moveTo>
                <a:lnTo>
                  <a:pt x="437769" y="0"/>
                </a:lnTo>
                <a:lnTo>
                  <a:pt x="437769" y="291846"/>
                </a:lnTo>
                <a:lnTo>
                  <a:pt x="0" y="291846"/>
                </a:lnTo>
                <a:close/>
              </a:path>
            </a:pathLst>
          </a:custGeom>
          <a:solidFill>
            <a:srgbClr val="97BC62"/>
          </a:solidFill>
          <a:ln>
            <a:noFill/>
          </a:ln>
        </p:spPr>
      </p:sp>
      <p:sp>
        <p:nvSpPr>
          <p:cNvPr id="336" name="Google Shape;336;p24"/>
          <p:cNvSpPr/>
          <p:nvPr/>
        </p:nvSpPr>
        <p:spPr>
          <a:xfrm>
            <a:off x="6235922" y="1737360"/>
            <a:ext cx="2614327" cy="6400038"/>
          </a:xfrm>
          <a:custGeom>
            <a:rect b="b" l="l" r="r" t="t"/>
            <a:pathLst>
              <a:path extrusionOk="0" h="8533384" w="3485769">
                <a:moveTo>
                  <a:pt x="0" y="0"/>
                </a:moveTo>
                <a:lnTo>
                  <a:pt x="3485769" y="0"/>
                </a:lnTo>
                <a:lnTo>
                  <a:pt x="3485769" y="8533384"/>
                </a:lnTo>
                <a:lnTo>
                  <a:pt x="0" y="8533384"/>
                </a:lnTo>
                <a:close/>
              </a:path>
            </a:pathLst>
          </a:custGeom>
          <a:solidFill>
            <a:srgbClr val="FFFFFF"/>
          </a:solidFill>
          <a:ln>
            <a:noFill/>
          </a:ln>
        </p:spPr>
      </p:sp>
      <p:sp>
        <p:nvSpPr>
          <p:cNvPr id="337" name="Google Shape;337;p24"/>
          <p:cNvSpPr/>
          <p:nvPr/>
        </p:nvSpPr>
        <p:spPr>
          <a:xfrm>
            <a:off x="6235922" y="1737360"/>
            <a:ext cx="2614327" cy="1005078"/>
          </a:xfrm>
          <a:custGeom>
            <a:rect b="b" l="l" r="r" t="t"/>
            <a:pathLst>
              <a:path extrusionOk="0" h="1340104" w="3485769">
                <a:moveTo>
                  <a:pt x="0" y="0"/>
                </a:moveTo>
                <a:lnTo>
                  <a:pt x="3485769" y="0"/>
                </a:lnTo>
                <a:lnTo>
                  <a:pt x="3485769" y="1340104"/>
                </a:lnTo>
                <a:lnTo>
                  <a:pt x="0" y="1340104"/>
                </a:lnTo>
                <a:close/>
              </a:path>
            </a:pathLst>
          </a:custGeom>
          <a:solidFill>
            <a:srgbClr val="2C5F2D"/>
          </a:solidFill>
          <a:ln>
            <a:noFill/>
          </a:ln>
        </p:spPr>
      </p:sp>
      <p:grpSp>
        <p:nvGrpSpPr>
          <p:cNvPr id="338" name="Google Shape;338;p24"/>
          <p:cNvGrpSpPr/>
          <p:nvPr/>
        </p:nvGrpSpPr>
        <p:grpSpPr>
          <a:xfrm>
            <a:off x="6235922" y="1680210"/>
            <a:ext cx="2614320" cy="1062270"/>
            <a:chOff x="0" y="-76200"/>
            <a:chExt cx="3485760" cy="1416360"/>
          </a:xfrm>
        </p:grpSpPr>
        <p:sp>
          <p:nvSpPr>
            <p:cNvPr id="339" name="Google Shape;339;p24"/>
            <p:cNvSpPr/>
            <p:nvPr/>
          </p:nvSpPr>
          <p:spPr>
            <a:xfrm>
              <a:off x="0" y="0"/>
              <a:ext cx="3485760" cy="1340160"/>
            </a:xfrm>
            <a:custGeom>
              <a:rect b="b" l="l" r="r" t="t"/>
              <a:pathLst>
                <a:path extrusionOk="0" h="1340160" w="3485760">
                  <a:moveTo>
                    <a:pt x="0" y="0"/>
                  </a:moveTo>
                  <a:lnTo>
                    <a:pt x="3485760" y="0"/>
                  </a:lnTo>
                  <a:lnTo>
                    <a:pt x="3485760" y="1340160"/>
                  </a:lnTo>
                  <a:lnTo>
                    <a:pt x="0" y="1340160"/>
                  </a:lnTo>
                  <a:close/>
                </a:path>
              </a:pathLst>
            </a:custGeom>
            <a:blipFill rotWithShape="1">
              <a:blip r:embed="rId3">
                <a:alphaModFix amt="0"/>
              </a:blip>
              <a:stretch>
                <a:fillRect b="-680" l="0" r="0" t="-680"/>
              </a:stretch>
            </a:blipFill>
            <a:ln>
              <a:noFill/>
            </a:ln>
          </p:spPr>
        </p:sp>
        <p:sp>
          <p:nvSpPr>
            <p:cNvPr id="340" name="Google Shape;340;p24"/>
            <p:cNvSpPr txBox="1"/>
            <p:nvPr/>
          </p:nvSpPr>
          <p:spPr>
            <a:xfrm>
              <a:off x="0" y="-76200"/>
              <a:ext cx="3485756" cy="141635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3</a:t>
              </a:r>
              <a:endParaRPr/>
            </a:p>
          </p:txBody>
        </p:sp>
      </p:grpSp>
      <p:grpSp>
        <p:nvGrpSpPr>
          <p:cNvPr id="341" name="Google Shape;341;p24"/>
          <p:cNvGrpSpPr/>
          <p:nvPr/>
        </p:nvGrpSpPr>
        <p:grpSpPr>
          <a:xfrm>
            <a:off x="6327362" y="2853642"/>
            <a:ext cx="2431440" cy="1315158"/>
            <a:chOff x="0" y="-47625"/>
            <a:chExt cx="3241920" cy="1753545"/>
          </a:xfrm>
        </p:grpSpPr>
        <p:sp>
          <p:nvSpPr>
            <p:cNvPr id="342" name="Google Shape;342;p24"/>
            <p:cNvSpPr/>
            <p:nvPr/>
          </p:nvSpPr>
          <p:spPr>
            <a:xfrm>
              <a:off x="0" y="0"/>
              <a:ext cx="3241920" cy="1705920"/>
            </a:xfrm>
            <a:custGeom>
              <a:rect b="b" l="l" r="r" t="t"/>
              <a:pathLst>
                <a:path extrusionOk="0" h="1705920" w="3241920">
                  <a:moveTo>
                    <a:pt x="0" y="0"/>
                  </a:moveTo>
                  <a:lnTo>
                    <a:pt x="3241920" y="0"/>
                  </a:lnTo>
                  <a:lnTo>
                    <a:pt x="3241920" y="1705920"/>
                  </a:lnTo>
                  <a:lnTo>
                    <a:pt x="0" y="1705920"/>
                  </a:lnTo>
                  <a:close/>
                </a:path>
              </a:pathLst>
            </a:custGeom>
            <a:blipFill rotWithShape="1">
              <a:blip r:embed="rId3">
                <a:alphaModFix amt="0"/>
              </a:blip>
              <a:stretch>
                <a:fillRect b="0" l="-17514" r="-17513" t="0"/>
              </a:stretch>
            </a:blipFill>
            <a:ln>
              <a:noFill/>
            </a:ln>
          </p:spPr>
        </p:sp>
        <p:sp>
          <p:nvSpPr>
            <p:cNvPr id="343" name="Google Shape;343;p24"/>
            <p:cNvSpPr txBox="1"/>
            <p:nvPr/>
          </p:nvSpPr>
          <p:spPr>
            <a:xfrm>
              <a:off x="0" y="-47625"/>
              <a:ext cx="3241916" cy="17535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1A3C2B"/>
                  </a:solidFill>
                  <a:latin typeface="Calibri"/>
                  <a:ea typeface="Calibri"/>
                  <a:cs typeface="Calibri"/>
                  <a:sym typeface="Calibri"/>
                </a:rPr>
                <a:t>Duplicate Removal</a:t>
              </a:r>
              <a:endParaRPr/>
            </a:p>
          </p:txBody>
        </p:sp>
      </p:grpSp>
      <p:grpSp>
        <p:nvGrpSpPr>
          <p:cNvPr id="344" name="Google Shape;344;p24"/>
          <p:cNvGrpSpPr/>
          <p:nvPr/>
        </p:nvGrpSpPr>
        <p:grpSpPr>
          <a:xfrm>
            <a:off x="6327362" y="4204811"/>
            <a:ext cx="2431440" cy="3383988"/>
            <a:chOff x="0" y="-123825"/>
            <a:chExt cx="3241920" cy="4511985"/>
          </a:xfrm>
        </p:grpSpPr>
        <p:sp>
          <p:nvSpPr>
            <p:cNvPr id="345" name="Google Shape;345;p24"/>
            <p:cNvSpPr/>
            <p:nvPr/>
          </p:nvSpPr>
          <p:spPr>
            <a:xfrm>
              <a:off x="0" y="0"/>
              <a:ext cx="3241920" cy="4388160"/>
            </a:xfrm>
            <a:custGeom>
              <a:rect b="b" l="l" r="r" t="t"/>
              <a:pathLst>
                <a:path extrusionOk="0" h="4388160" w="3241920">
                  <a:moveTo>
                    <a:pt x="0" y="0"/>
                  </a:moveTo>
                  <a:lnTo>
                    <a:pt x="3241920" y="0"/>
                  </a:lnTo>
                  <a:lnTo>
                    <a:pt x="3241920" y="4388160"/>
                  </a:lnTo>
                  <a:lnTo>
                    <a:pt x="0" y="4388160"/>
                  </a:lnTo>
                  <a:close/>
                </a:path>
              </a:pathLst>
            </a:custGeom>
            <a:blipFill rotWithShape="1">
              <a:blip r:embed="rId3">
                <a:alphaModFix amt="0"/>
              </a:blip>
              <a:stretch>
                <a:fillRect b="0" l="-123671" r="-123671" t="0"/>
              </a:stretch>
            </a:blipFill>
            <a:ln>
              <a:noFill/>
            </a:ln>
          </p:spPr>
        </p:sp>
        <p:sp>
          <p:nvSpPr>
            <p:cNvPr id="346" name="Google Shape;346;p24"/>
            <p:cNvSpPr txBox="1"/>
            <p:nvPr/>
          </p:nvSpPr>
          <p:spPr>
            <a:xfrm>
              <a:off x="0" y="-123825"/>
              <a:ext cx="3241916" cy="4511980"/>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0" i="0" lang="en-US" sz="1900" u="none" cap="none" strike="noStrike">
                  <a:solidFill>
                    <a:srgbClr val="5A7A65"/>
                  </a:solidFill>
                  <a:latin typeface="Calibri"/>
                  <a:ea typeface="Calibri"/>
                  <a:cs typeface="Calibri"/>
                  <a:sym typeface="Calibri"/>
                </a:rPr>
                <a:t>MD5 exact + pHash</a:t>
              </a:r>
              <a:endParaRPr/>
            </a:p>
            <a:p>
              <a:pPr indent="0" lvl="0" marL="0" marR="0" rtl="0" algn="ctr">
                <a:lnSpc>
                  <a:spcPct val="168000"/>
                </a:lnSpc>
                <a:spcBef>
                  <a:spcPts val="0"/>
                </a:spcBef>
                <a:spcAft>
                  <a:spcPts val="0"/>
                </a:spcAft>
                <a:buNone/>
              </a:pPr>
              <a:r>
                <a:rPr b="0" i="0" lang="en-US" sz="1900" u="none" cap="none" strike="noStrike">
                  <a:solidFill>
                    <a:srgbClr val="5A7A65"/>
                  </a:solidFill>
                  <a:latin typeface="Calibri"/>
                  <a:ea typeface="Calibri"/>
                  <a:cs typeface="Calibri"/>
                  <a:sym typeface="Calibri"/>
                </a:rPr>
                <a:t>near-duplicate removal</a:t>
              </a:r>
              <a:endParaRPr/>
            </a:p>
          </p:txBody>
        </p:sp>
      </p:grpSp>
      <p:sp>
        <p:nvSpPr>
          <p:cNvPr id="347" name="Google Shape;347;p24"/>
          <p:cNvSpPr/>
          <p:nvPr/>
        </p:nvSpPr>
        <p:spPr>
          <a:xfrm>
            <a:off x="8851678" y="3840480"/>
            <a:ext cx="328327" cy="218884"/>
          </a:xfrm>
          <a:custGeom>
            <a:rect b="b" l="l" r="r" t="t"/>
            <a:pathLst>
              <a:path extrusionOk="0" h="291846" w="437769">
                <a:moveTo>
                  <a:pt x="0" y="0"/>
                </a:moveTo>
                <a:lnTo>
                  <a:pt x="437769" y="0"/>
                </a:lnTo>
                <a:lnTo>
                  <a:pt x="437769" y="291846"/>
                </a:lnTo>
                <a:lnTo>
                  <a:pt x="0" y="291846"/>
                </a:lnTo>
                <a:close/>
              </a:path>
            </a:pathLst>
          </a:custGeom>
          <a:solidFill>
            <a:srgbClr val="97BC62"/>
          </a:solidFill>
          <a:ln>
            <a:noFill/>
          </a:ln>
        </p:spPr>
      </p:sp>
      <p:sp>
        <p:nvSpPr>
          <p:cNvPr id="348" name="Google Shape;348;p24"/>
          <p:cNvSpPr/>
          <p:nvPr/>
        </p:nvSpPr>
        <p:spPr>
          <a:xfrm>
            <a:off x="9217438" y="1737360"/>
            <a:ext cx="2614327" cy="6400038"/>
          </a:xfrm>
          <a:custGeom>
            <a:rect b="b" l="l" r="r" t="t"/>
            <a:pathLst>
              <a:path extrusionOk="0" h="8533384" w="3485769">
                <a:moveTo>
                  <a:pt x="0" y="0"/>
                </a:moveTo>
                <a:lnTo>
                  <a:pt x="3485769" y="0"/>
                </a:lnTo>
                <a:lnTo>
                  <a:pt x="3485769" y="8533384"/>
                </a:lnTo>
                <a:lnTo>
                  <a:pt x="0" y="8533384"/>
                </a:lnTo>
                <a:close/>
              </a:path>
            </a:pathLst>
          </a:custGeom>
          <a:solidFill>
            <a:srgbClr val="FFFFFF"/>
          </a:solidFill>
          <a:ln>
            <a:noFill/>
          </a:ln>
        </p:spPr>
      </p:sp>
      <p:sp>
        <p:nvSpPr>
          <p:cNvPr id="349" name="Google Shape;349;p24"/>
          <p:cNvSpPr/>
          <p:nvPr/>
        </p:nvSpPr>
        <p:spPr>
          <a:xfrm>
            <a:off x="9217438" y="1737360"/>
            <a:ext cx="2614327" cy="1005078"/>
          </a:xfrm>
          <a:custGeom>
            <a:rect b="b" l="l" r="r" t="t"/>
            <a:pathLst>
              <a:path extrusionOk="0" h="1340104" w="3485769">
                <a:moveTo>
                  <a:pt x="0" y="0"/>
                </a:moveTo>
                <a:lnTo>
                  <a:pt x="3485769" y="0"/>
                </a:lnTo>
                <a:lnTo>
                  <a:pt x="3485769" y="1340104"/>
                </a:lnTo>
                <a:lnTo>
                  <a:pt x="0" y="1340104"/>
                </a:lnTo>
                <a:close/>
              </a:path>
            </a:pathLst>
          </a:custGeom>
          <a:solidFill>
            <a:srgbClr val="2C5F2D"/>
          </a:solidFill>
          <a:ln>
            <a:noFill/>
          </a:ln>
        </p:spPr>
      </p:sp>
      <p:grpSp>
        <p:nvGrpSpPr>
          <p:cNvPr id="350" name="Google Shape;350;p24"/>
          <p:cNvGrpSpPr/>
          <p:nvPr/>
        </p:nvGrpSpPr>
        <p:grpSpPr>
          <a:xfrm>
            <a:off x="9217438" y="1680210"/>
            <a:ext cx="2614320" cy="1062270"/>
            <a:chOff x="0" y="-76200"/>
            <a:chExt cx="3485760" cy="1416360"/>
          </a:xfrm>
        </p:grpSpPr>
        <p:sp>
          <p:nvSpPr>
            <p:cNvPr id="351" name="Google Shape;351;p24"/>
            <p:cNvSpPr/>
            <p:nvPr/>
          </p:nvSpPr>
          <p:spPr>
            <a:xfrm>
              <a:off x="0" y="0"/>
              <a:ext cx="3485760" cy="1340160"/>
            </a:xfrm>
            <a:custGeom>
              <a:rect b="b" l="l" r="r" t="t"/>
              <a:pathLst>
                <a:path extrusionOk="0" h="1340160" w="3485760">
                  <a:moveTo>
                    <a:pt x="0" y="0"/>
                  </a:moveTo>
                  <a:lnTo>
                    <a:pt x="3485760" y="0"/>
                  </a:lnTo>
                  <a:lnTo>
                    <a:pt x="3485760" y="1340160"/>
                  </a:lnTo>
                  <a:lnTo>
                    <a:pt x="0" y="1340160"/>
                  </a:lnTo>
                  <a:close/>
                </a:path>
              </a:pathLst>
            </a:custGeom>
            <a:blipFill rotWithShape="1">
              <a:blip r:embed="rId3">
                <a:alphaModFix amt="0"/>
              </a:blip>
              <a:stretch>
                <a:fillRect b="-680" l="0" r="0" t="-680"/>
              </a:stretch>
            </a:blipFill>
            <a:ln>
              <a:noFill/>
            </a:ln>
          </p:spPr>
        </p:sp>
        <p:sp>
          <p:nvSpPr>
            <p:cNvPr id="352" name="Google Shape;352;p24"/>
            <p:cNvSpPr txBox="1"/>
            <p:nvPr/>
          </p:nvSpPr>
          <p:spPr>
            <a:xfrm>
              <a:off x="0" y="-76200"/>
              <a:ext cx="3485756" cy="141635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4</a:t>
              </a:r>
              <a:endParaRPr/>
            </a:p>
          </p:txBody>
        </p:sp>
      </p:grpSp>
      <p:grpSp>
        <p:nvGrpSpPr>
          <p:cNvPr id="353" name="Google Shape;353;p24"/>
          <p:cNvGrpSpPr/>
          <p:nvPr/>
        </p:nvGrpSpPr>
        <p:grpSpPr>
          <a:xfrm>
            <a:off x="9308878" y="2853642"/>
            <a:ext cx="2431440" cy="1315158"/>
            <a:chOff x="0" y="-47625"/>
            <a:chExt cx="3241920" cy="1753545"/>
          </a:xfrm>
        </p:grpSpPr>
        <p:sp>
          <p:nvSpPr>
            <p:cNvPr id="354" name="Google Shape;354;p24"/>
            <p:cNvSpPr/>
            <p:nvPr/>
          </p:nvSpPr>
          <p:spPr>
            <a:xfrm>
              <a:off x="0" y="0"/>
              <a:ext cx="3241920" cy="1705920"/>
            </a:xfrm>
            <a:custGeom>
              <a:rect b="b" l="l" r="r" t="t"/>
              <a:pathLst>
                <a:path extrusionOk="0" h="1705920" w="3241920">
                  <a:moveTo>
                    <a:pt x="0" y="0"/>
                  </a:moveTo>
                  <a:lnTo>
                    <a:pt x="3241920" y="0"/>
                  </a:lnTo>
                  <a:lnTo>
                    <a:pt x="3241920" y="1705920"/>
                  </a:lnTo>
                  <a:lnTo>
                    <a:pt x="0" y="1705920"/>
                  </a:lnTo>
                  <a:close/>
                </a:path>
              </a:pathLst>
            </a:custGeom>
            <a:blipFill rotWithShape="1">
              <a:blip r:embed="rId3">
                <a:alphaModFix amt="0"/>
              </a:blip>
              <a:stretch>
                <a:fillRect b="0" l="-17514" r="-17513" t="0"/>
              </a:stretch>
            </a:blipFill>
            <a:ln>
              <a:noFill/>
            </a:ln>
          </p:spPr>
        </p:sp>
        <p:sp>
          <p:nvSpPr>
            <p:cNvPr id="355" name="Google Shape;355;p24"/>
            <p:cNvSpPr txBox="1"/>
            <p:nvPr/>
          </p:nvSpPr>
          <p:spPr>
            <a:xfrm>
              <a:off x="0" y="-47625"/>
              <a:ext cx="3241916" cy="17535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1A3C2B"/>
                  </a:solidFill>
                  <a:latin typeface="Calibri"/>
                  <a:ea typeface="Calibri"/>
                  <a:cs typeface="Calibri"/>
                  <a:sym typeface="Calibri"/>
                </a:rPr>
                <a:t>Augmentation</a:t>
              </a:r>
              <a:endParaRPr/>
            </a:p>
          </p:txBody>
        </p:sp>
      </p:grpSp>
      <p:grpSp>
        <p:nvGrpSpPr>
          <p:cNvPr id="356" name="Google Shape;356;p24"/>
          <p:cNvGrpSpPr/>
          <p:nvPr/>
        </p:nvGrpSpPr>
        <p:grpSpPr>
          <a:xfrm>
            <a:off x="9308878" y="4204811"/>
            <a:ext cx="2431440" cy="3383988"/>
            <a:chOff x="0" y="-123825"/>
            <a:chExt cx="3241920" cy="4511985"/>
          </a:xfrm>
        </p:grpSpPr>
        <p:sp>
          <p:nvSpPr>
            <p:cNvPr id="357" name="Google Shape;357;p24"/>
            <p:cNvSpPr/>
            <p:nvPr/>
          </p:nvSpPr>
          <p:spPr>
            <a:xfrm>
              <a:off x="0" y="0"/>
              <a:ext cx="3241920" cy="4388160"/>
            </a:xfrm>
            <a:custGeom>
              <a:rect b="b" l="l" r="r" t="t"/>
              <a:pathLst>
                <a:path extrusionOk="0" h="4388160" w="3241920">
                  <a:moveTo>
                    <a:pt x="0" y="0"/>
                  </a:moveTo>
                  <a:lnTo>
                    <a:pt x="3241920" y="0"/>
                  </a:lnTo>
                  <a:lnTo>
                    <a:pt x="3241920" y="4388160"/>
                  </a:lnTo>
                  <a:lnTo>
                    <a:pt x="0" y="4388160"/>
                  </a:lnTo>
                  <a:close/>
                </a:path>
              </a:pathLst>
            </a:custGeom>
            <a:blipFill rotWithShape="1">
              <a:blip r:embed="rId3">
                <a:alphaModFix amt="0"/>
              </a:blip>
              <a:stretch>
                <a:fillRect b="0" l="-123671" r="-123671" t="0"/>
              </a:stretch>
            </a:blipFill>
            <a:ln>
              <a:noFill/>
            </a:ln>
          </p:spPr>
        </p:sp>
        <p:sp>
          <p:nvSpPr>
            <p:cNvPr id="358" name="Google Shape;358;p24"/>
            <p:cNvSpPr txBox="1"/>
            <p:nvPr/>
          </p:nvSpPr>
          <p:spPr>
            <a:xfrm>
              <a:off x="0" y="-123825"/>
              <a:ext cx="3241916" cy="4511980"/>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0" i="0" lang="en-US" sz="1900" u="none" cap="none" strike="noStrike">
                  <a:solidFill>
                    <a:srgbClr val="5A7A65"/>
                  </a:solidFill>
                  <a:latin typeface="Calibri"/>
                  <a:ea typeface="Calibri"/>
                  <a:cs typeface="Calibri"/>
                  <a:sym typeface="Calibri"/>
                </a:rPr>
                <a:t>Minority classes only</a:t>
              </a:r>
              <a:endParaRPr/>
            </a:p>
            <a:p>
              <a:pPr indent="0" lvl="0" marL="0" marR="0" rtl="0" algn="ctr">
                <a:lnSpc>
                  <a:spcPct val="168000"/>
                </a:lnSpc>
                <a:spcBef>
                  <a:spcPts val="0"/>
                </a:spcBef>
                <a:spcAft>
                  <a:spcPts val="0"/>
                </a:spcAft>
                <a:buNone/>
              </a:pPr>
              <a:r>
                <a:rPr b="0" i="0" lang="en-US" sz="1900" u="none" cap="none" strike="noStrike">
                  <a:solidFill>
                    <a:srgbClr val="5A7A65"/>
                  </a:solidFill>
                  <a:latin typeface="Calibri"/>
                  <a:ea typeface="Calibri"/>
                  <a:cs typeface="Calibri"/>
                  <a:sym typeface="Calibri"/>
                </a:rPr>
                <a:t>Flip · Rotate · Brightness</a:t>
              </a:r>
              <a:endParaRPr/>
            </a:p>
          </p:txBody>
        </p:sp>
      </p:grpSp>
      <p:sp>
        <p:nvSpPr>
          <p:cNvPr id="359" name="Google Shape;359;p24"/>
          <p:cNvSpPr/>
          <p:nvPr/>
        </p:nvSpPr>
        <p:spPr>
          <a:xfrm>
            <a:off x="11832479" y="3840480"/>
            <a:ext cx="328327" cy="218884"/>
          </a:xfrm>
          <a:custGeom>
            <a:rect b="b" l="l" r="r" t="t"/>
            <a:pathLst>
              <a:path extrusionOk="0" h="291846" w="437769">
                <a:moveTo>
                  <a:pt x="0" y="0"/>
                </a:moveTo>
                <a:lnTo>
                  <a:pt x="437769" y="0"/>
                </a:lnTo>
                <a:lnTo>
                  <a:pt x="437769" y="291846"/>
                </a:lnTo>
                <a:lnTo>
                  <a:pt x="0" y="291846"/>
                </a:lnTo>
                <a:close/>
              </a:path>
            </a:pathLst>
          </a:custGeom>
          <a:solidFill>
            <a:srgbClr val="97BC62"/>
          </a:solidFill>
          <a:ln>
            <a:noFill/>
          </a:ln>
        </p:spPr>
      </p:sp>
      <p:sp>
        <p:nvSpPr>
          <p:cNvPr id="360" name="Google Shape;360;p24"/>
          <p:cNvSpPr/>
          <p:nvPr/>
        </p:nvSpPr>
        <p:spPr>
          <a:xfrm>
            <a:off x="12198239" y="1737360"/>
            <a:ext cx="2614327" cy="6400038"/>
          </a:xfrm>
          <a:custGeom>
            <a:rect b="b" l="l" r="r" t="t"/>
            <a:pathLst>
              <a:path extrusionOk="0" h="8533384" w="3485769">
                <a:moveTo>
                  <a:pt x="0" y="0"/>
                </a:moveTo>
                <a:lnTo>
                  <a:pt x="3485769" y="0"/>
                </a:lnTo>
                <a:lnTo>
                  <a:pt x="3485769" y="8533384"/>
                </a:lnTo>
                <a:lnTo>
                  <a:pt x="0" y="8533384"/>
                </a:lnTo>
                <a:close/>
              </a:path>
            </a:pathLst>
          </a:custGeom>
          <a:solidFill>
            <a:srgbClr val="FFFFFF"/>
          </a:solidFill>
          <a:ln>
            <a:noFill/>
          </a:ln>
        </p:spPr>
      </p:sp>
      <p:sp>
        <p:nvSpPr>
          <p:cNvPr id="361" name="Google Shape;361;p24"/>
          <p:cNvSpPr/>
          <p:nvPr/>
        </p:nvSpPr>
        <p:spPr>
          <a:xfrm>
            <a:off x="12198239" y="1737360"/>
            <a:ext cx="2614327" cy="1005078"/>
          </a:xfrm>
          <a:custGeom>
            <a:rect b="b" l="l" r="r" t="t"/>
            <a:pathLst>
              <a:path extrusionOk="0" h="1340104" w="3485769">
                <a:moveTo>
                  <a:pt x="0" y="0"/>
                </a:moveTo>
                <a:lnTo>
                  <a:pt x="3485769" y="0"/>
                </a:lnTo>
                <a:lnTo>
                  <a:pt x="3485769" y="1340104"/>
                </a:lnTo>
                <a:lnTo>
                  <a:pt x="0" y="1340104"/>
                </a:lnTo>
                <a:close/>
              </a:path>
            </a:pathLst>
          </a:custGeom>
          <a:solidFill>
            <a:srgbClr val="2C5F2D"/>
          </a:solidFill>
          <a:ln>
            <a:noFill/>
          </a:ln>
        </p:spPr>
      </p:sp>
      <p:grpSp>
        <p:nvGrpSpPr>
          <p:cNvPr id="362" name="Google Shape;362;p24"/>
          <p:cNvGrpSpPr/>
          <p:nvPr/>
        </p:nvGrpSpPr>
        <p:grpSpPr>
          <a:xfrm>
            <a:off x="12198239" y="1680210"/>
            <a:ext cx="2614320" cy="1062270"/>
            <a:chOff x="0" y="-76200"/>
            <a:chExt cx="3485760" cy="1416360"/>
          </a:xfrm>
        </p:grpSpPr>
        <p:sp>
          <p:nvSpPr>
            <p:cNvPr id="363" name="Google Shape;363;p24"/>
            <p:cNvSpPr/>
            <p:nvPr/>
          </p:nvSpPr>
          <p:spPr>
            <a:xfrm>
              <a:off x="0" y="0"/>
              <a:ext cx="3485760" cy="1340160"/>
            </a:xfrm>
            <a:custGeom>
              <a:rect b="b" l="l" r="r" t="t"/>
              <a:pathLst>
                <a:path extrusionOk="0" h="1340160" w="3485760">
                  <a:moveTo>
                    <a:pt x="0" y="0"/>
                  </a:moveTo>
                  <a:lnTo>
                    <a:pt x="3485760" y="0"/>
                  </a:lnTo>
                  <a:lnTo>
                    <a:pt x="3485760" y="1340160"/>
                  </a:lnTo>
                  <a:lnTo>
                    <a:pt x="0" y="1340160"/>
                  </a:lnTo>
                  <a:close/>
                </a:path>
              </a:pathLst>
            </a:custGeom>
            <a:blipFill rotWithShape="1">
              <a:blip r:embed="rId3">
                <a:alphaModFix amt="0"/>
              </a:blip>
              <a:stretch>
                <a:fillRect b="-680" l="0" r="0" t="-680"/>
              </a:stretch>
            </a:blipFill>
            <a:ln>
              <a:noFill/>
            </a:ln>
          </p:spPr>
        </p:sp>
        <p:sp>
          <p:nvSpPr>
            <p:cNvPr id="364" name="Google Shape;364;p24"/>
            <p:cNvSpPr txBox="1"/>
            <p:nvPr/>
          </p:nvSpPr>
          <p:spPr>
            <a:xfrm>
              <a:off x="0" y="-76200"/>
              <a:ext cx="3485756" cy="141635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5</a:t>
              </a:r>
              <a:endParaRPr/>
            </a:p>
          </p:txBody>
        </p:sp>
      </p:grpSp>
      <p:grpSp>
        <p:nvGrpSpPr>
          <p:cNvPr id="365" name="Google Shape;365;p24"/>
          <p:cNvGrpSpPr/>
          <p:nvPr/>
        </p:nvGrpSpPr>
        <p:grpSpPr>
          <a:xfrm>
            <a:off x="12289679" y="2853642"/>
            <a:ext cx="2431440" cy="1315158"/>
            <a:chOff x="0" y="-47625"/>
            <a:chExt cx="3241920" cy="1753545"/>
          </a:xfrm>
        </p:grpSpPr>
        <p:sp>
          <p:nvSpPr>
            <p:cNvPr id="366" name="Google Shape;366;p24"/>
            <p:cNvSpPr/>
            <p:nvPr/>
          </p:nvSpPr>
          <p:spPr>
            <a:xfrm>
              <a:off x="0" y="0"/>
              <a:ext cx="3241920" cy="1705920"/>
            </a:xfrm>
            <a:custGeom>
              <a:rect b="b" l="l" r="r" t="t"/>
              <a:pathLst>
                <a:path extrusionOk="0" h="1705920" w="3241920">
                  <a:moveTo>
                    <a:pt x="0" y="0"/>
                  </a:moveTo>
                  <a:lnTo>
                    <a:pt x="3241920" y="0"/>
                  </a:lnTo>
                  <a:lnTo>
                    <a:pt x="3241920" y="1705920"/>
                  </a:lnTo>
                  <a:lnTo>
                    <a:pt x="0" y="1705920"/>
                  </a:lnTo>
                  <a:close/>
                </a:path>
              </a:pathLst>
            </a:custGeom>
            <a:blipFill rotWithShape="1">
              <a:blip r:embed="rId3">
                <a:alphaModFix amt="0"/>
              </a:blip>
              <a:stretch>
                <a:fillRect b="0" l="-17514" r="-17513" t="0"/>
              </a:stretch>
            </a:blipFill>
            <a:ln>
              <a:noFill/>
            </a:ln>
          </p:spPr>
        </p:sp>
        <p:sp>
          <p:nvSpPr>
            <p:cNvPr id="367" name="Google Shape;367;p24"/>
            <p:cNvSpPr txBox="1"/>
            <p:nvPr/>
          </p:nvSpPr>
          <p:spPr>
            <a:xfrm>
              <a:off x="0" y="-47625"/>
              <a:ext cx="3241916" cy="17535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1A3C2B"/>
                  </a:solidFill>
                  <a:latin typeface="Calibri"/>
                  <a:ea typeface="Calibri"/>
                  <a:cs typeface="Calibri"/>
                  <a:sym typeface="Calibri"/>
                </a:rPr>
                <a:t>Normalisation</a:t>
              </a:r>
              <a:endParaRPr/>
            </a:p>
          </p:txBody>
        </p:sp>
      </p:grpSp>
      <p:grpSp>
        <p:nvGrpSpPr>
          <p:cNvPr id="368" name="Google Shape;368;p24"/>
          <p:cNvGrpSpPr/>
          <p:nvPr/>
        </p:nvGrpSpPr>
        <p:grpSpPr>
          <a:xfrm>
            <a:off x="12289679" y="4204811"/>
            <a:ext cx="2431440" cy="3383988"/>
            <a:chOff x="0" y="-123825"/>
            <a:chExt cx="3241920" cy="4511985"/>
          </a:xfrm>
        </p:grpSpPr>
        <p:sp>
          <p:nvSpPr>
            <p:cNvPr id="369" name="Google Shape;369;p24"/>
            <p:cNvSpPr/>
            <p:nvPr/>
          </p:nvSpPr>
          <p:spPr>
            <a:xfrm>
              <a:off x="0" y="0"/>
              <a:ext cx="3241920" cy="4388160"/>
            </a:xfrm>
            <a:custGeom>
              <a:rect b="b" l="l" r="r" t="t"/>
              <a:pathLst>
                <a:path extrusionOk="0" h="4388160" w="3241920">
                  <a:moveTo>
                    <a:pt x="0" y="0"/>
                  </a:moveTo>
                  <a:lnTo>
                    <a:pt x="3241920" y="0"/>
                  </a:lnTo>
                  <a:lnTo>
                    <a:pt x="3241920" y="4388160"/>
                  </a:lnTo>
                  <a:lnTo>
                    <a:pt x="0" y="4388160"/>
                  </a:lnTo>
                  <a:close/>
                </a:path>
              </a:pathLst>
            </a:custGeom>
            <a:blipFill rotWithShape="1">
              <a:blip r:embed="rId3">
                <a:alphaModFix amt="0"/>
              </a:blip>
              <a:stretch>
                <a:fillRect b="0" l="-123671" r="-123671" t="0"/>
              </a:stretch>
            </a:blipFill>
            <a:ln>
              <a:noFill/>
            </a:ln>
          </p:spPr>
        </p:sp>
        <p:sp>
          <p:nvSpPr>
            <p:cNvPr id="370" name="Google Shape;370;p24"/>
            <p:cNvSpPr txBox="1"/>
            <p:nvPr/>
          </p:nvSpPr>
          <p:spPr>
            <a:xfrm>
              <a:off x="0" y="-123825"/>
              <a:ext cx="3241916" cy="4511980"/>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0" i="0" lang="en-US" sz="1900" u="none" cap="none" strike="noStrike">
                  <a:solidFill>
                    <a:srgbClr val="5A7A65"/>
                  </a:solidFill>
                  <a:latin typeface="Calibri"/>
                  <a:ea typeface="Calibri"/>
                  <a:cs typeface="Calibri"/>
                  <a:sym typeface="Calibri"/>
                </a:rPr>
                <a:t>ImageNet mean/std</a:t>
              </a:r>
              <a:endParaRPr/>
            </a:p>
            <a:p>
              <a:pPr indent="0" lvl="0" marL="0" marR="0" rtl="0" algn="ctr">
                <a:lnSpc>
                  <a:spcPct val="168000"/>
                </a:lnSpc>
                <a:spcBef>
                  <a:spcPts val="0"/>
                </a:spcBef>
                <a:spcAft>
                  <a:spcPts val="0"/>
                </a:spcAft>
                <a:buNone/>
              </a:pPr>
              <a:r>
                <a:rPr b="0" i="0" lang="en-US" sz="1900" u="none" cap="none" strike="noStrike">
                  <a:solidFill>
                    <a:srgbClr val="5A7A65"/>
                  </a:solidFill>
                  <a:latin typeface="Calibri"/>
                  <a:ea typeface="Calibri"/>
                  <a:cs typeface="Calibri"/>
                  <a:sym typeface="Calibri"/>
                </a:rPr>
                <a:t>For transfer learning</a:t>
              </a:r>
              <a:endParaRPr/>
            </a:p>
          </p:txBody>
        </p:sp>
      </p:grpSp>
      <p:sp>
        <p:nvSpPr>
          <p:cNvPr id="371" name="Google Shape;371;p24"/>
          <p:cNvSpPr/>
          <p:nvPr/>
        </p:nvSpPr>
        <p:spPr>
          <a:xfrm>
            <a:off x="14813280" y="3840480"/>
            <a:ext cx="328327" cy="218884"/>
          </a:xfrm>
          <a:custGeom>
            <a:rect b="b" l="l" r="r" t="t"/>
            <a:pathLst>
              <a:path extrusionOk="0" h="291846" w="437769">
                <a:moveTo>
                  <a:pt x="0" y="0"/>
                </a:moveTo>
                <a:lnTo>
                  <a:pt x="437769" y="0"/>
                </a:lnTo>
                <a:lnTo>
                  <a:pt x="437769" y="291846"/>
                </a:lnTo>
                <a:lnTo>
                  <a:pt x="0" y="291846"/>
                </a:lnTo>
                <a:close/>
              </a:path>
            </a:pathLst>
          </a:custGeom>
          <a:solidFill>
            <a:srgbClr val="97BC62"/>
          </a:solidFill>
          <a:ln>
            <a:noFill/>
          </a:ln>
        </p:spPr>
      </p:sp>
      <p:sp>
        <p:nvSpPr>
          <p:cNvPr id="372" name="Google Shape;372;p24"/>
          <p:cNvSpPr/>
          <p:nvPr/>
        </p:nvSpPr>
        <p:spPr>
          <a:xfrm>
            <a:off x="15179040" y="1737360"/>
            <a:ext cx="2614327" cy="6400038"/>
          </a:xfrm>
          <a:custGeom>
            <a:rect b="b" l="l" r="r" t="t"/>
            <a:pathLst>
              <a:path extrusionOk="0" h="8533384" w="3485769">
                <a:moveTo>
                  <a:pt x="0" y="0"/>
                </a:moveTo>
                <a:lnTo>
                  <a:pt x="3485769" y="0"/>
                </a:lnTo>
                <a:lnTo>
                  <a:pt x="3485769" y="8533384"/>
                </a:lnTo>
                <a:lnTo>
                  <a:pt x="0" y="8533384"/>
                </a:lnTo>
                <a:close/>
              </a:path>
            </a:pathLst>
          </a:custGeom>
          <a:solidFill>
            <a:srgbClr val="FFFFFF"/>
          </a:solidFill>
          <a:ln>
            <a:noFill/>
          </a:ln>
        </p:spPr>
      </p:sp>
      <p:sp>
        <p:nvSpPr>
          <p:cNvPr id="373" name="Google Shape;373;p24"/>
          <p:cNvSpPr/>
          <p:nvPr/>
        </p:nvSpPr>
        <p:spPr>
          <a:xfrm>
            <a:off x="15179040" y="1737360"/>
            <a:ext cx="2614327" cy="1005078"/>
          </a:xfrm>
          <a:custGeom>
            <a:rect b="b" l="l" r="r" t="t"/>
            <a:pathLst>
              <a:path extrusionOk="0" h="1340104" w="3485769">
                <a:moveTo>
                  <a:pt x="0" y="0"/>
                </a:moveTo>
                <a:lnTo>
                  <a:pt x="3485769" y="0"/>
                </a:lnTo>
                <a:lnTo>
                  <a:pt x="3485769" y="1340104"/>
                </a:lnTo>
                <a:lnTo>
                  <a:pt x="0" y="1340104"/>
                </a:lnTo>
                <a:close/>
              </a:path>
            </a:pathLst>
          </a:custGeom>
          <a:solidFill>
            <a:srgbClr val="2C5F2D"/>
          </a:solidFill>
          <a:ln>
            <a:noFill/>
          </a:ln>
        </p:spPr>
      </p:sp>
      <p:grpSp>
        <p:nvGrpSpPr>
          <p:cNvPr id="374" name="Google Shape;374;p24"/>
          <p:cNvGrpSpPr/>
          <p:nvPr/>
        </p:nvGrpSpPr>
        <p:grpSpPr>
          <a:xfrm>
            <a:off x="15179040" y="1680210"/>
            <a:ext cx="2614320" cy="1062270"/>
            <a:chOff x="0" y="-76200"/>
            <a:chExt cx="3485760" cy="1416360"/>
          </a:xfrm>
        </p:grpSpPr>
        <p:sp>
          <p:nvSpPr>
            <p:cNvPr id="375" name="Google Shape;375;p24"/>
            <p:cNvSpPr/>
            <p:nvPr/>
          </p:nvSpPr>
          <p:spPr>
            <a:xfrm>
              <a:off x="0" y="0"/>
              <a:ext cx="3485760" cy="1340160"/>
            </a:xfrm>
            <a:custGeom>
              <a:rect b="b" l="l" r="r" t="t"/>
              <a:pathLst>
                <a:path extrusionOk="0" h="1340160" w="3485760">
                  <a:moveTo>
                    <a:pt x="0" y="0"/>
                  </a:moveTo>
                  <a:lnTo>
                    <a:pt x="3485760" y="0"/>
                  </a:lnTo>
                  <a:lnTo>
                    <a:pt x="3485760" y="1340160"/>
                  </a:lnTo>
                  <a:lnTo>
                    <a:pt x="0" y="1340160"/>
                  </a:lnTo>
                  <a:close/>
                </a:path>
              </a:pathLst>
            </a:custGeom>
            <a:blipFill rotWithShape="1">
              <a:blip r:embed="rId3">
                <a:alphaModFix amt="0"/>
              </a:blip>
              <a:stretch>
                <a:fillRect b="-680" l="0" r="0" t="-680"/>
              </a:stretch>
            </a:blipFill>
            <a:ln>
              <a:noFill/>
            </a:ln>
          </p:spPr>
        </p:sp>
        <p:sp>
          <p:nvSpPr>
            <p:cNvPr id="376" name="Google Shape;376;p24"/>
            <p:cNvSpPr txBox="1"/>
            <p:nvPr/>
          </p:nvSpPr>
          <p:spPr>
            <a:xfrm>
              <a:off x="0" y="-76200"/>
              <a:ext cx="3485756" cy="141635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6</a:t>
              </a:r>
              <a:endParaRPr/>
            </a:p>
          </p:txBody>
        </p:sp>
      </p:grpSp>
      <p:grpSp>
        <p:nvGrpSpPr>
          <p:cNvPr id="377" name="Google Shape;377;p24"/>
          <p:cNvGrpSpPr/>
          <p:nvPr/>
        </p:nvGrpSpPr>
        <p:grpSpPr>
          <a:xfrm>
            <a:off x="15270480" y="2853642"/>
            <a:ext cx="2431440" cy="1315158"/>
            <a:chOff x="0" y="-47625"/>
            <a:chExt cx="3241920" cy="1753545"/>
          </a:xfrm>
        </p:grpSpPr>
        <p:sp>
          <p:nvSpPr>
            <p:cNvPr id="378" name="Google Shape;378;p24"/>
            <p:cNvSpPr/>
            <p:nvPr/>
          </p:nvSpPr>
          <p:spPr>
            <a:xfrm>
              <a:off x="0" y="0"/>
              <a:ext cx="3241920" cy="1705920"/>
            </a:xfrm>
            <a:custGeom>
              <a:rect b="b" l="l" r="r" t="t"/>
              <a:pathLst>
                <a:path extrusionOk="0" h="1705920" w="3241920">
                  <a:moveTo>
                    <a:pt x="0" y="0"/>
                  </a:moveTo>
                  <a:lnTo>
                    <a:pt x="3241920" y="0"/>
                  </a:lnTo>
                  <a:lnTo>
                    <a:pt x="3241920" y="1705920"/>
                  </a:lnTo>
                  <a:lnTo>
                    <a:pt x="0" y="1705920"/>
                  </a:lnTo>
                  <a:close/>
                </a:path>
              </a:pathLst>
            </a:custGeom>
            <a:blipFill rotWithShape="1">
              <a:blip r:embed="rId3">
                <a:alphaModFix amt="0"/>
              </a:blip>
              <a:stretch>
                <a:fillRect b="0" l="-17514" r="-17513" t="0"/>
              </a:stretch>
            </a:blipFill>
            <a:ln>
              <a:noFill/>
            </a:ln>
          </p:spPr>
        </p:sp>
        <p:sp>
          <p:nvSpPr>
            <p:cNvPr id="379" name="Google Shape;379;p24"/>
            <p:cNvSpPr txBox="1"/>
            <p:nvPr/>
          </p:nvSpPr>
          <p:spPr>
            <a:xfrm>
              <a:off x="0" y="-47625"/>
              <a:ext cx="3241916" cy="17535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1A3C2B"/>
                  </a:solidFill>
                  <a:latin typeface="Calibri"/>
                  <a:ea typeface="Calibri"/>
                  <a:cs typeface="Calibri"/>
                  <a:sym typeface="Calibri"/>
                </a:rPr>
                <a:t>Stratified Split</a:t>
              </a:r>
              <a:endParaRPr/>
            </a:p>
          </p:txBody>
        </p:sp>
      </p:grpSp>
      <p:grpSp>
        <p:nvGrpSpPr>
          <p:cNvPr id="380" name="Google Shape;380;p24"/>
          <p:cNvGrpSpPr/>
          <p:nvPr/>
        </p:nvGrpSpPr>
        <p:grpSpPr>
          <a:xfrm>
            <a:off x="15270480" y="4204811"/>
            <a:ext cx="2431440" cy="3383988"/>
            <a:chOff x="0" y="-123825"/>
            <a:chExt cx="3241920" cy="4511985"/>
          </a:xfrm>
        </p:grpSpPr>
        <p:sp>
          <p:nvSpPr>
            <p:cNvPr id="381" name="Google Shape;381;p24"/>
            <p:cNvSpPr/>
            <p:nvPr/>
          </p:nvSpPr>
          <p:spPr>
            <a:xfrm>
              <a:off x="0" y="0"/>
              <a:ext cx="3241920" cy="4388160"/>
            </a:xfrm>
            <a:custGeom>
              <a:rect b="b" l="l" r="r" t="t"/>
              <a:pathLst>
                <a:path extrusionOk="0" h="4388160" w="3241920">
                  <a:moveTo>
                    <a:pt x="0" y="0"/>
                  </a:moveTo>
                  <a:lnTo>
                    <a:pt x="3241920" y="0"/>
                  </a:lnTo>
                  <a:lnTo>
                    <a:pt x="3241920" y="4388160"/>
                  </a:lnTo>
                  <a:lnTo>
                    <a:pt x="0" y="4388160"/>
                  </a:lnTo>
                  <a:close/>
                </a:path>
              </a:pathLst>
            </a:custGeom>
            <a:blipFill rotWithShape="1">
              <a:blip r:embed="rId3">
                <a:alphaModFix amt="0"/>
              </a:blip>
              <a:stretch>
                <a:fillRect b="0" l="-123671" r="-123671" t="0"/>
              </a:stretch>
            </a:blipFill>
            <a:ln>
              <a:noFill/>
            </a:ln>
          </p:spPr>
        </p:sp>
        <p:sp>
          <p:nvSpPr>
            <p:cNvPr id="382" name="Google Shape;382;p24"/>
            <p:cNvSpPr txBox="1"/>
            <p:nvPr/>
          </p:nvSpPr>
          <p:spPr>
            <a:xfrm>
              <a:off x="0" y="-123825"/>
              <a:ext cx="3241916" cy="4511980"/>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None/>
              </a:pPr>
              <a:r>
                <a:rPr b="0" i="0" lang="en-US" sz="1900" u="none" cap="none" strike="noStrike">
                  <a:solidFill>
                    <a:srgbClr val="5A7A65"/>
                  </a:solidFill>
                  <a:latin typeface="Calibri"/>
                  <a:ea typeface="Calibri"/>
                  <a:cs typeface="Calibri"/>
                  <a:sym typeface="Calibri"/>
                </a:rPr>
                <a:t>80 / 10 / 10</a:t>
              </a:r>
              <a:endParaRPr/>
            </a:p>
            <a:p>
              <a:pPr indent="0" lvl="0" marL="0" marR="0" rtl="0" algn="ctr">
                <a:lnSpc>
                  <a:spcPct val="168000"/>
                </a:lnSpc>
                <a:spcBef>
                  <a:spcPts val="0"/>
                </a:spcBef>
                <a:spcAft>
                  <a:spcPts val="0"/>
                </a:spcAft>
                <a:buNone/>
              </a:pPr>
              <a:r>
                <a:rPr b="0" i="0" lang="en-US" sz="1900" u="none" cap="none" strike="noStrike">
                  <a:solidFill>
                    <a:srgbClr val="5A7A65"/>
                  </a:solidFill>
                  <a:latin typeface="Calibri"/>
                  <a:ea typeface="Calibri"/>
                  <a:cs typeface="Calibri"/>
                  <a:sym typeface="Calibri"/>
                </a:rPr>
                <a:t>All 17 classes in each split</a:t>
              </a:r>
              <a:endParaRPr/>
            </a:p>
          </p:txBody>
        </p:sp>
      </p:grpSp>
      <p:sp>
        <p:nvSpPr>
          <p:cNvPr id="383" name="Google Shape;383;p24"/>
          <p:cNvSpPr/>
          <p:nvPr/>
        </p:nvSpPr>
        <p:spPr>
          <a:xfrm>
            <a:off x="274320" y="8412480"/>
            <a:ext cx="17738597" cy="1370838"/>
          </a:xfrm>
          <a:custGeom>
            <a:rect b="b" l="l" r="r" t="t"/>
            <a:pathLst>
              <a:path extrusionOk="0" h="1827784" w="23651463">
                <a:moveTo>
                  <a:pt x="0" y="0"/>
                </a:moveTo>
                <a:lnTo>
                  <a:pt x="23651463" y="0"/>
                </a:lnTo>
                <a:lnTo>
                  <a:pt x="23651463" y="1827784"/>
                </a:lnTo>
                <a:lnTo>
                  <a:pt x="0" y="1827784"/>
                </a:lnTo>
                <a:close/>
              </a:path>
            </a:pathLst>
          </a:custGeom>
          <a:solidFill>
            <a:srgbClr val="EAF0E6"/>
          </a:solidFill>
          <a:ln>
            <a:noFill/>
          </a:ln>
        </p:spPr>
      </p:sp>
      <p:grpSp>
        <p:nvGrpSpPr>
          <p:cNvPr id="384" name="Google Shape;384;p24"/>
          <p:cNvGrpSpPr/>
          <p:nvPr/>
        </p:nvGrpSpPr>
        <p:grpSpPr>
          <a:xfrm>
            <a:off x="640080" y="8398193"/>
            <a:ext cx="17007120" cy="1385167"/>
            <a:chOff x="0" y="-19050"/>
            <a:chExt cx="22676160" cy="1846890"/>
          </a:xfrm>
        </p:grpSpPr>
        <p:sp>
          <p:nvSpPr>
            <p:cNvPr id="385" name="Google Shape;385;p24"/>
            <p:cNvSpPr/>
            <p:nvPr/>
          </p:nvSpPr>
          <p:spPr>
            <a:xfrm>
              <a:off x="0" y="0"/>
              <a:ext cx="22676160" cy="1827840"/>
            </a:xfrm>
            <a:custGeom>
              <a:rect b="b" l="l" r="r" t="t"/>
              <a:pathLst>
                <a:path extrusionOk="0" h="1827840" w="22676160">
                  <a:moveTo>
                    <a:pt x="0" y="0"/>
                  </a:moveTo>
                  <a:lnTo>
                    <a:pt x="22676160" y="0"/>
                  </a:lnTo>
                  <a:lnTo>
                    <a:pt x="22676160" y="1827840"/>
                  </a:lnTo>
                  <a:lnTo>
                    <a:pt x="0" y="1827840"/>
                  </a:lnTo>
                  <a:close/>
                </a:path>
              </a:pathLst>
            </a:custGeom>
            <a:blipFill rotWithShape="1">
              <a:blip r:embed="rId3">
                <a:alphaModFix amt="0"/>
              </a:blip>
              <a:stretch>
                <a:fillRect b="-191733" l="0" r="0" t="-191733"/>
              </a:stretch>
            </a:blipFill>
            <a:ln>
              <a:noFill/>
            </a:ln>
          </p:spPr>
        </p:sp>
        <p:sp>
          <p:nvSpPr>
            <p:cNvPr id="386" name="Google Shape;386;p24"/>
            <p:cNvSpPr txBox="1"/>
            <p:nvPr/>
          </p:nvSpPr>
          <p:spPr>
            <a:xfrm>
              <a:off x="0" y="-19050"/>
              <a:ext cx="22676155" cy="184688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1" lang="en-US" sz="2200" u="none" cap="none" strike="noStrike">
                  <a:solidFill>
                    <a:srgbClr val="1A3C2B"/>
                  </a:solidFill>
                  <a:latin typeface="Arial"/>
                  <a:ea typeface="Arial"/>
                  <a:cs typeface="Arial"/>
                  <a:sym typeface="Arial"/>
                </a:rPr>
                <a:t>🔑  Augmentation applied ONLY to training images (never val/test) — prevents inflated evaluation metrics</a:t>
              </a:r>
              <a:endParaRPr/>
            </a:p>
          </p:txBody>
        </p:sp>
      </p:gr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5"/>
          <p:cNvSpPr/>
          <p:nvPr/>
        </p:nvSpPr>
        <p:spPr>
          <a:xfrm>
            <a:off x="992251" y="1079450"/>
            <a:ext cx="9108000" cy="8862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5600"/>
              <a:buFont typeface="Fraunces ExtraBold"/>
              <a:buNone/>
            </a:pPr>
            <a:r>
              <a:rPr b="1" i="0" lang="en-US" sz="5600" u="none" cap="none" strike="noStrike">
                <a:solidFill>
                  <a:srgbClr val="3B4540"/>
                </a:solidFill>
                <a:latin typeface="Fraunces ExtraBold"/>
                <a:ea typeface="Fraunces ExtraBold"/>
                <a:cs typeface="Fraunces ExtraBold"/>
                <a:sym typeface="Fraunces ExtraBold"/>
              </a:rPr>
              <a:t>Model &amp; Pipeline</a:t>
            </a:r>
            <a:r>
              <a:rPr b="1" lang="en-US" sz="5600">
                <a:solidFill>
                  <a:srgbClr val="3B4540"/>
                </a:solidFill>
                <a:latin typeface="Fraunces ExtraBold"/>
                <a:ea typeface="Fraunces ExtraBold"/>
                <a:cs typeface="Fraunces ExtraBold"/>
                <a:sym typeface="Fraunces ExtraBold"/>
              </a:rPr>
              <a:t> </a:t>
            </a:r>
            <a:r>
              <a:rPr b="1" i="0" lang="en-US" sz="5600" u="none" cap="none" strike="noStrike">
                <a:solidFill>
                  <a:srgbClr val="3B4540"/>
                </a:solidFill>
                <a:latin typeface="Fraunces ExtraBold"/>
                <a:ea typeface="Fraunces ExtraBold"/>
                <a:cs typeface="Fraunces ExtraBold"/>
                <a:sym typeface="Fraunces ExtraBold"/>
              </a:rPr>
              <a:t>Recap</a:t>
            </a:r>
            <a:endParaRPr b="0" i="0" sz="5600" u="none" cap="none" strike="noStrike"/>
          </a:p>
        </p:txBody>
      </p:sp>
      <p:sp>
        <p:nvSpPr>
          <p:cNvPr id="393" name="Google Shape;393;p25"/>
          <p:cNvSpPr/>
          <p:nvPr/>
        </p:nvSpPr>
        <p:spPr>
          <a:xfrm>
            <a:off x="992238" y="2854975"/>
            <a:ext cx="16303500" cy="4875900"/>
          </a:xfrm>
          <a:prstGeom prst="rect">
            <a:avLst/>
          </a:prstGeom>
          <a:noFill/>
          <a:ln>
            <a:noFill/>
          </a:ln>
        </p:spPr>
        <p:txBody>
          <a:bodyPr anchorCtr="0" anchor="t" bIns="0" lIns="0" spcFirstLastPara="1" rIns="0" wrap="square" tIns="0">
            <a:noAutofit/>
          </a:bodyPr>
          <a:lstStyle/>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MobileNet V3 Large (ImageNet pretrained) with frozen backbone + trained classifier head</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Optuna Hyperparameter Optimization (5 trials, Macro F1 objective)</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Best Trial (#4): AdamW | LR=4.28e-4 | Dropout=0.470 | Batch=16 | Weight Decay=1.8e-6</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End-to-End Pipeline:</a:t>
            </a:r>
            <a:endParaRPr b="0" i="0" sz="2200" u="none" cap="none" strike="noStrike"/>
          </a:p>
          <a:p>
            <a:pPr indent="-431800" lvl="1" marL="8636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Image (224×224) → MobileNet (17-class prediction)</a:t>
            </a:r>
            <a:endParaRPr b="0" i="0" sz="2200" u="none" cap="none" strike="noStrike"/>
          </a:p>
          <a:p>
            <a:pPr indent="-431800" lvl="1" marL="8636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 Context Builder (crop+disease)</a:t>
            </a:r>
            <a:endParaRPr b="0" i="0" sz="2200" u="none" cap="none" strike="noStrike"/>
          </a:p>
          <a:p>
            <a:pPr indent="-431800" lvl="1" marL="8636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 ChromaDB Retrieval (top-4 chunks)</a:t>
            </a:r>
            <a:endParaRPr b="0" i="0" sz="2200" u="none" cap="none" strike="noStrike"/>
          </a:p>
          <a:p>
            <a:pPr indent="-431800" lvl="1" marL="8636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 Llama 3.3 (Groq) → Multilingual Text + Voice Output</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Design Choice: Freeze backbone → faster training + avoids overfitting</a:t>
            </a:r>
            <a:endParaRPr b="0" i="0" sz="2200" u="none" cap="none" strike="noStrike"/>
          </a:p>
        </p:txBody>
      </p:sp>
      <p:pic>
        <p:nvPicPr>
          <p:cNvPr id="394" name="Google Shape;394;p25"/>
          <p:cNvPicPr preferRelativeResize="0"/>
          <p:nvPr/>
        </p:nvPicPr>
        <p:blipFill>
          <a:blip r:embed="rId3">
            <a:alphaModFix/>
          </a:blip>
          <a:stretch>
            <a:fillRect/>
          </a:stretch>
        </p:blipFill>
        <p:spPr>
          <a:xfrm>
            <a:off x="15888450" y="9601164"/>
            <a:ext cx="2241125" cy="55688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6"/>
          <p:cNvSpPr/>
          <p:nvPr/>
        </p:nvSpPr>
        <p:spPr>
          <a:xfrm>
            <a:off x="992238" y="1239054"/>
            <a:ext cx="12896700" cy="8862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5600"/>
              <a:buFont typeface="Fraunces ExtraBold"/>
              <a:buNone/>
            </a:pPr>
            <a:r>
              <a:rPr b="1" i="0" lang="en-US" sz="5600" u="none" cap="none" strike="noStrike">
                <a:solidFill>
                  <a:srgbClr val="3B4540"/>
                </a:solidFill>
                <a:latin typeface="Fraunces ExtraBold"/>
                <a:ea typeface="Fraunces ExtraBold"/>
                <a:cs typeface="Fraunces ExtraBold"/>
                <a:sym typeface="Fraunces ExtraBold"/>
              </a:rPr>
              <a:t>Evaluation Dataset &amp; Preprocessing</a:t>
            </a:r>
            <a:endParaRPr b="0" i="0" sz="5600" u="none" cap="none" strike="noStrike"/>
          </a:p>
        </p:txBody>
      </p:sp>
      <p:sp>
        <p:nvSpPr>
          <p:cNvPr id="401" name="Google Shape;401;p26"/>
          <p:cNvSpPr/>
          <p:nvPr/>
        </p:nvSpPr>
        <p:spPr>
          <a:xfrm>
            <a:off x="992238" y="3455938"/>
            <a:ext cx="8010000" cy="4828200"/>
          </a:xfrm>
          <a:prstGeom prst="roundRect">
            <a:avLst>
              <a:gd fmla="val 5285" name="adj"/>
            </a:avLst>
          </a:prstGeom>
          <a:solidFill>
            <a:srgbClr val="FAFFFA"/>
          </a:solidFill>
          <a:ln cap="flat" cmpd="sng" w="38100">
            <a:solidFill>
              <a:srgbClr val="CED9CE"/>
            </a:solidFill>
            <a:prstDash val="solid"/>
            <a:round/>
            <a:headEnd len="sm" w="sm" type="none"/>
            <a:tailEnd len="sm" w="sm" type="none"/>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sp>
        <p:nvSpPr>
          <p:cNvPr id="402" name="Google Shape;402;p26"/>
          <p:cNvSpPr/>
          <p:nvPr/>
        </p:nvSpPr>
        <p:spPr>
          <a:xfrm>
            <a:off x="1313855" y="3777555"/>
            <a:ext cx="3544200" cy="442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800"/>
              <a:buFont typeface="Fraunces ExtraBold"/>
              <a:buNone/>
            </a:pPr>
            <a:r>
              <a:rPr b="1" i="0" lang="en-US" sz="2800" u="none" cap="none" strike="noStrike">
                <a:solidFill>
                  <a:srgbClr val="405449"/>
                </a:solidFill>
                <a:latin typeface="Fraunces ExtraBold"/>
                <a:ea typeface="Fraunces ExtraBold"/>
                <a:cs typeface="Fraunces ExtraBold"/>
                <a:sym typeface="Fraunces ExtraBold"/>
              </a:rPr>
              <a:t>Dataset Overview</a:t>
            </a:r>
            <a:endParaRPr b="0" i="0" sz="2800" u="none" cap="none" strike="noStrike"/>
          </a:p>
        </p:txBody>
      </p:sp>
      <p:sp>
        <p:nvSpPr>
          <p:cNvPr id="403" name="Google Shape;403;p26"/>
          <p:cNvSpPr/>
          <p:nvPr/>
        </p:nvSpPr>
        <p:spPr>
          <a:xfrm>
            <a:off x="1313855" y="4390579"/>
            <a:ext cx="7366800" cy="3571800"/>
          </a:xfrm>
          <a:prstGeom prst="rect">
            <a:avLst/>
          </a:prstGeom>
          <a:noFill/>
          <a:ln>
            <a:noFill/>
          </a:ln>
        </p:spPr>
        <p:txBody>
          <a:bodyPr anchorCtr="0" anchor="t" bIns="0" lIns="0" spcFirstLastPara="1" rIns="0" wrap="square" tIns="0">
            <a:noAutofit/>
          </a:bodyPr>
          <a:lstStyle/>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Dataset: Kaggle Crop Disease Dataset (13,324 images, 17 classes, 5 crops)</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Test Split: ~1,332 images (10%), Stratified (seed=42)</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Severe Class Imbalance: 14.9×</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Example: Rice Healthy ~149 vs Sugarcane classes ~10 images</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Split: 80% Train / 10% Val / 10% Test</a:t>
            </a:r>
            <a:endParaRPr b="0" i="0" sz="2200" u="none" cap="none" strike="noStrike"/>
          </a:p>
        </p:txBody>
      </p:sp>
      <p:sp>
        <p:nvSpPr>
          <p:cNvPr id="404" name="Google Shape;404;p26"/>
          <p:cNvSpPr/>
          <p:nvPr/>
        </p:nvSpPr>
        <p:spPr>
          <a:xfrm>
            <a:off x="9285685" y="3455938"/>
            <a:ext cx="8010000" cy="4828200"/>
          </a:xfrm>
          <a:prstGeom prst="roundRect">
            <a:avLst>
              <a:gd fmla="val 5285" name="adj"/>
            </a:avLst>
          </a:prstGeom>
          <a:solidFill>
            <a:srgbClr val="FAFFFA"/>
          </a:solidFill>
          <a:ln cap="flat" cmpd="sng" w="38100">
            <a:solidFill>
              <a:srgbClr val="CED9CE"/>
            </a:solidFill>
            <a:prstDash val="solid"/>
            <a:round/>
            <a:headEnd len="sm" w="sm" type="none"/>
            <a:tailEnd len="sm" w="sm" type="none"/>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sp>
        <p:nvSpPr>
          <p:cNvPr id="405" name="Google Shape;405;p26"/>
          <p:cNvSpPr/>
          <p:nvPr/>
        </p:nvSpPr>
        <p:spPr>
          <a:xfrm>
            <a:off x="9607303" y="3777555"/>
            <a:ext cx="7366800" cy="88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800"/>
              <a:buFont typeface="Fraunces ExtraBold"/>
              <a:buNone/>
            </a:pPr>
            <a:r>
              <a:rPr b="1" i="0" lang="en-US" sz="2800" u="none" cap="none" strike="noStrike">
                <a:solidFill>
                  <a:srgbClr val="405449"/>
                </a:solidFill>
                <a:latin typeface="Fraunces ExtraBold"/>
                <a:ea typeface="Fraunces ExtraBold"/>
                <a:cs typeface="Fraunces ExtraBold"/>
                <a:sym typeface="Fraunces ExtraBold"/>
              </a:rPr>
              <a:t>Preprocessing (No Augmentation in Test)</a:t>
            </a:r>
            <a:endParaRPr b="0" i="0" sz="2800" u="none" cap="none" strike="noStrike"/>
          </a:p>
        </p:txBody>
      </p:sp>
      <p:sp>
        <p:nvSpPr>
          <p:cNvPr id="406" name="Google Shape;406;p26"/>
          <p:cNvSpPr/>
          <p:nvPr/>
        </p:nvSpPr>
        <p:spPr>
          <a:xfrm>
            <a:off x="9607303" y="4833491"/>
            <a:ext cx="7366800" cy="1559400"/>
          </a:xfrm>
          <a:prstGeom prst="rect">
            <a:avLst/>
          </a:prstGeom>
          <a:noFill/>
          <a:ln>
            <a:noFill/>
          </a:ln>
        </p:spPr>
        <p:txBody>
          <a:bodyPr anchorCtr="0" anchor="t" bIns="0" lIns="0" spcFirstLastPara="1" rIns="0" wrap="square" tIns="0">
            <a:noAutofit/>
          </a:bodyPr>
          <a:lstStyle/>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Resize 224×224 (LANCZOS), RGB conversion</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Tensor scaling (0–1) + ImageNet normalization</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Ensures no train-test distribution mismatch</a:t>
            </a:r>
            <a:endParaRPr b="0" i="0" sz="2200" u="none" cap="none" strike="noStrike"/>
          </a:p>
        </p:txBody>
      </p:sp>
      <p:pic>
        <p:nvPicPr>
          <p:cNvPr id="407" name="Google Shape;407;p26"/>
          <p:cNvPicPr preferRelativeResize="0"/>
          <p:nvPr/>
        </p:nvPicPr>
        <p:blipFill>
          <a:blip r:embed="rId3">
            <a:alphaModFix/>
          </a:blip>
          <a:stretch>
            <a:fillRect/>
          </a:stretch>
        </p:blipFill>
        <p:spPr>
          <a:xfrm>
            <a:off x="15888450" y="9601164"/>
            <a:ext cx="2241125" cy="5568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7"/>
          <p:cNvSpPr/>
          <p:nvPr/>
        </p:nvSpPr>
        <p:spPr>
          <a:xfrm>
            <a:off x="992250" y="1263125"/>
            <a:ext cx="10058700" cy="8862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5600"/>
              <a:buFont typeface="Fraunces ExtraBold"/>
              <a:buNone/>
            </a:pPr>
            <a:r>
              <a:rPr b="1" i="0" lang="en-US" sz="5600" u="none" cap="none" strike="noStrike">
                <a:solidFill>
                  <a:srgbClr val="3B4540"/>
                </a:solidFill>
                <a:latin typeface="Fraunces ExtraBold"/>
                <a:ea typeface="Fraunces ExtraBold"/>
                <a:cs typeface="Fraunces ExtraBold"/>
                <a:sym typeface="Fraunces ExtraBold"/>
              </a:rPr>
              <a:t>Evaluation Setup &amp; Metrics</a:t>
            </a:r>
            <a:endParaRPr b="0" i="0" sz="5600" u="none" cap="none" strike="noStrike"/>
          </a:p>
        </p:txBody>
      </p:sp>
      <p:sp>
        <p:nvSpPr>
          <p:cNvPr id="414" name="Google Shape;414;p27"/>
          <p:cNvSpPr/>
          <p:nvPr/>
        </p:nvSpPr>
        <p:spPr>
          <a:xfrm>
            <a:off x="992251" y="3095475"/>
            <a:ext cx="6120300" cy="442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800"/>
              <a:buFont typeface="Fraunces ExtraBold"/>
              <a:buNone/>
            </a:pPr>
            <a:r>
              <a:rPr b="1" i="0" lang="en-US" sz="2800" u="none" cap="none" strike="noStrike">
                <a:solidFill>
                  <a:srgbClr val="405449"/>
                </a:solidFill>
                <a:latin typeface="Fraunces ExtraBold"/>
                <a:ea typeface="Fraunces ExtraBold"/>
                <a:cs typeface="Fraunces ExtraBold"/>
                <a:sym typeface="Fraunces ExtraBold"/>
              </a:rPr>
              <a:t>Environment &amp; Reproducibility</a:t>
            </a:r>
            <a:endParaRPr b="0" i="0" sz="2800" u="none" cap="none" strike="noStrike"/>
          </a:p>
        </p:txBody>
      </p:sp>
      <p:sp>
        <p:nvSpPr>
          <p:cNvPr id="415" name="Google Shape;415;p27"/>
          <p:cNvSpPr/>
          <p:nvPr/>
        </p:nvSpPr>
        <p:spPr>
          <a:xfrm>
            <a:off x="992238" y="3821906"/>
            <a:ext cx="7806000" cy="2012700"/>
          </a:xfrm>
          <a:prstGeom prst="rect">
            <a:avLst/>
          </a:prstGeom>
          <a:noFill/>
          <a:ln>
            <a:noFill/>
          </a:ln>
        </p:spPr>
        <p:txBody>
          <a:bodyPr anchorCtr="0" anchor="t" bIns="0" lIns="0" spcFirstLastPara="1" rIns="0" wrap="square" tIns="0">
            <a:noAutofit/>
          </a:bodyPr>
          <a:lstStyle/>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Environment: Google Colab, NVIDIA T4 GPU, PyTorch 2.x, Python 3.10</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Reproducibility: Fixed seed (42), strict test separation</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Inference: model.eval() + torch.no_grad()</a:t>
            </a:r>
            <a:endParaRPr b="0" i="0" sz="2200" u="none" cap="none" strike="noStrike"/>
          </a:p>
        </p:txBody>
      </p:sp>
      <p:sp>
        <p:nvSpPr>
          <p:cNvPr id="416" name="Google Shape;416;p27"/>
          <p:cNvSpPr/>
          <p:nvPr/>
        </p:nvSpPr>
        <p:spPr>
          <a:xfrm>
            <a:off x="9499401" y="3095476"/>
            <a:ext cx="3544200" cy="442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800"/>
              <a:buFont typeface="Fraunces ExtraBold"/>
              <a:buNone/>
            </a:pPr>
            <a:r>
              <a:rPr b="1" i="0" lang="en-US" sz="2800" u="none" cap="none" strike="noStrike">
                <a:solidFill>
                  <a:srgbClr val="405449"/>
                </a:solidFill>
                <a:latin typeface="Fraunces ExtraBold"/>
                <a:ea typeface="Fraunces ExtraBold"/>
                <a:cs typeface="Fraunces ExtraBold"/>
                <a:sym typeface="Fraunces ExtraBold"/>
              </a:rPr>
              <a:t>Primary Metric</a:t>
            </a:r>
            <a:endParaRPr b="0" i="0" sz="2800" u="none" cap="none" strike="noStrike"/>
          </a:p>
        </p:txBody>
      </p:sp>
      <p:sp>
        <p:nvSpPr>
          <p:cNvPr id="417" name="Google Shape;417;p27"/>
          <p:cNvSpPr/>
          <p:nvPr/>
        </p:nvSpPr>
        <p:spPr>
          <a:xfrm>
            <a:off x="9499401" y="3821906"/>
            <a:ext cx="7806000" cy="1006500"/>
          </a:xfrm>
          <a:prstGeom prst="rect">
            <a:avLst/>
          </a:prstGeom>
          <a:noFill/>
          <a:ln>
            <a:noFill/>
          </a:ln>
        </p:spPr>
        <p:txBody>
          <a:bodyPr anchorCtr="0" anchor="t" bIns="0" lIns="0" spcFirstLastPara="1" rIns="0" wrap="square" tIns="0">
            <a:noAutofit/>
          </a:bodyPr>
          <a:lstStyle/>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Primary Metric: Macro F1 (handles class imbalance)</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Macro F1 gives equal weight to all 17 classes</a:t>
            </a:r>
            <a:endParaRPr b="0" i="0" sz="2200" u="none" cap="none" strike="noStrike"/>
          </a:p>
        </p:txBody>
      </p:sp>
      <p:sp>
        <p:nvSpPr>
          <p:cNvPr id="418" name="Google Shape;418;p27"/>
          <p:cNvSpPr/>
          <p:nvPr/>
        </p:nvSpPr>
        <p:spPr>
          <a:xfrm>
            <a:off x="992238" y="6358979"/>
            <a:ext cx="3544200" cy="442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800"/>
              <a:buFont typeface="Fraunces ExtraBold"/>
              <a:buNone/>
            </a:pPr>
            <a:r>
              <a:rPr b="1" i="0" lang="en-US" sz="2800" u="none" cap="none" strike="noStrike">
                <a:solidFill>
                  <a:srgbClr val="405449"/>
                </a:solidFill>
                <a:latin typeface="Fraunces ExtraBold"/>
                <a:ea typeface="Fraunces ExtraBold"/>
                <a:cs typeface="Fraunces ExtraBold"/>
                <a:sym typeface="Fraunces ExtraBold"/>
              </a:rPr>
              <a:t>Secondary Metrics</a:t>
            </a:r>
            <a:endParaRPr b="0" i="0" sz="2800" u="none" cap="none" strike="noStrike"/>
          </a:p>
        </p:txBody>
      </p:sp>
      <p:sp>
        <p:nvSpPr>
          <p:cNvPr id="419" name="Google Shape;419;p27"/>
          <p:cNvSpPr/>
          <p:nvPr/>
        </p:nvSpPr>
        <p:spPr>
          <a:xfrm>
            <a:off x="992238" y="7227094"/>
            <a:ext cx="16303500" cy="1559400"/>
          </a:xfrm>
          <a:prstGeom prst="rect">
            <a:avLst/>
          </a:prstGeom>
          <a:noFill/>
          <a:ln>
            <a:noFill/>
          </a:ln>
        </p:spPr>
        <p:txBody>
          <a:bodyPr anchorCtr="0" anchor="t" bIns="0" lIns="0" spcFirstLastPara="1" rIns="0" wrap="square" tIns="0">
            <a:noAutofit/>
          </a:bodyPr>
          <a:lstStyle/>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Accuracy (overall correctness), Micro F1 (consistency)</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CrossEntropy Loss (confidence calibration)</a:t>
            </a:r>
            <a:endParaRPr b="0" i="0" sz="2200" u="none" cap="none" strike="noStrike"/>
          </a:p>
          <a:p>
            <a:pPr indent="-431800" lvl="0" marL="431800" marR="0" rtl="0" algn="l">
              <a:lnSpc>
                <a:spcPct val="162857"/>
              </a:lnSpc>
              <a:spcBef>
                <a:spcPts val="0"/>
              </a:spcBef>
              <a:spcAft>
                <a:spcPts val="0"/>
              </a:spcAft>
              <a:buClr>
                <a:srgbClr val="405449"/>
              </a:buClr>
              <a:buSzPts val="2200"/>
              <a:buFont typeface="Nobile"/>
              <a:buChar char="•"/>
            </a:pPr>
            <a:r>
              <a:rPr b="0" i="0" lang="en-US" sz="2200" u="none" cap="none" strike="noStrike">
                <a:solidFill>
                  <a:srgbClr val="405449"/>
                </a:solidFill>
                <a:latin typeface="Nobile"/>
                <a:ea typeface="Nobile"/>
                <a:cs typeface="Nobile"/>
                <a:sym typeface="Nobile"/>
              </a:rPr>
              <a:t>Class-wise F1 + Confusion Matrix for error analysis</a:t>
            </a:r>
            <a:endParaRPr b="0" i="0" sz="2200" u="none" cap="none" strike="noStrike"/>
          </a:p>
        </p:txBody>
      </p:sp>
      <p:pic>
        <p:nvPicPr>
          <p:cNvPr id="420" name="Google Shape;420;p27"/>
          <p:cNvPicPr preferRelativeResize="0"/>
          <p:nvPr/>
        </p:nvPicPr>
        <p:blipFill>
          <a:blip r:embed="rId3">
            <a:alphaModFix/>
          </a:blip>
          <a:stretch>
            <a:fillRect/>
          </a:stretch>
        </p:blipFill>
        <p:spPr>
          <a:xfrm>
            <a:off x="15888450" y="9601164"/>
            <a:ext cx="2241125" cy="5568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8"/>
          <p:cNvSpPr/>
          <p:nvPr/>
        </p:nvSpPr>
        <p:spPr>
          <a:xfrm>
            <a:off x="992238" y="806054"/>
            <a:ext cx="10133400" cy="7089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3B4540"/>
              </a:buClr>
              <a:buSzPts val="4400"/>
              <a:buFont typeface="Fraunces ExtraBold"/>
              <a:buNone/>
            </a:pPr>
            <a:r>
              <a:rPr b="1" i="0" lang="en-US" sz="4400" u="none" cap="none" strike="noStrike">
                <a:solidFill>
                  <a:srgbClr val="3B4540"/>
                </a:solidFill>
                <a:latin typeface="Fraunces ExtraBold"/>
                <a:ea typeface="Fraunces ExtraBold"/>
                <a:cs typeface="Fraunces ExtraBold"/>
                <a:sym typeface="Fraunces ExtraBold"/>
              </a:rPr>
              <a:t>Quantitative Results &amp; Comparison</a:t>
            </a:r>
            <a:endParaRPr b="0" i="0" sz="4400" u="none" cap="none" strike="noStrike"/>
          </a:p>
        </p:txBody>
      </p:sp>
      <p:sp>
        <p:nvSpPr>
          <p:cNvPr id="427" name="Google Shape;427;p28"/>
          <p:cNvSpPr/>
          <p:nvPr/>
        </p:nvSpPr>
        <p:spPr>
          <a:xfrm>
            <a:off x="992238" y="1587253"/>
            <a:ext cx="8108700" cy="4251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05449"/>
              </a:buClr>
              <a:buSzPts val="2600"/>
              <a:buFont typeface="Fraunces ExtraBold"/>
              <a:buNone/>
            </a:pPr>
            <a:r>
              <a:rPr b="1" i="0" lang="en-US" sz="2600" u="none" cap="none" strike="noStrike">
                <a:solidFill>
                  <a:srgbClr val="405449"/>
                </a:solidFill>
                <a:latin typeface="Fraunces ExtraBold"/>
                <a:ea typeface="Fraunces ExtraBold"/>
                <a:cs typeface="Fraunces ExtraBold"/>
                <a:sym typeface="Fraunces ExtraBold"/>
              </a:rPr>
              <a:t>Final Test Performance (Best Model — Trial #4)</a:t>
            </a:r>
            <a:endParaRPr b="0" i="0" sz="2600" u="none" cap="none" strike="noStrike"/>
          </a:p>
        </p:txBody>
      </p:sp>
      <p:sp>
        <p:nvSpPr>
          <p:cNvPr id="428" name="Google Shape;428;p28"/>
          <p:cNvSpPr/>
          <p:nvPr/>
        </p:nvSpPr>
        <p:spPr>
          <a:xfrm>
            <a:off x="1520578" y="2397919"/>
            <a:ext cx="4226700" cy="748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5449"/>
              </a:buClr>
              <a:buSzPts val="5900"/>
              <a:buFont typeface="Fraunces ExtraBold"/>
              <a:buNone/>
            </a:pPr>
            <a:r>
              <a:rPr b="1" i="0" lang="en-US" sz="5900" u="none" cap="none" strike="noStrike">
                <a:solidFill>
                  <a:srgbClr val="405449"/>
                </a:solidFill>
                <a:latin typeface="Fraunces ExtraBold"/>
                <a:ea typeface="Fraunces ExtraBold"/>
                <a:cs typeface="Fraunces ExtraBold"/>
                <a:sym typeface="Fraunces ExtraBold"/>
              </a:rPr>
              <a:t>92.09%</a:t>
            </a:r>
            <a:endParaRPr b="0" i="0" sz="5900" u="none" cap="none" strike="noStrike"/>
          </a:p>
        </p:txBody>
      </p:sp>
      <p:sp>
        <p:nvSpPr>
          <p:cNvPr id="429" name="Google Shape;429;p28"/>
          <p:cNvSpPr/>
          <p:nvPr/>
        </p:nvSpPr>
        <p:spPr>
          <a:xfrm>
            <a:off x="2216200" y="3395811"/>
            <a:ext cx="2835300" cy="354300"/>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Accuracy</a:t>
            </a:r>
            <a:endParaRPr b="0" i="0" sz="2200" u="none" cap="none" strike="noStrike"/>
          </a:p>
        </p:txBody>
      </p:sp>
      <p:sp>
        <p:nvSpPr>
          <p:cNvPr id="430" name="Google Shape;430;p28"/>
          <p:cNvSpPr/>
          <p:nvPr/>
        </p:nvSpPr>
        <p:spPr>
          <a:xfrm>
            <a:off x="7030640" y="2397919"/>
            <a:ext cx="4226700" cy="748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5449"/>
              </a:buClr>
              <a:buSzPts val="5900"/>
              <a:buFont typeface="Fraunces ExtraBold"/>
              <a:buNone/>
            </a:pPr>
            <a:r>
              <a:rPr b="1" i="0" lang="en-US" sz="5900" u="none" cap="none" strike="noStrike">
                <a:solidFill>
                  <a:srgbClr val="405449"/>
                </a:solidFill>
                <a:latin typeface="Fraunces ExtraBold"/>
                <a:ea typeface="Fraunces ExtraBold"/>
                <a:cs typeface="Fraunces ExtraBold"/>
                <a:sym typeface="Fraunces ExtraBold"/>
              </a:rPr>
              <a:t>90.04%</a:t>
            </a:r>
            <a:endParaRPr b="0" i="0" sz="5900" u="none" cap="none" strike="noStrike"/>
          </a:p>
        </p:txBody>
      </p:sp>
      <p:sp>
        <p:nvSpPr>
          <p:cNvPr id="431" name="Google Shape;431;p28"/>
          <p:cNvSpPr/>
          <p:nvPr/>
        </p:nvSpPr>
        <p:spPr>
          <a:xfrm>
            <a:off x="7726264" y="3395811"/>
            <a:ext cx="2835300" cy="354300"/>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Macro F1</a:t>
            </a:r>
            <a:endParaRPr b="0" i="0" sz="2200" u="none" cap="none" strike="noStrike"/>
          </a:p>
        </p:txBody>
      </p:sp>
      <p:sp>
        <p:nvSpPr>
          <p:cNvPr id="432" name="Google Shape;432;p28"/>
          <p:cNvSpPr/>
          <p:nvPr/>
        </p:nvSpPr>
        <p:spPr>
          <a:xfrm>
            <a:off x="12540704" y="2397919"/>
            <a:ext cx="4226700" cy="748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5449"/>
              </a:buClr>
              <a:buSzPts val="5900"/>
              <a:buFont typeface="Fraunces ExtraBold"/>
              <a:buNone/>
            </a:pPr>
            <a:r>
              <a:rPr b="1" i="0" lang="en-US" sz="5900" u="none" cap="none" strike="noStrike">
                <a:solidFill>
                  <a:srgbClr val="405449"/>
                </a:solidFill>
                <a:latin typeface="Fraunces ExtraBold"/>
                <a:ea typeface="Fraunces ExtraBold"/>
                <a:cs typeface="Fraunces ExtraBold"/>
                <a:sym typeface="Fraunces ExtraBold"/>
              </a:rPr>
              <a:t>92.09%</a:t>
            </a:r>
            <a:endParaRPr b="0" i="0" sz="5900" u="none" cap="none" strike="noStrike"/>
          </a:p>
        </p:txBody>
      </p:sp>
      <p:sp>
        <p:nvSpPr>
          <p:cNvPr id="433" name="Google Shape;433;p28"/>
          <p:cNvSpPr/>
          <p:nvPr/>
        </p:nvSpPr>
        <p:spPr>
          <a:xfrm>
            <a:off x="13236328" y="3395811"/>
            <a:ext cx="2835300" cy="354300"/>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Micro F1</a:t>
            </a:r>
            <a:endParaRPr b="0" i="0" sz="2200" u="none" cap="none" strike="noStrike"/>
          </a:p>
        </p:txBody>
      </p:sp>
      <p:sp>
        <p:nvSpPr>
          <p:cNvPr id="434" name="Google Shape;434;p28"/>
          <p:cNvSpPr/>
          <p:nvPr/>
        </p:nvSpPr>
        <p:spPr>
          <a:xfrm>
            <a:off x="4275535" y="4226421"/>
            <a:ext cx="4226700" cy="748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5449"/>
              </a:buClr>
              <a:buSzPts val="5900"/>
              <a:buFont typeface="Fraunces ExtraBold"/>
              <a:buNone/>
            </a:pPr>
            <a:r>
              <a:rPr b="1" i="0" lang="en-US" sz="5900" u="none" cap="none" strike="noStrike">
                <a:solidFill>
                  <a:srgbClr val="405449"/>
                </a:solidFill>
                <a:latin typeface="Fraunces ExtraBold"/>
                <a:ea typeface="Fraunces ExtraBold"/>
                <a:cs typeface="Fraunces ExtraBold"/>
                <a:sym typeface="Fraunces ExtraBold"/>
              </a:rPr>
              <a:t>92.55%</a:t>
            </a:r>
            <a:endParaRPr b="0" i="0" sz="5900" u="none" cap="none" strike="noStrike"/>
          </a:p>
        </p:txBody>
      </p:sp>
      <p:sp>
        <p:nvSpPr>
          <p:cNvPr id="435" name="Google Shape;435;p28"/>
          <p:cNvSpPr/>
          <p:nvPr/>
        </p:nvSpPr>
        <p:spPr>
          <a:xfrm>
            <a:off x="4965353" y="5224314"/>
            <a:ext cx="2847000" cy="354300"/>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Validation Macro F1</a:t>
            </a:r>
            <a:endParaRPr b="0" i="0" sz="2200" u="none" cap="none" strike="noStrike"/>
          </a:p>
        </p:txBody>
      </p:sp>
      <p:sp>
        <p:nvSpPr>
          <p:cNvPr id="436" name="Google Shape;436;p28"/>
          <p:cNvSpPr/>
          <p:nvPr/>
        </p:nvSpPr>
        <p:spPr>
          <a:xfrm>
            <a:off x="9785748" y="4226421"/>
            <a:ext cx="4226700" cy="748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5449"/>
              </a:buClr>
              <a:buSzPts val="5900"/>
              <a:buFont typeface="Fraunces ExtraBold"/>
              <a:buNone/>
            </a:pPr>
            <a:r>
              <a:rPr b="1" i="0" lang="en-US" sz="5900" u="none" cap="none" strike="noStrike">
                <a:solidFill>
                  <a:srgbClr val="405449"/>
                </a:solidFill>
                <a:latin typeface="Fraunces ExtraBold"/>
                <a:ea typeface="Fraunces ExtraBold"/>
                <a:cs typeface="Fraunces ExtraBold"/>
                <a:sym typeface="Fraunces ExtraBold"/>
              </a:rPr>
              <a:t>0.2075</a:t>
            </a:r>
            <a:endParaRPr b="0" i="0" sz="5900" u="none" cap="none" strike="noStrike"/>
          </a:p>
        </p:txBody>
      </p:sp>
      <p:sp>
        <p:nvSpPr>
          <p:cNvPr id="437" name="Google Shape;437;p28"/>
          <p:cNvSpPr/>
          <p:nvPr/>
        </p:nvSpPr>
        <p:spPr>
          <a:xfrm>
            <a:off x="10481370" y="5224314"/>
            <a:ext cx="2835300" cy="354300"/>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Test Loss</a:t>
            </a:r>
            <a:endParaRPr b="0" i="0" sz="2200" u="none" cap="none" strike="noStrike"/>
          </a:p>
        </p:txBody>
      </p:sp>
      <p:sp>
        <p:nvSpPr>
          <p:cNvPr id="438" name="Google Shape;438;p28"/>
          <p:cNvSpPr/>
          <p:nvPr/>
        </p:nvSpPr>
        <p:spPr>
          <a:xfrm>
            <a:off x="992238" y="5782716"/>
            <a:ext cx="16303500" cy="3267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05449"/>
              </a:buClr>
              <a:buSzPts val="1800"/>
              <a:buFont typeface="Nobile"/>
              <a:buNone/>
            </a:pPr>
            <a:r>
              <a:rPr b="0" i="0" lang="en-US" sz="1800" u="none" cap="none" strike="noStrike">
                <a:solidFill>
                  <a:srgbClr val="405449"/>
                </a:solidFill>
                <a:latin typeface="Nobile"/>
                <a:ea typeface="Nobile"/>
                <a:cs typeface="Nobile"/>
                <a:sym typeface="Nobile"/>
              </a:rPr>
              <a:t>Macro vs Micro gap (~2%) → balanced performance across classes</a:t>
            </a:r>
            <a:endParaRPr b="0" i="0" sz="1800" u="none" cap="none" strike="noStrike"/>
          </a:p>
        </p:txBody>
      </p:sp>
      <p:sp>
        <p:nvSpPr>
          <p:cNvPr id="439" name="Google Shape;439;p28"/>
          <p:cNvSpPr/>
          <p:nvPr/>
        </p:nvSpPr>
        <p:spPr>
          <a:xfrm>
            <a:off x="992238" y="6381304"/>
            <a:ext cx="4415400" cy="4251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05449"/>
              </a:buClr>
              <a:buSzPts val="2600"/>
              <a:buFont typeface="Fraunces ExtraBold"/>
              <a:buNone/>
            </a:pPr>
            <a:r>
              <a:rPr b="1" i="0" lang="en-US" sz="2600" u="none" cap="none" strike="noStrike">
                <a:solidFill>
                  <a:srgbClr val="405449"/>
                </a:solidFill>
                <a:latin typeface="Fraunces ExtraBold"/>
                <a:ea typeface="Fraunces ExtraBold"/>
                <a:cs typeface="Fraunces ExtraBold"/>
                <a:sym typeface="Fraunces ExtraBold"/>
              </a:rPr>
              <a:t>Architecture Comparison</a:t>
            </a:r>
            <a:endParaRPr b="0" i="0" sz="2600" u="none" cap="none" strike="noStrike"/>
          </a:p>
        </p:txBody>
      </p:sp>
      <p:sp>
        <p:nvSpPr>
          <p:cNvPr id="440" name="Google Shape;440;p28"/>
          <p:cNvSpPr/>
          <p:nvPr/>
        </p:nvSpPr>
        <p:spPr>
          <a:xfrm>
            <a:off x="992238" y="7078564"/>
            <a:ext cx="16303500" cy="1106100"/>
          </a:xfrm>
          <a:prstGeom prst="rect">
            <a:avLst/>
          </a:prstGeom>
          <a:noFill/>
          <a:ln>
            <a:noFill/>
          </a:ln>
        </p:spPr>
        <p:txBody>
          <a:bodyPr anchorCtr="0" anchor="t" bIns="0" lIns="0" spcFirstLastPara="1" rIns="0" wrap="square" tIns="0">
            <a:noAutofit/>
          </a:bodyPr>
          <a:lstStyle/>
          <a:p>
            <a:pPr indent="-431800" lvl="0" marL="431800" marR="0" rtl="0" algn="l">
              <a:lnSpc>
                <a:spcPct val="146428"/>
              </a:lnSpc>
              <a:spcBef>
                <a:spcPts val="0"/>
              </a:spcBef>
              <a:spcAft>
                <a:spcPts val="0"/>
              </a:spcAft>
              <a:buClr>
                <a:srgbClr val="405449"/>
              </a:buClr>
              <a:buSzPts val="1800"/>
              <a:buFont typeface="Nobile"/>
              <a:buChar char="•"/>
            </a:pPr>
            <a:r>
              <a:rPr b="0" i="0" lang="en-US" sz="1800" u="none" cap="none" strike="noStrike">
                <a:solidFill>
                  <a:srgbClr val="405449"/>
                </a:solidFill>
                <a:latin typeface="Nobile"/>
                <a:ea typeface="Nobile"/>
                <a:cs typeface="Nobile"/>
                <a:sym typeface="Nobile"/>
              </a:rPr>
              <a:t>MobileNet V2: ~91.6% | MobileNet V3: 92.09%</a:t>
            </a:r>
            <a:endParaRPr b="0" i="0" sz="1800" u="none" cap="none" strike="noStrike"/>
          </a:p>
          <a:p>
            <a:pPr indent="-431800" lvl="0" marL="431800" marR="0" rtl="0" algn="l">
              <a:lnSpc>
                <a:spcPct val="146428"/>
              </a:lnSpc>
              <a:spcBef>
                <a:spcPts val="0"/>
              </a:spcBef>
              <a:spcAft>
                <a:spcPts val="0"/>
              </a:spcAft>
              <a:buClr>
                <a:srgbClr val="405449"/>
              </a:buClr>
              <a:buSzPts val="1800"/>
              <a:buFont typeface="Nobile"/>
              <a:buChar char="•"/>
            </a:pPr>
            <a:r>
              <a:rPr b="0" i="0" lang="en-US" sz="1800" u="none" cap="none" strike="noStrike">
                <a:solidFill>
                  <a:srgbClr val="405449"/>
                </a:solidFill>
                <a:latin typeface="Nobile"/>
                <a:ea typeface="Nobile"/>
                <a:cs typeface="Nobile"/>
                <a:sym typeface="Nobile"/>
              </a:rPr>
              <a:t>ResNet-50: ~95.8% (higher cost) | EfficientNet-B3: ~90.4%</a:t>
            </a:r>
            <a:endParaRPr b="0" i="0" sz="1800" u="none" cap="none" strike="noStrike"/>
          </a:p>
          <a:p>
            <a:pPr indent="-431800" lvl="0" marL="431800" marR="0" rtl="0" algn="l">
              <a:lnSpc>
                <a:spcPct val="146428"/>
              </a:lnSpc>
              <a:spcBef>
                <a:spcPts val="0"/>
              </a:spcBef>
              <a:spcAft>
                <a:spcPts val="0"/>
              </a:spcAft>
              <a:buClr>
                <a:srgbClr val="405449"/>
              </a:buClr>
              <a:buSzPts val="1800"/>
              <a:buFont typeface="Nobile"/>
              <a:buChar char="•"/>
            </a:pPr>
            <a:r>
              <a:rPr b="0" i="0" lang="en-US" sz="1800" u="none" cap="none" strike="noStrike">
                <a:solidFill>
                  <a:srgbClr val="405449"/>
                </a:solidFill>
                <a:latin typeface="Nobile"/>
                <a:ea typeface="Nobile"/>
                <a:cs typeface="Nobile"/>
                <a:sym typeface="Nobile"/>
              </a:rPr>
              <a:t>MobileNet V3 chosen for accuracy-efficiency tradeoff (CPU deployment)</a:t>
            </a:r>
            <a:endParaRPr b="0" i="0" sz="1800" u="none" cap="none" strike="noStrike"/>
          </a:p>
        </p:txBody>
      </p:sp>
      <p:sp>
        <p:nvSpPr>
          <p:cNvPr id="441" name="Google Shape;441;p28"/>
          <p:cNvSpPr/>
          <p:nvPr/>
        </p:nvSpPr>
        <p:spPr>
          <a:xfrm>
            <a:off x="992238" y="8457010"/>
            <a:ext cx="3402300" cy="4251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05449"/>
              </a:buClr>
              <a:buSzPts val="2600"/>
              <a:buFont typeface="Fraunces ExtraBold"/>
              <a:buNone/>
            </a:pPr>
            <a:r>
              <a:rPr b="1" i="0" lang="en-US" sz="2600" u="none" cap="none" strike="noStrike">
                <a:solidFill>
                  <a:srgbClr val="405449"/>
                </a:solidFill>
                <a:latin typeface="Fraunces ExtraBold"/>
                <a:ea typeface="Fraunces ExtraBold"/>
                <a:cs typeface="Fraunces ExtraBold"/>
                <a:sym typeface="Fraunces ExtraBold"/>
              </a:rPr>
              <a:t>Class-wise Insight</a:t>
            </a:r>
            <a:endParaRPr b="0" i="0" sz="2600" u="none" cap="none" strike="noStrike"/>
          </a:p>
        </p:txBody>
      </p:sp>
      <p:sp>
        <p:nvSpPr>
          <p:cNvPr id="442" name="Google Shape;442;p28"/>
          <p:cNvSpPr/>
          <p:nvPr/>
        </p:nvSpPr>
        <p:spPr>
          <a:xfrm>
            <a:off x="992238" y="9154269"/>
            <a:ext cx="16303500" cy="326700"/>
          </a:xfrm>
          <a:prstGeom prst="rect">
            <a:avLst/>
          </a:prstGeom>
          <a:noFill/>
          <a:ln>
            <a:noFill/>
          </a:ln>
        </p:spPr>
        <p:txBody>
          <a:bodyPr anchorCtr="0" anchor="t" bIns="0" lIns="0" spcFirstLastPara="1" rIns="0" wrap="square" tIns="0">
            <a:noAutofit/>
          </a:bodyPr>
          <a:lstStyle/>
          <a:p>
            <a:pPr indent="-431800" lvl="0" marL="431800" marR="0" rtl="0" algn="l">
              <a:lnSpc>
                <a:spcPct val="146428"/>
              </a:lnSpc>
              <a:spcBef>
                <a:spcPts val="0"/>
              </a:spcBef>
              <a:spcAft>
                <a:spcPts val="0"/>
              </a:spcAft>
              <a:buClr>
                <a:srgbClr val="405449"/>
              </a:buClr>
              <a:buSzPts val="1800"/>
              <a:buFont typeface="Nobile"/>
              <a:buChar char="•"/>
            </a:pPr>
            <a:r>
              <a:rPr b="0" i="0" lang="en-US" sz="1800" u="none" cap="none" strike="noStrike">
                <a:solidFill>
                  <a:srgbClr val="405449"/>
                </a:solidFill>
                <a:latin typeface="Nobile"/>
                <a:ea typeface="Nobile"/>
                <a:cs typeface="Nobile"/>
                <a:sym typeface="Nobile"/>
              </a:rPr>
              <a:t>High F1: Corn, Potato, Wheat | Low F1: Rice diseases, Sugarcane Red Rot</a:t>
            </a:r>
            <a:endParaRPr b="0" i="0" sz="1800" u="none" cap="none" strike="noStrike"/>
          </a:p>
        </p:txBody>
      </p:sp>
      <p:pic>
        <p:nvPicPr>
          <p:cNvPr id="443" name="Google Shape;443;p28"/>
          <p:cNvPicPr preferRelativeResize="0"/>
          <p:nvPr/>
        </p:nvPicPr>
        <p:blipFill>
          <a:blip r:embed="rId3">
            <a:alphaModFix/>
          </a:blip>
          <a:stretch>
            <a:fillRect/>
          </a:stretch>
        </p:blipFill>
        <p:spPr>
          <a:xfrm>
            <a:off x="15888450" y="9601164"/>
            <a:ext cx="2241125" cy="55688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9"/>
          <p:cNvSpPr/>
          <p:nvPr/>
        </p:nvSpPr>
        <p:spPr>
          <a:xfrm>
            <a:off x="992238" y="918567"/>
            <a:ext cx="11672700" cy="797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B4540"/>
              </a:buClr>
              <a:buSzPts val="5000"/>
              <a:buFont typeface="Fraunces ExtraBold"/>
              <a:buNone/>
            </a:pPr>
            <a:r>
              <a:rPr b="1" i="0" lang="en-US" sz="5000" u="none" cap="none" strike="noStrike">
                <a:solidFill>
                  <a:srgbClr val="3B4540"/>
                </a:solidFill>
                <a:latin typeface="Fraunces ExtraBold"/>
                <a:ea typeface="Fraunces ExtraBold"/>
                <a:cs typeface="Fraunces ExtraBold"/>
                <a:sym typeface="Fraunces ExtraBold"/>
              </a:rPr>
              <a:t>Qualitative Results &amp; Error Analysis</a:t>
            </a:r>
            <a:endParaRPr b="0" i="0" sz="5000" u="none" cap="none" strike="noStrike"/>
          </a:p>
        </p:txBody>
      </p:sp>
      <p:sp>
        <p:nvSpPr>
          <p:cNvPr id="450" name="Google Shape;450;p29"/>
          <p:cNvSpPr/>
          <p:nvPr/>
        </p:nvSpPr>
        <p:spPr>
          <a:xfrm>
            <a:off x="992238" y="2175273"/>
            <a:ext cx="8037000" cy="2678400"/>
          </a:xfrm>
          <a:prstGeom prst="roundRect">
            <a:avLst>
              <a:gd fmla="val 8575" name="adj"/>
            </a:avLst>
          </a:prstGeom>
          <a:solidFill>
            <a:srgbClr val="E8F3E8"/>
          </a:solidFill>
          <a:ln>
            <a:noFill/>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sp>
        <p:nvSpPr>
          <p:cNvPr id="451" name="Google Shape;451;p29"/>
          <p:cNvSpPr/>
          <p:nvPr/>
        </p:nvSpPr>
        <p:spPr>
          <a:xfrm>
            <a:off x="1247329" y="2430364"/>
            <a:ext cx="3685800" cy="398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500"/>
              <a:buFont typeface="Fraunces ExtraBold"/>
              <a:buNone/>
            </a:pPr>
            <a:r>
              <a:rPr b="1" i="0" lang="en-US" sz="2500" u="none" cap="none" strike="noStrike">
                <a:solidFill>
                  <a:srgbClr val="405449"/>
                </a:solidFill>
                <a:latin typeface="Fraunces ExtraBold"/>
                <a:ea typeface="Fraunces ExtraBold"/>
                <a:cs typeface="Fraunces ExtraBold"/>
                <a:sym typeface="Fraunces ExtraBold"/>
              </a:rPr>
              <a:t>Successful Predictions</a:t>
            </a:r>
            <a:endParaRPr b="0" i="0" sz="2500" u="none" cap="none" strike="noStrike"/>
          </a:p>
        </p:txBody>
      </p:sp>
      <p:sp>
        <p:nvSpPr>
          <p:cNvPr id="452" name="Google Shape;452;p29"/>
          <p:cNvSpPr/>
          <p:nvPr/>
        </p:nvSpPr>
        <p:spPr>
          <a:xfrm>
            <a:off x="1247329" y="2966591"/>
            <a:ext cx="7526700" cy="1243800"/>
          </a:xfrm>
          <a:prstGeom prst="rect">
            <a:avLst/>
          </a:prstGeom>
          <a:noFill/>
          <a:ln>
            <a:noFill/>
          </a:ln>
        </p:spPr>
        <p:txBody>
          <a:bodyPr anchorCtr="0" anchor="t" bIns="0" lIns="0" spcFirstLastPara="1" rIns="0" wrap="square" tIns="0">
            <a:noAutofit/>
          </a:bodyPr>
          <a:lstStyle/>
          <a:p>
            <a:pPr indent="-431800" lvl="0" marL="431800" marR="0" rtl="0" algn="l">
              <a:lnSpc>
                <a:spcPct val="150000"/>
              </a:lnSpc>
              <a:spcBef>
                <a:spcPts val="0"/>
              </a:spcBef>
              <a:spcAft>
                <a:spcPts val="0"/>
              </a:spcAft>
              <a:buClr>
                <a:srgbClr val="405449"/>
              </a:buClr>
              <a:buSzPts val="2000"/>
              <a:buFont typeface="Nobile"/>
              <a:buChar char="•"/>
            </a:pPr>
            <a:r>
              <a:rPr b="0" i="0" lang="en-US" sz="2000" u="none" cap="none" strike="noStrike">
                <a:solidFill>
                  <a:srgbClr val="405449"/>
                </a:solidFill>
                <a:latin typeface="Nobile"/>
                <a:ea typeface="Nobile"/>
                <a:cs typeface="Nobile"/>
                <a:sym typeface="Nobile"/>
              </a:rPr>
              <a:t>High confidence (~100%) on clear disease patterns</a:t>
            </a:r>
            <a:endParaRPr b="0" i="0" sz="2000" u="none" cap="none" strike="noStrike"/>
          </a:p>
          <a:p>
            <a:pPr indent="-431800" lvl="0" marL="431800" marR="0" rtl="0" algn="l">
              <a:lnSpc>
                <a:spcPct val="150000"/>
              </a:lnSpc>
              <a:spcBef>
                <a:spcPts val="0"/>
              </a:spcBef>
              <a:spcAft>
                <a:spcPts val="0"/>
              </a:spcAft>
              <a:buClr>
                <a:srgbClr val="405449"/>
              </a:buClr>
              <a:buSzPts val="2000"/>
              <a:buFont typeface="Nobile"/>
              <a:buChar char="•"/>
            </a:pPr>
            <a:r>
              <a:rPr b="0" i="0" lang="en-US" sz="2000" u="none" cap="none" strike="noStrike">
                <a:solidFill>
                  <a:srgbClr val="405449"/>
                </a:solidFill>
                <a:latin typeface="Nobile"/>
                <a:ea typeface="Nobile"/>
                <a:cs typeface="Nobile"/>
                <a:sym typeface="Nobile"/>
              </a:rPr>
              <a:t>Correct predictions even for minority classes (Sugarcane Red Rot ~99%)</a:t>
            </a:r>
            <a:endParaRPr b="0" i="0" sz="2000" u="none" cap="none" strike="noStrike"/>
          </a:p>
        </p:txBody>
      </p:sp>
      <p:sp>
        <p:nvSpPr>
          <p:cNvPr id="453" name="Google Shape;453;p29"/>
          <p:cNvSpPr/>
          <p:nvPr/>
        </p:nvSpPr>
        <p:spPr>
          <a:xfrm>
            <a:off x="9258746" y="2175273"/>
            <a:ext cx="8037000" cy="2678400"/>
          </a:xfrm>
          <a:prstGeom prst="roundRect">
            <a:avLst>
              <a:gd fmla="val 8575" name="adj"/>
            </a:avLst>
          </a:prstGeom>
          <a:solidFill>
            <a:srgbClr val="E8F3E8"/>
          </a:solidFill>
          <a:ln>
            <a:noFill/>
          </a:ln>
        </p:spPr>
        <p:txBody>
          <a:bodyPr anchorCtr="0" anchor="ctr" bIns="114275" lIns="114275" spcFirstLastPara="1" rIns="114275" wrap="square" tIns="114275">
            <a:noAutofit/>
          </a:bodyPr>
          <a:lstStyle/>
          <a:p>
            <a:pPr indent="0" lvl="0" marL="0" rtl="0" algn="l">
              <a:spcBef>
                <a:spcPts val="0"/>
              </a:spcBef>
              <a:spcAft>
                <a:spcPts val="0"/>
              </a:spcAft>
              <a:buNone/>
            </a:pPr>
            <a:r>
              <a:t/>
            </a:r>
            <a:endParaRPr/>
          </a:p>
        </p:txBody>
      </p:sp>
      <p:sp>
        <p:nvSpPr>
          <p:cNvPr id="454" name="Google Shape;454;p29"/>
          <p:cNvSpPr/>
          <p:nvPr/>
        </p:nvSpPr>
        <p:spPr>
          <a:xfrm>
            <a:off x="9513838" y="2430364"/>
            <a:ext cx="3189900" cy="398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500"/>
              <a:buFont typeface="Fraunces ExtraBold"/>
              <a:buNone/>
            </a:pPr>
            <a:r>
              <a:rPr b="1" i="0" lang="en-US" sz="2500" u="none" cap="none" strike="noStrike">
                <a:solidFill>
                  <a:srgbClr val="405449"/>
                </a:solidFill>
                <a:latin typeface="Fraunces ExtraBold"/>
                <a:ea typeface="Fraunces ExtraBold"/>
                <a:cs typeface="Fraunces ExtraBold"/>
                <a:sym typeface="Fraunces ExtraBold"/>
              </a:rPr>
              <a:t>Failure Cases</a:t>
            </a:r>
            <a:endParaRPr b="0" i="0" sz="2500" u="none" cap="none" strike="noStrike"/>
          </a:p>
        </p:txBody>
      </p:sp>
      <p:sp>
        <p:nvSpPr>
          <p:cNvPr id="455" name="Google Shape;455;p29"/>
          <p:cNvSpPr/>
          <p:nvPr/>
        </p:nvSpPr>
        <p:spPr>
          <a:xfrm>
            <a:off x="9513838" y="2966591"/>
            <a:ext cx="7527000" cy="1631700"/>
          </a:xfrm>
          <a:prstGeom prst="rect">
            <a:avLst/>
          </a:prstGeom>
          <a:noFill/>
          <a:ln>
            <a:noFill/>
          </a:ln>
        </p:spPr>
        <p:txBody>
          <a:bodyPr anchorCtr="0" anchor="t" bIns="0" lIns="0" spcFirstLastPara="1" rIns="0" wrap="square" tIns="0">
            <a:noAutofit/>
          </a:bodyPr>
          <a:lstStyle/>
          <a:p>
            <a:pPr indent="-431800" lvl="0" marL="431800" marR="0" rtl="0" algn="l">
              <a:lnSpc>
                <a:spcPct val="150000"/>
              </a:lnSpc>
              <a:spcBef>
                <a:spcPts val="0"/>
              </a:spcBef>
              <a:spcAft>
                <a:spcPts val="0"/>
              </a:spcAft>
              <a:buClr>
                <a:srgbClr val="405449"/>
              </a:buClr>
              <a:buSzPts val="2000"/>
              <a:buFont typeface="Nobile"/>
              <a:buChar char="•"/>
            </a:pPr>
            <a:r>
              <a:rPr b="0" i="0" lang="en-US" sz="2000" u="none" cap="none" strike="noStrike">
                <a:solidFill>
                  <a:srgbClr val="405449"/>
                </a:solidFill>
                <a:latin typeface="Nobile"/>
                <a:ea typeface="Nobile"/>
                <a:cs typeface="Nobile"/>
                <a:sym typeface="Nobile"/>
              </a:rPr>
              <a:t>Rice disease confusion (Brown Spot vs Leaf Blast vs Neck Blast)</a:t>
            </a:r>
            <a:endParaRPr b="0" i="0" sz="2000" u="none" cap="none" strike="noStrike"/>
          </a:p>
          <a:p>
            <a:pPr indent="-431800" lvl="0" marL="431800" marR="0" rtl="0" algn="l">
              <a:lnSpc>
                <a:spcPct val="150000"/>
              </a:lnSpc>
              <a:spcBef>
                <a:spcPts val="0"/>
              </a:spcBef>
              <a:spcAft>
                <a:spcPts val="0"/>
              </a:spcAft>
              <a:buClr>
                <a:srgbClr val="405449"/>
              </a:buClr>
              <a:buSzPts val="2000"/>
              <a:buFont typeface="Nobile"/>
              <a:buChar char="•"/>
            </a:pPr>
            <a:r>
              <a:rPr b="0" i="0" lang="en-US" sz="2000" u="none" cap="none" strike="noStrike">
                <a:solidFill>
                  <a:srgbClr val="405449"/>
                </a:solidFill>
                <a:latin typeface="Nobile"/>
                <a:ea typeface="Nobile"/>
                <a:cs typeface="Nobile"/>
                <a:sym typeface="Nobile"/>
              </a:rPr>
              <a:t>Environmental noise (water droplets, occlusion → low confidence ~50%)</a:t>
            </a:r>
            <a:endParaRPr b="0" i="0" sz="2000" u="none" cap="none" strike="noStrike"/>
          </a:p>
        </p:txBody>
      </p:sp>
      <p:sp>
        <p:nvSpPr>
          <p:cNvPr id="456" name="Google Shape;456;p29"/>
          <p:cNvSpPr/>
          <p:nvPr/>
        </p:nvSpPr>
        <p:spPr>
          <a:xfrm>
            <a:off x="992238" y="5197823"/>
            <a:ext cx="3827700" cy="478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3000"/>
              <a:buFont typeface="Fraunces ExtraBold"/>
              <a:buNone/>
            </a:pPr>
            <a:r>
              <a:rPr b="1" i="0" lang="en-US" sz="3000" u="none" cap="none" strike="noStrike">
                <a:solidFill>
                  <a:srgbClr val="405449"/>
                </a:solidFill>
                <a:latin typeface="Fraunces ExtraBold"/>
                <a:ea typeface="Fraunces ExtraBold"/>
                <a:cs typeface="Fraunces ExtraBold"/>
                <a:sym typeface="Fraunces ExtraBold"/>
              </a:rPr>
              <a:t>Error Patterns</a:t>
            </a:r>
            <a:endParaRPr b="0" i="0" sz="3000" u="none" cap="none" strike="noStrike"/>
          </a:p>
        </p:txBody>
      </p:sp>
      <p:sp>
        <p:nvSpPr>
          <p:cNvPr id="457" name="Google Shape;457;p29"/>
          <p:cNvSpPr/>
          <p:nvPr/>
        </p:nvSpPr>
        <p:spPr>
          <a:xfrm>
            <a:off x="992238" y="6020693"/>
            <a:ext cx="16303500" cy="1324200"/>
          </a:xfrm>
          <a:prstGeom prst="rect">
            <a:avLst/>
          </a:prstGeom>
          <a:noFill/>
          <a:ln>
            <a:noFill/>
          </a:ln>
        </p:spPr>
        <p:txBody>
          <a:bodyPr anchorCtr="0" anchor="t" bIns="0" lIns="0" spcFirstLastPara="1" rIns="0" wrap="square" tIns="0">
            <a:noAutofit/>
          </a:bodyPr>
          <a:lstStyle/>
          <a:p>
            <a:pPr indent="-431800" lvl="0" marL="431800" marR="0" rtl="0" algn="l">
              <a:lnSpc>
                <a:spcPct val="150000"/>
              </a:lnSpc>
              <a:spcBef>
                <a:spcPts val="0"/>
              </a:spcBef>
              <a:spcAft>
                <a:spcPts val="0"/>
              </a:spcAft>
              <a:buClr>
                <a:srgbClr val="405449"/>
              </a:buClr>
              <a:buSzPts val="2000"/>
              <a:buFont typeface="Nobile"/>
              <a:buChar char="•"/>
            </a:pPr>
            <a:r>
              <a:rPr b="0" i="0" lang="en-US" sz="2000" u="none" cap="none" strike="noStrike">
                <a:solidFill>
                  <a:srgbClr val="405449"/>
                </a:solidFill>
                <a:latin typeface="Nobile"/>
                <a:ea typeface="Nobile"/>
                <a:cs typeface="Nobile"/>
                <a:sym typeface="Nobile"/>
              </a:rPr>
              <a:t>Intra-class similarity (Rice diseases)</a:t>
            </a:r>
            <a:endParaRPr b="0" i="0" sz="2000" u="none" cap="none" strike="noStrike"/>
          </a:p>
          <a:p>
            <a:pPr indent="-431800" lvl="0" marL="431800" marR="0" rtl="0" algn="l">
              <a:lnSpc>
                <a:spcPct val="150000"/>
              </a:lnSpc>
              <a:spcBef>
                <a:spcPts val="0"/>
              </a:spcBef>
              <a:spcAft>
                <a:spcPts val="0"/>
              </a:spcAft>
              <a:buClr>
                <a:srgbClr val="405449"/>
              </a:buClr>
              <a:buSzPts val="2000"/>
              <a:buFont typeface="Nobile"/>
              <a:buChar char="•"/>
            </a:pPr>
            <a:r>
              <a:rPr b="0" i="0" lang="en-US" sz="2000" u="none" cap="none" strike="noStrike">
                <a:solidFill>
                  <a:srgbClr val="405449"/>
                </a:solidFill>
                <a:latin typeface="Nobile"/>
                <a:ea typeface="Nobile"/>
                <a:cs typeface="Nobile"/>
                <a:sym typeface="Nobile"/>
              </a:rPr>
              <a:t>Data scarcity (Sugarcane ~10 images)</a:t>
            </a:r>
            <a:endParaRPr b="0" i="0" sz="2000" u="none" cap="none" strike="noStrike"/>
          </a:p>
          <a:p>
            <a:pPr indent="-431800" lvl="0" marL="431800" marR="0" rtl="0" algn="l">
              <a:lnSpc>
                <a:spcPct val="150000"/>
              </a:lnSpc>
              <a:spcBef>
                <a:spcPts val="0"/>
              </a:spcBef>
              <a:spcAft>
                <a:spcPts val="0"/>
              </a:spcAft>
              <a:buClr>
                <a:srgbClr val="405449"/>
              </a:buClr>
              <a:buSzPts val="2000"/>
              <a:buFont typeface="Nobile"/>
              <a:buChar char="•"/>
            </a:pPr>
            <a:r>
              <a:rPr b="0" i="0" lang="en-US" sz="2000" u="none" cap="none" strike="noStrike">
                <a:solidFill>
                  <a:srgbClr val="405449"/>
                </a:solidFill>
                <a:latin typeface="Nobile"/>
                <a:ea typeface="Nobile"/>
                <a:cs typeface="Nobile"/>
                <a:sym typeface="Nobile"/>
              </a:rPr>
              <a:t>Real-world distribution shift (noise, lighting, occlusion)</a:t>
            </a:r>
            <a:endParaRPr b="0" i="0" sz="2000" u="none" cap="none" strike="noStrike"/>
          </a:p>
        </p:txBody>
      </p:sp>
      <p:sp>
        <p:nvSpPr>
          <p:cNvPr id="458" name="Google Shape;458;p29"/>
          <p:cNvSpPr/>
          <p:nvPr/>
        </p:nvSpPr>
        <p:spPr>
          <a:xfrm>
            <a:off x="992238" y="7689354"/>
            <a:ext cx="3827700" cy="478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3000"/>
              <a:buFont typeface="Fraunces ExtraBold"/>
              <a:buNone/>
            </a:pPr>
            <a:r>
              <a:rPr b="1" i="0" lang="en-US" sz="3000" u="none" cap="none" strike="noStrike">
                <a:solidFill>
                  <a:srgbClr val="405449"/>
                </a:solidFill>
                <a:latin typeface="Fraunces ExtraBold"/>
                <a:ea typeface="Fraunces ExtraBold"/>
                <a:cs typeface="Fraunces ExtraBold"/>
                <a:sym typeface="Fraunces ExtraBold"/>
              </a:rPr>
              <a:t>Key Observations</a:t>
            </a:r>
            <a:endParaRPr b="0" i="0" sz="3000" u="none" cap="none" strike="noStrike"/>
          </a:p>
        </p:txBody>
      </p:sp>
      <p:sp>
        <p:nvSpPr>
          <p:cNvPr id="459" name="Google Shape;459;p29"/>
          <p:cNvSpPr/>
          <p:nvPr/>
        </p:nvSpPr>
        <p:spPr>
          <a:xfrm>
            <a:off x="992238" y="8512225"/>
            <a:ext cx="16303500" cy="856200"/>
          </a:xfrm>
          <a:prstGeom prst="rect">
            <a:avLst/>
          </a:prstGeom>
          <a:noFill/>
          <a:ln>
            <a:noFill/>
          </a:ln>
        </p:spPr>
        <p:txBody>
          <a:bodyPr anchorCtr="0" anchor="t" bIns="0" lIns="0" spcFirstLastPara="1" rIns="0" wrap="square" tIns="0">
            <a:noAutofit/>
          </a:bodyPr>
          <a:lstStyle/>
          <a:p>
            <a:pPr indent="-431800" lvl="0" marL="431800" marR="0" rtl="0" algn="l">
              <a:lnSpc>
                <a:spcPct val="150000"/>
              </a:lnSpc>
              <a:spcBef>
                <a:spcPts val="0"/>
              </a:spcBef>
              <a:spcAft>
                <a:spcPts val="0"/>
              </a:spcAft>
              <a:buClr>
                <a:srgbClr val="405449"/>
              </a:buClr>
              <a:buSzPts val="2000"/>
              <a:buFont typeface="Nobile"/>
              <a:buChar char="•"/>
            </a:pPr>
            <a:r>
              <a:rPr b="0" i="0" lang="en-US" sz="2000" u="none" cap="none" strike="noStrike">
                <a:solidFill>
                  <a:srgbClr val="405449"/>
                </a:solidFill>
                <a:latin typeface="Nobile"/>
                <a:ea typeface="Nobile"/>
                <a:cs typeface="Nobile"/>
                <a:sym typeface="Nobile"/>
              </a:rPr>
              <a:t>Val-Test gap ~2.5% (acceptable), augmentation boosted Macro F1 significantly</a:t>
            </a:r>
            <a:endParaRPr b="0" i="0" sz="2000" u="none" cap="none" strike="noStrike"/>
          </a:p>
          <a:p>
            <a:pPr indent="-431800" lvl="0" marL="431800" marR="0" rtl="0" algn="l">
              <a:lnSpc>
                <a:spcPct val="150000"/>
              </a:lnSpc>
              <a:spcBef>
                <a:spcPts val="0"/>
              </a:spcBef>
              <a:spcAft>
                <a:spcPts val="0"/>
              </a:spcAft>
              <a:buClr>
                <a:srgbClr val="405449"/>
              </a:buClr>
              <a:buSzPts val="2000"/>
              <a:buFont typeface="Nobile"/>
              <a:buChar char="•"/>
            </a:pPr>
            <a:r>
              <a:rPr b="0" i="0" lang="en-US" sz="2000" u="none" cap="none" strike="noStrike">
                <a:solidFill>
                  <a:srgbClr val="405449"/>
                </a:solidFill>
                <a:latin typeface="Nobile"/>
                <a:ea typeface="Nobile"/>
                <a:cs typeface="Nobile"/>
                <a:sym typeface="Nobile"/>
              </a:rPr>
              <a:t>Limitations: Rice confusion, small dataset, frozen backbone, real-world drop</a:t>
            </a:r>
            <a:endParaRPr b="0" i="0" sz="2000" u="none" cap="none" strike="noStrike"/>
          </a:p>
        </p:txBody>
      </p:sp>
      <p:pic>
        <p:nvPicPr>
          <p:cNvPr id="460" name="Google Shape;460;p29"/>
          <p:cNvPicPr preferRelativeResize="0"/>
          <p:nvPr/>
        </p:nvPicPr>
        <p:blipFill>
          <a:blip r:embed="rId3">
            <a:alphaModFix/>
          </a:blip>
          <a:stretch>
            <a:fillRect/>
          </a:stretch>
        </p:blipFill>
        <p:spPr>
          <a:xfrm>
            <a:off x="15888450" y="9601164"/>
            <a:ext cx="2241125" cy="55688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